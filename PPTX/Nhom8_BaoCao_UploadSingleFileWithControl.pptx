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8288000" cy="10287000"/>
  <p:notesSz cx="6858000" cy="9144000"/>
  <p:embeddedFontLst>
    <p:embeddedFont>
      <p:font typeface="Agrandir Bold" panose="020B0604020202020204" charset="0"/>
      <p:regular r:id="rId20"/>
    </p:embeddedFont>
    <p:embeddedFont>
      <p:font typeface="Open Sauce" panose="020B0604020202020204" charset="0"/>
      <p:regular r:id="rId21"/>
    </p:embeddedFont>
    <p:embeddedFont>
      <p:font typeface="Open Sauce Bold" panose="020B0604020202020204" charset="0"/>
      <p:regular r:id="rId22"/>
    </p:embeddedFont>
    <p:embeddedFont>
      <p:font typeface="Times New Roman MT" panose="020B0604020202020204" charset="0"/>
      <p:regular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8" d="100"/>
          <a:sy n="68" d="100"/>
        </p:scale>
        <p:origin x="816" y="9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01-Jul-26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01-Jul-26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01-Jul-26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01-Jul-26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01-Jul-26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01-Jul-26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01-Jul-26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01-Jul-26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01-Jul-26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01-Jul-26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01-Jul-26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01-Jul-26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svg"/><Relationship Id="rId7" Type="http://schemas.openxmlformats.org/officeDocument/2006/relationships/image" Target="../media/image6.pn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5.svg"/><Relationship Id="rId5" Type="http://schemas.openxmlformats.org/officeDocument/2006/relationships/image" Target="../media/image4.svg"/><Relationship Id="rId10" Type="http://schemas.openxmlformats.org/officeDocument/2006/relationships/image" Target="../media/image9.svg"/><Relationship Id="rId4" Type="http://schemas.openxmlformats.org/officeDocument/2006/relationships/image" Target="../media/image3.png"/><Relationship Id="rId9" Type="http://schemas.openxmlformats.org/officeDocument/2006/relationships/image" Target="../media/image8.svg"/></Relationships>
</file>

<file path=ppt/slides/_rels/slide2.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svg"/><Relationship Id="rId1" Type="http://schemas.openxmlformats.org/officeDocument/2006/relationships/slideLayout" Target="../slideLayouts/slideLayout7.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svg"/><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svg"/><Relationship Id="rId1" Type="http://schemas.openxmlformats.org/officeDocument/2006/relationships/slideLayout" Target="../slideLayouts/slideLayout7.xml"/><Relationship Id="rId5" Type="http://schemas.openxmlformats.org/officeDocument/2006/relationships/image" Target="../media/image24.png"/><Relationship Id="rId4" Type="http://schemas.openxmlformats.org/officeDocument/2006/relationships/image" Target="../media/image23.png"/></Relationships>
</file>

<file path=ppt/slides/_rels/slide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1.svg"/><Relationship Id="rId1" Type="http://schemas.openxmlformats.org/officeDocument/2006/relationships/slideLayout" Target="../slideLayouts/slideLayout7.xml"/><Relationship Id="rId5" Type="http://schemas.openxmlformats.org/officeDocument/2006/relationships/image" Target="../media/image27.png"/><Relationship Id="rId4" Type="http://schemas.openxmlformats.org/officeDocument/2006/relationships/image" Target="../media/image26.png"/></Relationships>
</file>

<file path=ppt/slides/_rels/slide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1.svg"/><Relationship Id="rId1" Type="http://schemas.openxmlformats.org/officeDocument/2006/relationships/slideLayout" Target="../slideLayouts/slideLayout7.xml"/><Relationship Id="rId5" Type="http://schemas.openxmlformats.org/officeDocument/2006/relationships/image" Target="../media/image30.png"/><Relationship Id="rId4" Type="http://schemas.openxmlformats.org/officeDocument/2006/relationships/image" Target="../media/image29.png"/></Relationships>
</file>

<file path=ppt/slides/_rels/slide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0.svg"/><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svg"/><Relationship Id="rId1" Type="http://schemas.openxmlformats.org/officeDocument/2006/relationships/slideLayout" Target="../slideLayouts/slideLayout7.xml"/><Relationship Id="rId5" Type="http://schemas.openxmlformats.org/officeDocument/2006/relationships/image" Target="../media/image36.png"/><Relationship Id="rId4" Type="http://schemas.openxmlformats.org/officeDocument/2006/relationships/image" Target="../media/image35.svg"/></Relationships>
</file>

<file path=ppt/slides/_rels/slide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37.svg"/><Relationship Id="rId1" Type="http://schemas.openxmlformats.org/officeDocument/2006/relationships/slideLayout" Target="../slideLayouts/slideLayout7.xml"/><Relationship Id="rId4" Type="http://schemas.openxmlformats.org/officeDocument/2006/relationships/image" Target="../media/image38.svg"/></Relationships>
</file>

<file path=ppt/slides/_rels/slide1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7.svg"/><Relationship Id="rId1" Type="http://schemas.openxmlformats.org/officeDocument/2006/relationships/slideLayout" Target="../slideLayouts/slideLayout7.xml"/><Relationship Id="rId4" Type="http://schemas.openxmlformats.org/officeDocument/2006/relationships/image" Target="../media/image38.svg"/></Relationships>
</file>

<file path=ppt/slides/_rels/slide1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3.svg"/><Relationship Id="rId1" Type="http://schemas.openxmlformats.org/officeDocument/2006/relationships/slideLayout" Target="../slideLayouts/slideLayout7.xml"/><Relationship Id="rId5" Type="http://schemas.openxmlformats.org/officeDocument/2006/relationships/image" Target="../media/image41.png"/><Relationship Id="rId4" Type="http://schemas.openxmlformats.org/officeDocument/2006/relationships/image" Target="../media/image35.svg"/></Relationships>
</file>

<file path=ppt/slides/_rels/slide1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svg"/><Relationship Id="rId1" Type="http://schemas.openxmlformats.org/officeDocument/2006/relationships/slideLayout" Target="../slideLayouts/slideLayout7.xml"/><Relationship Id="rId5" Type="http://schemas.openxmlformats.org/officeDocument/2006/relationships/image" Target="../media/image45.png"/><Relationship Id="rId4" Type="http://schemas.openxmlformats.org/officeDocument/2006/relationships/image" Target="../media/image44.png"/></Relationships>
</file>

<file path=ppt/slides/_rels/slide1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2.svg"/><Relationship Id="rId1"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s>
</file>

<file path=ppt/slides/_rels/slide1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17.svg"/><Relationship Id="rId1" Type="http://schemas.openxmlformats.org/officeDocument/2006/relationships/slideLayout" Target="../slideLayouts/slideLayout7.xml"/><Relationship Id="rId4" Type="http://schemas.openxmlformats.org/officeDocument/2006/relationships/image" Target="../media/image50.png"/></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7.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7.xml"/><Relationship Id="rId5" Type="http://schemas.openxmlformats.org/officeDocument/2006/relationships/image" Target="../media/image2.svg"/><Relationship Id="rId4" Type="http://schemas.openxmlformats.org/officeDocument/2006/relationships/image" Target="../media/image35.svg"/></Relationships>
</file>

<file path=ppt/slides/_rels/slide1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sv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60.svg"/><Relationship Id="rId2" Type="http://schemas.openxmlformats.org/officeDocument/2006/relationships/image" Target="../media/image59.svg"/><Relationship Id="rId1" Type="http://schemas.openxmlformats.org/officeDocument/2006/relationships/slideLayout" Target="../slideLayouts/slideLayout7.xml"/><Relationship Id="rId5" Type="http://schemas.openxmlformats.org/officeDocument/2006/relationships/image" Target="../media/image62.svg"/><Relationship Id="rId4" Type="http://schemas.openxmlformats.org/officeDocument/2006/relationships/image" Target="../media/image61.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9FEFF"/>
        </a:solidFill>
        <a:effectLst/>
      </p:bgPr>
    </p:bg>
    <p:spTree>
      <p:nvGrpSpPr>
        <p:cNvPr id="1" name=""/>
        <p:cNvGrpSpPr/>
        <p:nvPr/>
      </p:nvGrpSpPr>
      <p:grpSpPr>
        <a:xfrm>
          <a:off x="0" y="0"/>
          <a:ext cx="0" cy="0"/>
          <a:chOff x="0" y="0"/>
          <a:chExt cx="0" cy="0"/>
        </a:xfrm>
      </p:grpSpPr>
      <p:sp>
        <p:nvSpPr>
          <p:cNvPr id="2" name="Freeform 2"/>
          <p:cNvSpPr/>
          <p:nvPr/>
        </p:nvSpPr>
        <p:spPr>
          <a:xfrm>
            <a:off x="14942897" y="9149346"/>
            <a:ext cx="697121" cy="604594"/>
          </a:xfrm>
          <a:custGeom>
            <a:avLst/>
            <a:gdLst/>
            <a:ahLst/>
            <a:cxnLst/>
            <a:rect l="l" t="t" r="r" b="b"/>
            <a:pathLst>
              <a:path w="697121" h="604594">
                <a:moveTo>
                  <a:pt x="0" y="0"/>
                </a:moveTo>
                <a:lnTo>
                  <a:pt x="697121" y="0"/>
                </a:lnTo>
                <a:lnTo>
                  <a:pt x="697121" y="604594"/>
                </a:lnTo>
                <a:lnTo>
                  <a:pt x="0" y="604594"/>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txBody>
          <a:bodyPr/>
          <a:lstStyle/>
          <a:p>
            <a:endParaRPr lang="en-US"/>
          </a:p>
        </p:txBody>
      </p:sp>
      <p:sp>
        <p:nvSpPr>
          <p:cNvPr id="3" name="Freeform 3"/>
          <p:cNvSpPr/>
          <p:nvPr/>
        </p:nvSpPr>
        <p:spPr>
          <a:xfrm>
            <a:off x="1028700" y="8474217"/>
            <a:ext cx="697121" cy="784083"/>
          </a:xfrm>
          <a:custGeom>
            <a:avLst/>
            <a:gdLst/>
            <a:ahLst/>
            <a:cxnLst/>
            <a:rect l="l" t="t" r="r" b="b"/>
            <a:pathLst>
              <a:path w="697121" h="784083">
                <a:moveTo>
                  <a:pt x="0" y="0"/>
                </a:moveTo>
                <a:lnTo>
                  <a:pt x="697121" y="0"/>
                </a:lnTo>
                <a:lnTo>
                  <a:pt x="697121" y="784083"/>
                </a:lnTo>
                <a:lnTo>
                  <a:pt x="0" y="784083"/>
                </a:lnTo>
                <a:lnTo>
                  <a:pt x="0" y="0"/>
                </a:lnTo>
                <a:close/>
              </a:path>
            </a:pathLst>
          </a:custGeom>
          <a:blipFill>
            <a:blip>
              <a:extLst>
                <a:ext uri="{96DAC541-7B7A-43D3-8B79-37D633B846F1}">
                  <asvg:svgBlip xmlns:asvg="http://schemas.microsoft.com/office/drawing/2016/SVG/main" r:embed="rId3"/>
                </a:ext>
              </a:extLst>
            </a:blip>
            <a:stretch>
              <a:fillRect/>
            </a:stretch>
          </a:blipFill>
          <a:ln cap="sq">
            <a:noFill/>
            <a:prstDash val="solid"/>
            <a:miter/>
          </a:ln>
        </p:spPr>
        <p:txBody>
          <a:bodyPr/>
          <a:lstStyle/>
          <a:p>
            <a:endParaRPr lang="en-US"/>
          </a:p>
        </p:txBody>
      </p:sp>
      <p:sp>
        <p:nvSpPr>
          <p:cNvPr id="4" name="Freeform 4"/>
          <p:cNvSpPr/>
          <p:nvPr/>
        </p:nvSpPr>
        <p:spPr>
          <a:xfrm>
            <a:off x="1301992" y="1813422"/>
            <a:ext cx="2374499" cy="2874012"/>
          </a:xfrm>
          <a:custGeom>
            <a:avLst/>
            <a:gdLst/>
            <a:ahLst/>
            <a:cxnLst/>
            <a:rect l="l" t="t" r="r" b="b"/>
            <a:pathLst>
              <a:path w="2374499" h="2874012">
                <a:moveTo>
                  <a:pt x="0" y="0"/>
                </a:moveTo>
                <a:lnTo>
                  <a:pt x="2374499" y="0"/>
                </a:lnTo>
                <a:lnTo>
                  <a:pt x="2374499" y="2874012"/>
                </a:lnTo>
                <a:lnTo>
                  <a:pt x="0" y="2874012"/>
                </a:lnTo>
                <a:lnTo>
                  <a:pt x="0" y="0"/>
                </a:lnTo>
                <a:close/>
              </a:path>
            </a:pathLst>
          </a:custGeom>
          <a:blipFill>
            <a:blip r:embed="rId4"/>
            <a:stretch>
              <a:fillRect/>
            </a:stretch>
          </a:blipFill>
          <a:ln cap="sq">
            <a:noFill/>
            <a:prstDash val="solid"/>
            <a:miter/>
          </a:ln>
        </p:spPr>
        <p:txBody>
          <a:bodyPr/>
          <a:lstStyle/>
          <a:p>
            <a:endParaRPr lang="en-US"/>
          </a:p>
        </p:txBody>
      </p:sp>
      <p:sp>
        <p:nvSpPr>
          <p:cNvPr id="5" name="Freeform 5"/>
          <p:cNvSpPr/>
          <p:nvPr/>
        </p:nvSpPr>
        <p:spPr>
          <a:xfrm flipH="1">
            <a:off x="15291458" y="3994361"/>
            <a:ext cx="933312" cy="1222507"/>
          </a:xfrm>
          <a:custGeom>
            <a:avLst/>
            <a:gdLst/>
            <a:ahLst/>
            <a:cxnLst/>
            <a:rect l="l" t="t" r="r" b="b"/>
            <a:pathLst>
              <a:path w="933312" h="1222507">
                <a:moveTo>
                  <a:pt x="933312" y="0"/>
                </a:moveTo>
                <a:lnTo>
                  <a:pt x="0" y="0"/>
                </a:lnTo>
                <a:lnTo>
                  <a:pt x="0" y="1222507"/>
                </a:lnTo>
                <a:lnTo>
                  <a:pt x="933312" y="1222507"/>
                </a:lnTo>
                <a:lnTo>
                  <a:pt x="933312" y="0"/>
                </a:lnTo>
                <a:close/>
              </a:path>
            </a:pathLst>
          </a:custGeom>
          <a:blipFill>
            <a:blip>
              <a:extLst>
                <a:ext uri="{96DAC541-7B7A-43D3-8B79-37D633B846F1}">
                  <asvg:svgBlip xmlns:asvg="http://schemas.microsoft.com/office/drawing/2016/SVG/main" r:embed="rId5"/>
                </a:ext>
              </a:extLst>
            </a:blip>
            <a:stretch>
              <a:fillRect l="-91051" t="-68065" r="-446276" b="-348554"/>
            </a:stretch>
          </a:blipFill>
          <a:ln cap="sq">
            <a:noFill/>
            <a:prstDash val="solid"/>
            <a:miter/>
          </a:ln>
        </p:spPr>
        <p:txBody>
          <a:bodyPr/>
          <a:lstStyle/>
          <a:p>
            <a:endParaRPr lang="en-US"/>
          </a:p>
        </p:txBody>
      </p:sp>
      <p:sp>
        <p:nvSpPr>
          <p:cNvPr id="6" name="TextBox 6"/>
          <p:cNvSpPr txBox="1"/>
          <p:nvPr/>
        </p:nvSpPr>
        <p:spPr>
          <a:xfrm>
            <a:off x="3676491" y="1870456"/>
            <a:ext cx="11729732" cy="3337452"/>
          </a:xfrm>
          <a:prstGeom prst="rect">
            <a:avLst/>
          </a:prstGeom>
        </p:spPr>
        <p:txBody>
          <a:bodyPr lIns="0" tIns="0" rIns="0" bIns="0" rtlCol="0" anchor="t">
            <a:spAutoFit/>
          </a:bodyPr>
          <a:lstStyle/>
          <a:p>
            <a:pPr algn="ctr">
              <a:lnSpc>
                <a:spcPts val="6645"/>
              </a:lnSpc>
            </a:pPr>
            <a:r>
              <a:rPr lang="en-US" sz="4747" b="1" spc="-94" dirty="0">
                <a:solidFill>
                  <a:srgbClr val="2B598F"/>
                </a:solidFill>
                <a:latin typeface="Agrandir Bold"/>
                <a:ea typeface="Agrandir Bold"/>
                <a:cs typeface="Agrandir Bold"/>
                <a:sym typeface="Agrandir Bold"/>
              </a:rPr>
              <a:t>LẬP TRÌNH ỨNG DỤNG UPLOAD SINGLE FILE WITH CONTROL</a:t>
            </a:r>
          </a:p>
          <a:p>
            <a:pPr algn="ctr">
              <a:lnSpc>
                <a:spcPts val="6645"/>
              </a:lnSpc>
            </a:pPr>
            <a:r>
              <a:rPr lang="en-US" sz="4747" b="1" spc="-94" dirty="0">
                <a:solidFill>
                  <a:srgbClr val="2B598F"/>
                </a:solidFill>
                <a:latin typeface="Agrandir Bold"/>
                <a:ea typeface="Agrandir Bold"/>
                <a:cs typeface="Agrandir Bold"/>
                <a:sym typeface="Agrandir Bold"/>
              </a:rPr>
              <a:t>(Start, Stop, Pause, Resume)</a:t>
            </a:r>
          </a:p>
          <a:p>
            <a:pPr marL="0" lvl="0" indent="0" algn="ctr">
              <a:lnSpc>
                <a:spcPts val="6645"/>
              </a:lnSpc>
              <a:spcBef>
                <a:spcPct val="0"/>
              </a:spcBef>
            </a:pPr>
            <a:endParaRPr lang="en-US" sz="4747" b="1" spc="-94" dirty="0">
              <a:solidFill>
                <a:srgbClr val="2B598F"/>
              </a:solidFill>
              <a:latin typeface="Agrandir Bold"/>
              <a:ea typeface="Agrandir Bold"/>
              <a:cs typeface="Agrandir Bold"/>
              <a:sym typeface="Agrandir Bold"/>
            </a:endParaRPr>
          </a:p>
        </p:txBody>
      </p:sp>
      <p:sp>
        <p:nvSpPr>
          <p:cNvPr id="7" name="Freeform 7"/>
          <p:cNvSpPr/>
          <p:nvPr/>
        </p:nvSpPr>
        <p:spPr>
          <a:xfrm>
            <a:off x="4552484" y="5611403"/>
            <a:ext cx="2100584" cy="2100584"/>
          </a:xfrm>
          <a:custGeom>
            <a:avLst/>
            <a:gdLst/>
            <a:ahLst/>
            <a:cxnLst/>
            <a:rect l="l" t="t" r="r" b="b"/>
            <a:pathLst>
              <a:path w="2100584" h="2100584">
                <a:moveTo>
                  <a:pt x="0" y="0"/>
                </a:moveTo>
                <a:lnTo>
                  <a:pt x="2100583" y="0"/>
                </a:lnTo>
                <a:lnTo>
                  <a:pt x="2100583" y="2100584"/>
                </a:lnTo>
                <a:lnTo>
                  <a:pt x="0" y="2100584"/>
                </a:lnTo>
                <a:lnTo>
                  <a:pt x="0" y="0"/>
                </a:lnTo>
                <a:close/>
              </a:path>
            </a:pathLst>
          </a:custGeom>
          <a:blipFill>
            <a:blip>
              <a:extLst>
                <a:ext uri="{96DAC541-7B7A-43D3-8B79-37D633B846F1}">
                  <asvg:svgBlip xmlns:asvg="http://schemas.microsoft.com/office/drawing/2016/SVG/main" r:embed="rId6"/>
                </a:ext>
              </a:extLst>
            </a:blip>
            <a:stretch>
              <a:fillRect/>
            </a:stretch>
          </a:blipFill>
          <a:ln cap="sq">
            <a:noFill/>
            <a:prstDash val="solid"/>
            <a:miter/>
          </a:ln>
        </p:spPr>
        <p:txBody>
          <a:bodyPr/>
          <a:lstStyle/>
          <a:p>
            <a:endParaRPr lang="en-US"/>
          </a:p>
        </p:txBody>
      </p:sp>
      <p:sp>
        <p:nvSpPr>
          <p:cNvPr id="8" name="Freeform 8"/>
          <p:cNvSpPr/>
          <p:nvPr/>
        </p:nvSpPr>
        <p:spPr>
          <a:xfrm>
            <a:off x="8479655" y="6780045"/>
            <a:ext cx="9763057" cy="2355147"/>
          </a:xfrm>
          <a:custGeom>
            <a:avLst/>
            <a:gdLst/>
            <a:ahLst/>
            <a:cxnLst/>
            <a:rect l="l" t="t" r="r" b="b"/>
            <a:pathLst>
              <a:path w="10129682" h="2545083">
                <a:moveTo>
                  <a:pt x="0" y="0"/>
                </a:moveTo>
                <a:lnTo>
                  <a:pt x="10129683" y="0"/>
                </a:lnTo>
                <a:lnTo>
                  <a:pt x="10129683" y="2545083"/>
                </a:lnTo>
                <a:lnTo>
                  <a:pt x="0" y="2545083"/>
                </a:lnTo>
                <a:lnTo>
                  <a:pt x="0" y="0"/>
                </a:lnTo>
                <a:close/>
              </a:path>
            </a:pathLst>
          </a:custGeom>
          <a:blipFill>
            <a:blip r:embed="rId7"/>
            <a:stretch>
              <a:fillRect/>
            </a:stretch>
          </a:blipFill>
        </p:spPr>
        <p:txBody>
          <a:bodyPr/>
          <a:lstStyle/>
          <a:p>
            <a:endParaRPr lang="en-US"/>
          </a:p>
        </p:txBody>
      </p:sp>
      <p:sp>
        <p:nvSpPr>
          <p:cNvPr id="9" name="Freeform 9"/>
          <p:cNvSpPr/>
          <p:nvPr/>
        </p:nvSpPr>
        <p:spPr>
          <a:xfrm>
            <a:off x="3536898" y="2934898"/>
            <a:ext cx="443425" cy="564360"/>
          </a:xfrm>
          <a:custGeom>
            <a:avLst/>
            <a:gdLst/>
            <a:ahLst/>
            <a:cxnLst/>
            <a:rect l="l" t="t" r="r" b="b"/>
            <a:pathLst>
              <a:path w="443425" h="564360">
                <a:moveTo>
                  <a:pt x="0" y="0"/>
                </a:moveTo>
                <a:lnTo>
                  <a:pt x="443425" y="0"/>
                </a:lnTo>
                <a:lnTo>
                  <a:pt x="443425" y="564360"/>
                </a:lnTo>
                <a:lnTo>
                  <a:pt x="0" y="564360"/>
                </a:lnTo>
                <a:lnTo>
                  <a:pt x="0" y="0"/>
                </a:lnTo>
                <a:close/>
              </a:path>
            </a:pathLst>
          </a:custGeom>
          <a:blipFill>
            <a:blip>
              <a:extLst>
                <a:ext uri="{96DAC541-7B7A-43D3-8B79-37D633B846F1}">
                  <asvg:svgBlip xmlns:asvg="http://schemas.microsoft.com/office/drawing/2016/SVG/main" r:embed="rId8"/>
                </a:ext>
              </a:extLst>
            </a:blip>
            <a:stretch>
              <a:fillRect l="-604510" t="-42365" r="-436404" b="-800346"/>
            </a:stretch>
          </a:blipFill>
        </p:spPr>
        <p:txBody>
          <a:bodyPr/>
          <a:lstStyle/>
          <a:p>
            <a:endParaRPr lang="en-US"/>
          </a:p>
        </p:txBody>
      </p:sp>
      <p:sp>
        <p:nvSpPr>
          <p:cNvPr id="10" name="Freeform 10"/>
          <p:cNvSpPr/>
          <p:nvPr/>
        </p:nvSpPr>
        <p:spPr>
          <a:xfrm>
            <a:off x="13929066" y="-964963"/>
            <a:ext cx="2835550" cy="2835550"/>
          </a:xfrm>
          <a:custGeom>
            <a:avLst/>
            <a:gdLst/>
            <a:ahLst/>
            <a:cxnLst/>
            <a:rect l="l" t="t" r="r" b="b"/>
            <a:pathLst>
              <a:path w="2835550" h="2835550">
                <a:moveTo>
                  <a:pt x="0" y="0"/>
                </a:moveTo>
                <a:lnTo>
                  <a:pt x="2835550" y="0"/>
                </a:lnTo>
                <a:lnTo>
                  <a:pt x="2835550" y="2835551"/>
                </a:lnTo>
                <a:lnTo>
                  <a:pt x="0" y="2835551"/>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sp>
        <p:nvSpPr>
          <p:cNvPr id="11" name="Freeform 11"/>
          <p:cNvSpPr/>
          <p:nvPr/>
        </p:nvSpPr>
        <p:spPr>
          <a:xfrm>
            <a:off x="16764616" y="4224913"/>
            <a:ext cx="494684" cy="610793"/>
          </a:xfrm>
          <a:custGeom>
            <a:avLst/>
            <a:gdLst/>
            <a:ahLst/>
            <a:cxnLst/>
            <a:rect l="l" t="t" r="r" b="b"/>
            <a:pathLst>
              <a:path w="494684" h="610793">
                <a:moveTo>
                  <a:pt x="0" y="0"/>
                </a:moveTo>
                <a:lnTo>
                  <a:pt x="494684" y="0"/>
                </a:lnTo>
                <a:lnTo>
                  <a:pt x="494684" y="610793"/>
                </a:lnTo>
                <a:lnTo>
                  <a:pt x="0" y="610793"/>
                </a:lnTo>
                <a:lnTo>
                  <a:pt x="0" y="0"/>
                </a:lnTo>
                <a:close/>
              </a:path>
            </a:pathLst>
          </a:custGeom>
          <a:blipFill>
            <a:blip>
              <a:extLst>
                <a:ext uri="{96DAC541-7B7A-43D3-8B79-37D633B846F1}">
                  <asvg:svgBlip xmlns:asvg="http://schemas.microsoft.com/office/drawing/2016/SVG/main" r:embed="rId10"/>
                </a:ext>
              </a:extLst>
            </a:blip>
            <a:stretch>
              <a:fillRect l="-283918" t="-193372" r="-944089" b="-484941"/>
            </a:stretch>
          </a:blipFill>
        </p:spPr>
        <p:txBody>
          <a:bodyPr/>
          <a:lstStyle/>
          <a:p>
            <a:endParaRPr lang="en-US"/>
          </a:p>
        </p:txBody>
      </p:sp>
      <p:sp>
        <p:nvSpPr>
          <p:cNvPr id="12" name="TextBox 12"/>
          <p:cNvSpPr txBox="1"/>
          <p:nvPr/>
        </p:nvSpPr>
        <p:spPr>
          <a:xfrm>
            <a:off x="5336830" y="4724677"/>
            <a:ext cx="7614341" cy="1573427"/>
          </a:xfrm>
          <a:prstGeom prst="rect">
            <a:avLst/>
          </a:prstGeom>
        </p:spPr>
        <p:txBody>
          <a:bodyPr lIns="0" tIns="0" rIns="0" bIns="0" rtlCol="0" anchor="t">
            <a:spAutoFit/>
          </a:bodyPr>
          <a:lstStyle/>
          <a:p>
            <a:pPr marL="0" lvl="0" indent="0" algn="ctr">
              <a:lnSpc>
                <a:spcPts val="5828"/>
              </a:lnSpc>
            </a:pPr>
            <a:r>
              <a:rPr lang="en-US" sz="4163" b="1" spc="-83">
                <a:solidFill>
                  <a:srgbClr val="181D2B"/>
                </a:solidFill>
                <a:latin typeface="Agrandir Bold"/>
                <a:ea typeface="Agrandir Bold"/>
                <a:cs typeface="Agrandir Bold"/>
                <a:sym typeface="Agrandir Bold"/>
              </a:rPr>
              <a:t>Hệ thống truyền tải tệp tin Client-Server qua TCP Socket</a:t>
            </a:r>
          </a:p>
        </p:txBody>
      </p:sp>
      <p:sp>
        <p:nvSpPr>
          <p:cNvPr id="13" name="TextBox 13"/>
          <p:cNvSpPr txBox="1"/>
          <p:nvPr/>
        </p:nvSpPr>
        <p:spPr>
          <a:xfrm>
            <a:off x="6121176" y="1009650"/>
            <a:ext cx="6045649" cy="198120"/>
          </a:xfrm>
          <a:prstGeom prst="rect">
            <a:avLst/>
          </a:prstGeom>
        </p:spPr>
        <p:txBody>
          <a:bodyPr lIns="0" tIns="0" rIns="0" bIns="0" rtlCol="0" anchor="t">
            <a:spAutoFit/>
          </a:bodyPr>
          <a:lstStyle/>
          <a:p>
            <a:pPr marL="0" lvl="0" indent="0" algn="ctr">
              <a:lnSpc>
                <a:spcPts val="1679"/>
              </a:lnSpc>
            </a:pPr>
            <a:r>
              <a:rPr lang="en-US" sz="1200" spc="36">
                <a:solidFill>
                  <a:srgbClr val="181D2B"/>
                </a:solidFill>
                <a:latin typeface="Open Sauce"/>
                <a:ea typeface="Open Sauce"/>
                <a:cs typeface="Open Sauce"/>
                <a:sym typeface="Open Sauce"/>
              </a:rPr>
              <a:t>TRƯỜNG ĐẠI HỌC GIAO THÔNG VẬN TẢI TP.HCM</a:t>
            </a:r>
          </a:p>
        </p:txBody>
      </p:sp>
      <p:sp>
        <p:nvSpPr>
          <p:cNvPr id="14" name="TextBox 14"/>
          <p:cNvSpPr txBox="1"/>
          <p:nvPr/>
        </p:nvSpPr>
        <p:spPr>
          <a:xfrm>
            <a:off x="10685389" y="9149715"/>
            <a:ext cx="2962870" cy="198120"/>
          </a:xfrm>
          <a:prstGeom prst="rect">
            <a:avLst/>
          </a:prstGeom>
        </p:spPr>
        <p:txBody>
          <a:bodyPr lIns="0" tIns="0" rIns="0" bIns="0" rtlCol="0" anchor="t">
            <a:spAutoFit/>
          </a:bodyPr>
          <a:lstStyle/>
          <a:p>
            <a:pPr marL="0" lvl="0" indent="0" algn="r">
              <a:lnSpc>
                <a:spcPts val="1679"/>
              </a:lnSpc>
            </a:pPr>
            <a:r>
              <a:rPr lang="en-US" sz="1200" spc="6">
                <a:solidFill>
                  <a:srgbClr val="181D2B"/>
                </a:solidFill>
                <a:latin typeface="Open Sauce"/>
                <a:ea typeface="Open Sauce"/>
                <a:cs typeface="Open Sauce"/>
                <a:sym typeface="Open Sauce"/>
              </a:rPr>
              <a:t>Thời gian</a:t>
            </a:r>
          </a:p>
        </p:txBody>
      </p:sp>
      <p:sp>
        <p:nvSpPr>
          <p:cNvPr id="15" name="TextBox 15"/>
          <p:cNvSpPr txBox="1"/>
          <p:nvPr/>
        </p:nvSpPr>
        <p:spPr>
          <a:xfrm>
            <a:off x="13361184" y="9423068"/>
            <a:ext cx="2962870" cy="248644"/>
          </a:xfrm>
          <a:prstGeom prst="rect">
            <a:avLst/>
          </a:prstGeom>
        </p:spPr>
        <p:txBody>
          <a:bodyPr lIns="0" tIns="0" rIns="0" bIns="0" rtlCol="0" anchor="t">
            <a:spAutoFit/>
          </a:bodyPr>
          <a:lstStyle/>
          <a:p>
            <a:pPr marL="0" lvl="0" indent="0" algn="l">
              <a:lnSpc>
                <a:spcPts val="2045"/>
              </a:lnSpc>
            </a:pPr>
            <a:r>
              <a:rPr lang="en-US" sz="1460" b="1" spc="7">
                <a:solidFill>
                  <a:srgbClr val="181D2B"/>
                </a:solidFill>
                <a:latin typeface="Open Sauce Bold"/>
                <a:ea typeface="Open Sauce Bold"/>
                <a:cs typeface="Open Sauce Bold"/>
                <a:sym typeface="Open Sauce Bold"/>
              </a:rPr>
              <a:t>Tháng 7, 2026</a:t>
            </a:r>
          </a:p>
        </p:txBody>
      </p:sp>
      <p:sp>
        <p:nvSpPr>
          <p:cNvPr id="16" name="TextBox 16"/>
          <p:cNvSpPr txBox="1"/>
          <p:nvPr/>
        </p:nvSpPr>
        <p:spPr>
          <a:xfrm>
            <a:off x="1963430" y="8455167"/>
            <a:ext cx="3817770" cy="198120"/>
          </a:xfrm>
          <a:prstGeom prst="rect">
            <a:avLst/>
          </a:prstGeom>
        </p:spPr>
        <p:txBody>
          <a:bodyPr lIns="0" tIns="0" rIns="0" bIns="0" rtlCol="0" anchor="t">
            <a:spAutoFit/>
          </a:bodyPr>
          <a:lstStyle/>
          <a:p>
            <a:pPr marL="0" lvl="0" indent="0" algn="l">
              <a:lnSpc>
                <a:spcPts val="1679"/>
              </a:lnSpc>
            </a:pPr>
            <a:r>
              <a:rPr lang="en-US" sz="1200" spc="6">
                <a:solidFill>
                  <a:srgbClr val="181D2B"/>
                </a:solidFill>
                <a:latin typeface="Open Sauce"/>
                <a:ea typeface="Open Sauce"/>
                <a:cs typeface="Open Sauce"/>
                <a:sym typeface="Open Sauce"/>
              </a:rPr>
              <a:t>Môn học</a:t>
            </a:r>
          </a:p>
        </p:txBody>
      </p:sp>
      <p:sp>
        <p:nvSpPr>
          <p:cNvPr id="17" name="TextBox 17"/>
          <p:cNvSpPr txBox="1"/>
          <p:nvPr/>
        </p:nvSpPr>
        <p:spPr>
          <a:xfrm>
            <a:off x="2771833" y="8445642"/>
            <a:ext cx="3817770" cy="248644"/>
          </a:xfrm>
          <a:prstGeom prst="rect">
            <a:avLst/>
          </a:prstGeom>
        </p:spPr>
        <p:txBody>
          <a:bodyPr lIns="0" tIns="0" rIns="0" bIns="0" rtlCol="0" anchor="t">
            <a:spAutoFit/>
          </a:bodyPr>
          <a:lstStyle/>
          <a:p>
            <a:pPr marL="0" lvl="0" indent="0" algn="l">
              <a:lnSpc>
                <a:spcPts val="2045"/>
              </a:lnSpc>
            </a:pPr>
            <a:r>
              <a:rPr lang="en-US" sz="1460" b="1" spc="7">
                <a:solidFill>
                  <a:srgbClr val="181D2B"/>
                </a:solidFill>
                <a:latin typeface="Open Sauce Bold"/>
                <a:ea typeface="Open Sauce Bold"/>
                <a:cs typeface="Open Sauce Bold"/>
                <a:sym typeface="Open Sauce Bold"/>
              </a:rPr>
              <a:t>Lập trình mạng</a:t>
            </a:r>
          </a:p>
        </p:txBody>
      </p:sp>
      <p:sp>
        <p:nvSpPr>
          <p:cNvPr id="18" name="TextBox 18"/>
          <p:cNvSpPr txBox="1"/>
          <p:nvPr/>
        </p:nvSpPr>
        <p:spPr>
          <a:xfrm>
            <a:off x="1954766" y="8782900"/>
            <a:ext cx="3656674" cy="291036"/>
          </a:xfrm>
          <a:prstGeom prst="rect">
            <a:avLst/>
          </a:prstGeom>
        </p:spPr>
        <p:txBody>
          <a:bodyPr lIns="0" tIns="0" rIns="0" bIns="0" rtlCol="0" anchor="t">
            <a:spAutoFit/>
          </a:bodyPr>
          <a:lstStyle/>
          <a:p>
            <a:pPr algn="ctr">
              <a:lnSpc>
                <a:spcPts val="2467"/>
              </a:lnSpc>
              <a:spcBef>
                <a:spcPct val="0"/>
              </a:spcBef>
            </a:pPr>
            <a:r>
              <a:rPr lang="en-US" sz="1762">
                <a:solidFill>
                  <a:srgbClr val="000000"/>
                </a:solidFill>
                <a:latin typeface="Open Sauce"/>
                <a:ea typeface="Open Sauce"/>
                <a:cs typeface="Open Sauce"/>
                <a:sym typeface="Open Sauce"/>
              </a:rPr>
              <a:t>Nhóm sinh viên thực hiện  Nhóm 8</a:t>
            </a: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9FEFF"/>
        </a:solidFill>
        <a:effectLst/>
      </p:bgPr>
    </p:bg>
    <p:spTree>
      <p:nvGrpSpPr>
        <p:cNvPr id="1" name=""/>
        <p:cNvGrpSpPr/>
        <p:nvPr/>
      </p:nvGrpSpPr>
      <p:grpSpPr>
        <a:xfrm>
          <a:off x="0" y="0"/>
          <a:ext cx="0" cy="0"/>
          <a:chOff x="0" y="0"/>
          <a:chExt cx="0" cy="0"/>
        </a:xfrm>
      </p:grpSpPr>
      <p:sp>
        <p:nvSpPr>
          <p:cNvPr id="2" name="Freeform 2"/>
          <p:cNvSpPr/>
          <p:nvPr/>
        </p:nvSpPr>
        <p:spPr>
          <a:xfrm rot="-5400000" flipH="1">
            <a:off x="8856179" y="2513730"/>
            <a:ext cx="11923595" cy="8953536"/>
          </a:xfrm>
          <a:custGeom>
            <a:avLst/>
            <a:gdLst/>
            <a:ahLst/>
            <a:cxnLst/>
            <a:rect l="l" t="t" r="r" b="b"/>
            <a:pathLst>
              <a:path w="11923595" h="8953536">
                <a:moveTo>
                  <a:pt x="11923595" y="0"/>
                </a:moveTo>
                <a:lnTo>
                  <a:pt x="0" y="0"/>
                </a:lnTo>
                <a:lnTo>
                  <a:pt x="0" y="8953536"/>
                </a:lnTo>
                <a:lnTo>
                  <a:pt x="11923595" y="8953536"/>
                </a:lnTo>
                <a:lnTo>
                  <a:pt x="11923595"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txBody>
          <a:bodyPr/>
          <a:lstStyle/>
          <a:p>
            <a:endParaRPr lang="en-US"/>
          </a:p>
        </p:txBody>
      </p:sp>
      <p:sp>
        <p:nvSpPr>
          <p:cNvPr id="3" name="Freeform 3"/>
          <p:cNvSpPr/>
          <p:nvPr/>
        </p:nvSpPr>
        <p:spPr>
          <a:xfrm>
            <a:off x="10419017" y="7357160"/>
            <a:ext cx="7762803" cy="2901348"/>
          </a:xfrm>
          <a:custGeom>
            <a:avLst/>
            <a:gdLst/>
            <a:ahLst/>
            <a:cxnLst/>
            <a:rect l="l" t="t" r="r" b="b"/>
            <a:pathLst>
              <a:path w="7762803" h="2901348">
                <a:moveTo>
                  <a:pt x="0" y="0"/>
                </a:moveTo>
                <a:lnTo>
                  <a:pt x="7762803" y="0"/>
                </a:lnTo>
                <a:lnTo>
                  <a:pt x="7762803" y="2901348"/>
                </a:lnTo>
                <a:lnTo>
                  <a:pt x="0" y="2901348"/>
                </a:lnTo>
                <a:lnTo>
                  <a:pt x="0" y="0"/>
                </a:lnTo>
                <a:close/>
              </a:path>
            </a:pathLst>
          </a:custGeom>
          <a:blipFill>
            <a:blip r:embed="rId3"/>
            <a:stretch>
              <a:fillRect/>
            </a:stretch>
          </a:blipFill>
          <a:ln cap="sq">
            <a:noFill/>
            <a:prstDash val="solid"/>
            <a:miter/>
          </a:ln>
        </p:spPr>
        <p:txBody>
          <a:bodyPr/>
          <a:lstStyle/>
          <a:p>
            <a:endParaRPr lang="en-US"/>
          </a:p>
        </p:txBody>
      </p:sp>
      <p:sp>
        <p:nvSpPr>
          <p:cNvPr id="4" name="Freeform 4"/>
          <p:cNvSpPr/>
          <p:nvPr/>
        </p:nvSpPr>
        <p:spPr>
          <a:xfrm>
            <a:off x="1134881" y="8500432"/>
            <a:ext cx="483168" cy="905940"/>
          </a:xfrm>
          <a:custGeom>
            <a:avLst/>
            <a:gdLst/>
            <a:ahLst/>
            <a:cxnLst/>
            <a:rect l="l" t="t" r="r" b="b"/>
            <a:pathLst>
              <a:path w="483168" h="905940">
                <a:moveTo>
                  <a:pt x="0" y="0"/>
                </a:moveTo>
                <a:lnTo>
                  <a:pt x="483169" y="0"/>
                </a:lnTo>
                <a:lnTo>
                  <a:pt x="483169" y="905940"/>
                </a:lnTo>
                <a:lnTo>
                  <a:pt x="0" y="905940"/>
                </a:lnTo>
                <a:lnTo>
                  <a:pt x="0" y="0"/>
                </a:lnTo>
                <a:close/>
              </a:path>
            </a:pathLst>
          </a:custGeom>
          <a:blipFill>
            <a:blip r:embed="rId4"/>
            <a:stretch>
              <a:fillRect/>
            </a:stretch>
          </a:blipFill>
          <a:ln cap="sq">
            <a:noFill/>
            <a:prstDash val="solid"/>
            <a:miter/>
          </a:ln>
        </p:spPr>
        <p:txBody>
          <a:bodyPr/>
          <a:lstStyle/>
          <a:p>
            <a:endParaRPr lang="en-US"/>
          </a:p>
        </p:txBody>
      </p:sp>
      <p:sp>
        <p:nvSpPr>
          <p:cNvPr id="5" name="Freeform 5"/>
          <p:cNvSpPr/>
          <p:nvPr/>
        </p:nvSpPr>
        <p:spPr>
          <a:xfrm>
            <a:off x="10776924" y="2726300"/>
            <a:ext cx="6736108" cy="2944157"/>
          </a:xfrm>
          <a:custGeom>
            <a:avLst/>
            <a:gdLst/>
            <a:ahLst/>
            <a:cxnLst/>
            <a:rect l="l" t="t" r="r" b="b"/>
            <a:pathLst>
              <a:path w="6736108" h="2944157">
                <a:moveTo>
                  <a:pt x="0" y="0"/>
                </a:moveTo>
                <a:lnTo>
                  <a:pt x="6736109" y="0"/>
                </a:lnTo>
                <a:lnTo>
                  <a:pt x="6736109" y="2944157"/>
                </a:lnTo>
                <a:lnTo>
                  <a:pt x="0" y="2944157"/>
                </a:lnTo>
                <a:lnTo>
                  <a:pt x="0" y="0"/>
                </a:lnTo>
                <a:close/>
              </a:path>
            </a:pathLst>
          </a:custGeom>
          <a:blipFill>
            <a:blip r:embed="rId5"/>
            <a:stretch>
              <a:fillRect/>
            </a:stretch>
          </a:blipFill>
        </p:spPr>
        <p:txBody>
          <a:bodyPr/>
          <a:lstStyle/>
          <a:p>
            <a:endParaRPr lang="en-US"/>
          </a:p>
        </p:txBody>
      </p:sp>
      <p:sp>
        <p:nvSpPr>
          <p:cNvPr id="6" name="Freeform 6"/>
          <p:cNvSpPr/>
          <p:nvPr/>
        </p:nvSpPr>
        <p:spPr>
          <a:xfrm>
            <a:off x="325458" y="3696931"/>
            <a:ext cx="598467" cy="598467"/>
          </a:xfrm>
          <a:custGeom>
            <a:avLst/>
            <a:gdLst/>
            <a:ahLst/>
            <a:cxnLst/>
            <a:rect l="l" t="t" r="r" b="b"/>
            <a:pathLst>
              <a:path w="598467" h="598467">
                <a:moveTo>
                  <a:pt x="0" y="0"/>
                </a:moveTo>
                <a:lnTo>
                  <a:pt x="598467" y="0"/>
                </a:lnTo>
                <a:lnTo>
                  <a:pt x="598467" y="598467"/>
                </a:lnTo>
                <a:lnTo>
                  <a:pt x="0" y="598467"/>
                </a:lnTo>
                <a:lnTo>
                  <a:pt x="0" y="0"/>
                </a:lnTo>
                <a:close/>
              </a:path>
            </a:pathLst>
          </a:custGeom>
          <a:blipFill>
            <a:blip r:embed="rId6"/>
            <a:stretch>
              <a:fillRect/>
            </a:stretch>
          </a:blipFill>
        </p:spPr>
        <p:txBody>
          <a:bodyPr/>
          <a:lstStyle/>
          <a:p>
            <a:endParaRPr lang="en-US"/>
          </a:p>
        </p:txBody>
      </p:sp>
      <p:sp>
        <p:nvSpPr>
          <p:cNvPr id="7" name="Freeform 7"/>
          <p:cNvSpPr/>
          <p:nvPr/>
        </p:nvSpPr>
        <p:spPr>
          <a:xfrm>
            <a:off x="325458" y="5143500"/>
            <a:ext cx="562170" cy="562170"/>
          </a:xfrm>
          <a:custGeom>
            <a:avLst/>
            <a:gdLst/>
            <a:ahLst/>
            <a:cxnLst/>
            <a:rect l="l" t="t" r="r" b="b"/>
            <a:pathLst>
              <a:path w="562170" h="562170">
                <a:moveTo>
                  <a:pt x="0" y="0"/>
                </a:moveTo>
                <a:lnTo>
                  <a:pt x="562169" y="0"/>
                </a:lnTo>
                <a:lnTo>
                  <a:pt x="562169" y="562170"/>
                </a:lnTo>
                <a:lnTo>
                  <a:pt x="0" y="562170"/>
                </a:lnTo>
                <a:lnTo>
                  <a:pt x="0" y="0"/>
                </a:lnTo>
                <a:close/>
              </a:path>
            </a:pathLst>
          </a:custGeom>
          <a:blipFill>
            <a:blip r:embed="rId7"/>
            <a:stretch>
              <a:fillRect/>
            </a:stretch>
          </a:blipFill>
        </p:spPr>
        <p:txBody>
          <a:bodyPr/>
          <a:lstStyle/>
          <a:p>
            <a:endParaRPr lang="en-US"/>
          </a:p>
        </p:txBody>
      </p:sp>
      <p:sp>
        <p:nvSpPr>
          <p:cNvPr id="8" name="Freeform 8"/>
          <p:cNvSpPr/>
          <p:nvPr/>
        </p:nvSpPr>
        <p:spPr>
          <a:xfrm>
            <a:off x="320974" y="6265391"/>
            <a:ext cx="566653" cy="618167"/>
          </a:xfrm>
          <a:custGeom>
            <a:avLst/>
            <a:gdLst/>
            <a:ahLst/>
            <a:cxnLst/>
            <a:rect l="l" t="t" r="r" b="b"/>
            <a:pathLst>
              <a:path w="566653" h="618167">
                <a:moveTo>
                  <a:pt x="0" y="0"/>
                </a:moveTo>
                <a:lnTo>
                  <a:pt x="566653" y="0"/>
                </a:lnTo>
                <a:lnTo>
                  <a:pt x="566653" y="618167"/>
                </a:lnTo>
                <a:lnTo>
                  <a:pt x="0" y="618167"/>
                </a:lnTo>
                <a:lnTo>
                  <a:pt x="0" y="0"/>
                </a:lnTo>
                <a:close/>
              </a:path>
            </a:pathLst>
          </a:custGeom>
          <a:blipFill>
            <a:blip r:embed="rId8"/>
            <a:stretch>
              <a:fillRect/>
            </a:stretch>
          </a:blipFill>
        </p:spPr>
        <p:txBody>
          <a:bodyPr/>
          <a:lstStyle/>
          <a:p>
            <a:endParaRPr lang="en-US"/>
          </a:p>
        </p:txBody>
      </p:sp>
      <p:sp>
        <p:nvSpPr>
          <p:cNvPr id="9" name="TextBox 9"/>
          <p:cNvSpPr txBox="1"/>
          <p:nvPr/>
        </p:nvSpPr>
        <p:spPr>
          <a:xfrm>
            <a:off x="1028700" y="1467440"/>
            <a:ext cx="8621502" cy="1749482"/>
          </a:xfrm>
          <a:prstGeom prst="rect">
            <a:avLst/>
          </a:prstGeom>
        </p:spPr>
        <p:txBody>
          <a:bodyPr lIns="0" tIns="0" rIns="0" bIns="0" rtlCol="0" anchor="t">
            <a:spAutoFit/>
          </a:bodyPr>
          <a:lstStyle/>
          <a:p>
            <a:pPr marL="0" lvl="0" indent="0" algn="l">
              <a:lnSpc>
                <a:spcPts val="12246"/>
              </a:lnSpc>
              <a:spcBef>
                <a:spcPct val="0"/>
              </a:spcBef>
            </a:pPr>
            <a:r>
              <a:rPr lang="en-US" sz="8747" b="1" u="none" strike="noStrike">
                <a:solidFill>
                  <a:srgbClr val="2B598F"/>
                </a:solidFill>
                <a:latin typeface="Agrandir Bold"/>
                <a:ea typeface="Agrandir Bold"/>
                <a:cs typeface="Agrandir Bold"/>
                <a:sym typeface="Agrandir Bold"/>
              </a:rPr>
              <a:t>Giới thiệu dự án</a:t>
            </a:r>
          </a:p>
        </p:txBody>
      </p:sp>
      <p:sp>
        <p:nvSpPr>
          <p:cNvPr id="10" name="TextBox 10"/>
          <p:cNvSpPr txBox="1"/>
          <p:nvPr/>
        </p:nvSpPr>
        <p:spPr>
          <a:xfrm>
            <a:off x="1028700" y="3573106"/>
            <a:ext cx="9208902" cy="977900"/>
          </a:xfrm>
          <a:prstGeom prst="rect">
            <a:avLst/>
          </a:prstGeom>
        </p:spPr>
        <p:txBody>
          <a:bodyPr lIns="0" tIns="0" rIns="0" bIns="0" rtlCol="0" anchor="t">
            <a:spAutoFit/>
          </a:bodyPr>
          <a:lstStyle/>
          <a:p>
            <a:pPr algn="l">
              <a:lnSpc>
                <a:spcPts val="3774"/>
              </a:lnSpc>
            </a:pPr>
            <a:r>
              <a:rPr lang="en-US" sz="2499" u="none" strike="noStrike" spc="12">
                <a:solidFill>
                  <a:srgbClr val="181D2B"/>
                </a:solidFill>
                <a:latin typeface="Times New Roman MT"/>
                <a:ea typeface="Times New Roman MT"/>
                <a:cs typeface="Times New Roman MT"/>
                <a:sym typeface="Times New Roman MT"/>
              </a:rPr>
              <a:t>Tên đề tài: Hệ thống truyền tải tệp tin với kiểm soát Start, Pause, Resume, Stop, giới hạn tốc độ, xử lý trùng lặp và xác thực.</a:t>
            </a:r>
          </a:p>
        </p:txBody>
      </p:sp>
      <p:sp>
        <p:nvSpPr>
          <p:cNvPr id="11" name="TextBox 11"/>
          <p:cNvSpPr txBox="1"/>
          <p:nvPr/>
        </p:nvSpPr>
        <p:spPr>
          <a:xfrm>
            <a:off x="1028700" y="4970106"/>
            <a:ext cx="9362539" cy="869950"/>
          </a:xfrm>
          <a:prstGeom prst="rect">
            <a:avLst/>
          </a:prstGeom>
        </p:spPr>
        <p:txBody>
          <a:bodyPr lIns="0" tIns="0" rIns="0" bIns="0" rtlCol="0" anchor="t">
            <a:spAutoFit/>
          </a:bodyPr>
          <a:lstStyle/>
          <a:p>
            <a:pPr algn="l">
              <a:lnSpc>
                <a:spcPts val="3499"/>
              </a:lnSpc>
            </a:pPr>
            <a:r>
              <a:rPr lang="en-US" sz="2499">
                <a:solidFill>
                  <a:srgbClr val="000000"/>
                </a:solidFill>
                <a:latin typeface="Times New Roman"/>
                <a:ea typeface="Times New Roman"/>
                <a:cs typeface="Times New Roman"/>
                <a:sym typeface="Times New Roman"/>
              </a:rPr>
              <a:t>Mục tiêu: Xây dựng ứng dụng Client-Server cho phép tải file an toàn, nhanh chóng và kiểm soát toàn diện quá trình truyền tải.</a:t>
            </a:r>
          </a:p>
        </p:txBody>
      </p:sp>
      <p:sp>
        <p:nvSpPr>
          <p:cNvPr id="12" name="TextBox 12"/>
          <p:cNvSpPr txBox="1"/>
          <p:nvPr/>
        </p:nvSpPr>
        <p:spPr>
          <a:xfrm>
            <a:off x="1028700" y="6208241"/>
            <a:ext cx="9965001" cy="869950"/>
          </a:xfrm>
          <a:prstGeom prst="rect">
            <a:avLst/>
          </a:prstGeom>
        </p:spPr>
        <p:txBody>
          <a:bodyPr lIns="0" tIns="0" rIns="0" bIns="0" rtlCol="0" anchor="t">
            <a:spAutoFit/>
          </a:bodyPr>
          <a:lstStyle/>
          <a:p>
            <a:pPr algn="l">
              <a:lnSpc>
                <a:spcPts val="3499"/>
              </a:lnSpc>
              <a:spcBef>
                <a:spcPct val="0"/>
              </a:spcBef>
            </a:pPr>
            <a:r>
              <a:rPr lang="en-US" sz="2499">
                <a:solidFill>
                  <a:srgbClr val="000000"/>
                </a:solidFill>
                <a:latin typeface="Times New Roman"/>
                <a:ea typeface="Times New Roman"/>
                <a:cs typeface="Times New Roman"/>
                <a:sym typeface="Times New Roman"/>
              </a:rPr>
              <a:t>Các chức năng chính: Client (gửi file, điều khiển luồng), Server (tiếp nhận, lưu trữ, xác thực), Admin (quản lý tài khoản, lịch sử upload).</a:t>
            </a: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9FEFF"/>
        </a:solidFill>
        <a:effectLst/>
      </p:bgPr>
    </p:bg>
    <p:spTree>
      <p:nvGrpSpPr>
        <p:cNvPr id="1" name=""/>
        <p:cNvGrpSpPr/>
        <p:nvPr/>
      </p:nvGrpSpPr>
      <p:grpSpPr>
        <a:xfrm>
          <a:off x="0" y="0"/>
          <a:ext cx="0" cy="0"/>
          <a:chOff x="0" y="0"/>
          <a:chExt cx="0" cy="0"/>
        </a:xfrm>
      </p:grpSpPr>
      <p:sp>
        <p:nvSpPr>
          <p:cNvPr id="2" name="Freeform 2"/>
          <p:cNvSpPr/>
          <p:nvPr/>
        </p:nvSpPr>
        <p:spPr>
          <a:xfrm rot="-5400000">
            <a:off x="-2524664" y="1886340"/>
            <a:ext cx="12568167" cy="5461440"/>
          </a:xfrm>
          <a:custGeom>
            <a:avLst/>
            <a:gdLst/>
            <a:ahLst/>
            <a:cxnLst/>
            <a:rect l="l" t="t" r="r" b="b"/>
            <a:pathLst>
              <a:path w="12568167" h="5461440">
                <a:moveTo>
                  <a:pt x="0" y="0"/>
                </a:moveTo>
                <a:lnTo>
                  <a:pt x="12568167" y="0"/>
                </a:lnTo>
                <a:lnTo>
                  <a:pt x="12568167" y="5461439"/>
                </a:lnTo>
                <a:lnTo>
                  <a:pt x="0" y="5461439"/>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txBody>
          <a:bodyPr/>
          <a:lstStyle/>
          <a:p>
            <a:endParaRPr lang="en-US"/>
          </a:p>
        </p:txBody>
      </p:sp>
      <p:sp>
        <p:nvSpPr>
          <p:cNvPr id="3" name="Freeform 3"/>
          <p:cNvSpPr/>
          <p:nvPr/>
        </p:nvSpPr>
        <p:spPr>
          <a:xfrm>
            <a:off x="2056375" y="2389649"/>
            <a:ext cx="3491842" cy="4782027"/>
          </a:xfrm>
          <a:custGeom>
            <a:avLst/>
            <a:gdLst/>
            <a:ahLst/>
            <a:cxnLst/>
            <a:rect l="l" t="t" r="r" b="b"/>
            <a:pathLst>
              <a:path w="3491842" h="4782027">
                <a:moveTo>
                  <a:pt x="0" y="0"/>
                </a:moveTo>
                <a:lnTo>
                  <a:pt x="3491842" y="0"/>
                </a:lnTo>
                <a:lnTo>
                  <a:pt x="3491842" y="4782026"/>
                </a:lnTo>
                <a:lnTo>
                  <a:pt x="0" y="4782026"/>
                </a:lnTo>
                <a:lnTo>
                  <a:pt x="0" y="0"/>
                </a:lnTo>
                <a:close/>
              </a:path>
            </a:pathLst>
          </a:custGeom>
          <a:blipFill>
            <a:blip r:embed="rId3"/>
            <a:stretch>
              <a:fillRect/>
            </a:stretch>
          </a:blipFill>
          <a:ln cap="sq">
            <a:noFill/>
            <a:prstDash val="solid"/>
            <a:miter/>
          </a:ln>
        </p:spPr>
        <p:txBody>
          <a:bodyPr/>
          <a:lstStyle/>
          <a:p>
            <a:endParaRPr lang="en-US"/>
          </a:p>
        </p:txBody>
      </p:sp>
      <p:sp>
        <p:nvSpPr>
          <p:cNvPr id="4" name="Freeform 4"/>
          <p:cNvSpPr/>
          <p:nvPr/>
        </p:nvSpPr>
        <p:spPr>
          <a:xfrm>
            <a:off x="16837037" y="9258300"/>
            <a:ext cx="844526" cy="676678"/>
          </a:xfrm>
          <a:custGeom>
            <a:avLst/>
            <a:gdLst/>
            <a:ahLst/>
            <a:cxnLst/>
            <a:rect l="l" t="t" r="r" b="b"/>
            <a:pathLst>
              <a:path w="844526" h="676678">
                <a:moveTo>
                  <a:pt x="0" y="0"/>
                </a:moveTo>
                <a:lnTo>
                  <a:pt x="844526" y="0"/>
                </a:lnTo>
                <a:lnTo>
                  <a:pt x="844526" y="676678"/>
                </a:lnTo>
                <a:lnTo>
                  <a:pt x="0" y="676678"/>
                </a:lnTo>
                <a:lnTo>
                  <a:pt x="0" y="0"/>
                </a:lnTo>
                <a:close/>
              </a:path>
            </a:pathLst>
          </a:custGeom>
          <a:blipFill>
            <a:blip r:embed="rId4"/>
            <a:stretch>
              <a:fillRect/>
            </a:stretch>
          </a:blipFill>
          <a:ln cap="sq">
            <a:noFill/>
            <a:prstDash val="solid"/>
            <a:miter/>
          </a:ln>
        </p:spPr>
        <p:txBody>
          <a:bodyPr/>
          <a:lstStyle/>
          <a:p>
            <a:endParaRPr lang="en-US"/>
          </a:p>
        </p:txBody>
      </p:sp>
      <p:sp>
        <p:nvSpPr>
          <p:cNvPr id="5" name="Freeform 5"/>
          <p:cNvSpPr/>
          <p:nvPr/>
        </p:nvSpPr>
        <p:spPr>
          <a:xfrm>
            <a:off x="1028700" y="1303137"/>
            <a:ext cx="5425158" cy="7680727"/>
          </a:xfrm>
          <a:custGeom>
            <a:avLst/>
            <a:gdLst/>
            <a:ahLst/>
            <a:cxnLst/>
            <a:rect l="l" t="t" r="r" b="b"/>
            <a:pathLst>
              <a:path w="5425158" h="7680727">
                <a:moveTo>
                  <a:pt x="0" y="0"/>
                </a:moveTo>
                <a:lnTo>
                  <a:pt x="5425158" y="0"/>
                </a:lnTo>
                <a:lnTo>
                  <a:pt x="5425158" y="7680726"/>
                </a:lnTo>
                <a:lnTo>
                  <a:pt x="0" y="7680726"/>
                </a:lnTo>
                <a:lnTo>
                  <a:pt x="0" y="0"/>
                </a:lnTo>
                <a:close/>
              </a:path>
            </a:pathLst>
          </a:custGeom>
          <a:blipFill>
            <a:blip r:embed="rId5"/>
            <a:stretch>
              <a:fillRect/>
            </a:stretch>
          </a:blipFill>
        </p:spPr>
        <p:txBody>
          <a:bodyPr/>
          <a:lstStyle/>
          <a:p>
            <a:endParaRPr lang="en-US"/>
          </a:p>
        </p:txBody>
      </p:sp>
      <p:sp>
        <p:nvSpPr>
          <p:cNvPr id="6" name="TextBox 6"/>
          <p:cNvSpPr txBox="1"/>
          <p:nvPr/>
        </p:nvSpPr>
        <p:spPr>
          <a:xfrm>
            <a:off x="7296100" y="3075018"/>
            <a:ext cx="5090472" cy="2950845"/>
          </a:xfrm>
          <a:prstGeom prst="rect">
            <a:avLst/>
          </a:prstGeom>
        </p:spPr>
        <p:txBody>
          <a:bodyPr lIns="0" tIns="0" rIns="0" bIns="0" rtlCol="0" anchor="t">
            <a:spAutoFit/>
          </a:bodyPr>
          <a:lstStyle/>
          <a:p>
            <a:pPr marL="0" lvl="0" indent="0" algn="l">
              <a:lnSpc>
                <a:spcPts val="3360"/>
              </a:lnSpc>
            </a:pPr>
            <a:r>
              <a:rPr lang="en-US" sz="2100" spc="10">
                <a:solidFill>
                  <a:srgbClr val="181D2B"/>
                </a:solidFill>
                <a:latin typeface="Times New Roman MT"/>
                <a:ea typeface="Times New Roman MT"/>
                <a:cs typeface="Times New Roman MT"/>
                <a:sym typeface="Times New Roman MT"/>
              </a:rPr>
              <a:t>🔴 Bối cảnh thực tế</a:t>
            </a:r>
          </a:p>
          <a:p>
            <a:pPr marL="453390" lvl="1" indent="-226695" algn="l">
              <a:lnSpc>
                <a:spcPts val="3360"/>
              </a:lnSpc>
              <a:buAutoNum type="arabicPeriod"/>
            </a:pPr>
            <a:r>
              <a:rPr lang="en-US" sz="2100" spc="10">
                <a:solidFill>
                  <a:srgbClr val="181D2B"/>
                </a:solidFill>
                <a:latin typeface="Times New Roman MT"/>
                <a:ea typeface="Times New Roman MT"/>
                <a:cs typeface="Times New Roman MT"/>
                <a:sym typeface="Times New Roman MT"/>
              </a:rPr>
              <a:t>Nhu cầu truyền file lớn ngày càng cao</a:t>
            </a:r>
          </a:p>
          <a:p>
            <a:pPr marL="453390" lvl="1" indent="-226695" algn="l">
              <a:lnSpc>
                <a:spcPts val="3360"/>
              </a:lnSpc>
              <a:buAutoNum type="arabicPeriod"/>
            </a:pPr>
            <a:r>
              <a:rPr lang="en-US" sz="2100" spc="10">
                <a:solidFill>
                  <a:srgbClr val="181D2B"/>
                </a:solidFill>
                <a:latin typeface="Times New Roman MT"/>
                <a:ea typeface="Times New Roman MT"/>
                <a:cs typeface="Times New Roman MT"/>
                <a:sym typeface="Times New Roman MT"/>
              </a:rPr>
              <a:t>Upload truyền thống "gửi và chờ" thiếu kiểm soát</a:t>
            </a:r>
          </a:p>
          <a:p>
            <a:pPr marL="453390" lvl="1" indent="-226695" algn="l">
              <a:lnSpc>
                <a:spcPts val="3360"/>
              </a:lnSpc>
              <a:buAutoNum type="arabicPeriod"/>
            </a:pPr>
            <a:r>
              <a:rPr lang="en-US" sz="2100" spc="10">
                <a:solidFill>
                  <a:srgbClr val="181D2B"/>
                </a:solidFill>
                <a:latin typeface="Times New Roman MT"/>
                <a:ea typeface="Times New Roman MT"/>
                <a:cs typeface="Times New Roman MT"/>
                <a:sym typeface="Times New Roman MT"/>
              </a:rPr>
              <a:t>Sự cố mạng phải tải lại từ đầu</a:t>
            </a:r>
          </a:p>
          <a:p>
            <a:pPr marL="453390" lvl="1" indent="-226695" algn="l">
              <a:lnSpc>
                <a:spcPts val="3360"/>
              </a:lnSpc>
              <a:buAutoNum type="arabicPeriod"/>
            </a:pPr>
            <a:r>
              <a:rPr lang="en-US" sz="2100" spc="10">
                <a:solidFill>
                  <a:srgbClr val="181D2B"/>
                </a:solidFill>
                <a:latin typeface="Times New Roman MT"/>
                <a:ea typeface="Times New Roman MT"/>
                <a:cs typeface="Times New Roman MT"/>
                <a:sym typeface="Times New Roman MT"/>
              </a:rPr>
              <a:t>Thiếu xác thực toàn vẹn dữ liệu</a:t>
            </a:r>
          </a:p>
          <a:p>
            <a:pPr algn="l">
              <a:lnSpc>
                <a:spcPts val="3360"/>
              </a:lnSpc>
            </a:pPr>
            <a:endParaRPr lang="en-US" sz="2100" spc="10">
              <a:solidFill>
                <a:srgbClr val="181D2B"/>
              </a:solidFill>
              <a:latin typeface="Times New Roman MT"/>
              <a:ea typeface="Times New Roman MT"/>
              <a:cs typeface="Times New Roman MT"/>
              <a:sym typeface="Times New Roman MT"/>
            </a:endParaRPr>
          </a:p>
        </p:txBody>
      </p:sp>
      <p:sp>
        <p:nvSpPr>
          <p:cNvPr id="7" name="TextBox 7"/>
          <p:cNvSpPr txBox="1"/>
          <p:nvPr/>
        </p:nvSpPr>
        <p:spPr>
          <a:xfrm>
            <a:off x="7296100" y="1143723"/>
            <a:ext cx="6801827" cy="1300816"/>
          </a:xfrm>
          <a:prstGeom prst="rect">
            <a:avLst/>
          </a:prstGeom>
        </p:spPr>
        <p:txBody>
          <a:bodyPr lIns="0" tIns="0" rIns="0" bIns="0" rtlCol="0" anchor="t">
            <a:spAutoFit/>
          </a:bodyPr>
          <a:lstStyle/>
          <a:p>
            <a:pPr marL="0" lvl="0" indent="0" algn="l">
              <a:lnSpc>
                <a:spcPts val="9151"/>
              </a:lnSpc>
            </a:pPr>
            <a:r>
              <a:rPr lang="en-US" sz="6536" b="1">
                <a:solidFill>
                  <a:srgbClr val="2B598F"/>
                </a:solidFill>
                <a:latin typeface="Agrandir Bold"/>
                <a:ea typeface="Agrandir Bold"/>
                <a:cs typeface="Agrandir Bold"/>
                <a:sym typeface="Agrandir Bold"/>
              </a:rPr>
              <a:t>Lý do chọn đề tài</a:t>
            </a:r>
          </a:p>
        </p:txBody>
      </p:sp>
      <p:sp>
        <p:nvSpPr>
          <p:cNvPr id="8" name="TextBox 8"/>
          <p:cNvSpPr txBox="1"/>
          <p:nvPr/>
        </p:nvSpPr>
        <p:spPr>
          <a:xfrm>
            <a:off x="13166802" y="3172434"/>
            <a:ext cx="4467204" cy="2604417"/>
          </a:xfrm>
          <a:prstGeom prst="rect">
            <a:avLst/>
          </a:prstGeom>
        </p:spPr>
        <p:txBody>
          <a:bodyPr lIns="0" tIns="0" rIns="0" bIns="0" rtlCol="0" anchor="t">
            <a:spAutoFit/>
          </a:bodyPr>
          <a:lstStyle/>
          <a:p>
            <a:pPr marL="0" lvl="0" indent="0" algn="l">
              <a:lnSpc>
                <a:spcPts val="3492"/>
              </a:lnSpc>
            </a:pPr>
            <a:r>
              <a:rPr lang="en-US" sz="2183" spc="10">
                <a:solidFill>
                  <a:srgbClr val="181D2B"/>
                </a:solidFill>
                <a:latin typeface="Times New Roman"/>
                <a:ea typeface="Times New Roman"/>
                <a:cs typeface="Times New Roman"/>
                <a:sym typeface="Times New Roman"/>
              </a:rPr>
              <a:t>🔵 Ý nghĩa học thuật</a:t>
            </a:r>
          </a:p>
          <a:p>
            <a:pPr marL="0" lvl="0" indent="0" algn="l">
              <a:lnSpc>
                <a:spcPts val="3492"/>
              </a:lnSpc>
            </a:pPr>
            <a:r>
              <a:rPr lang="en-US" sz="2183" spc="10">
                <a:solidFill>
                  <a:srgbClr val="181D2B"/>
                </a:solidFill>
                <a:latin typeface="Times New Roman"/>
                <a:ea typeface="Times New Roman"/>
                <a:cs typeface="Times New Roman"/>
                <a:sym typeface="Times New Roman"/>
              </a:rPr>
              <a:t>Ứng dụng TCP Socket nhị phân</a:t>
            </a:r>
          </a:p>
          <a:p>
            <a:pPr marL="0" lvl="0" indent="0" algn="l">
              <a:lnSpc>
                <a:spcPts val="3492"/>
              </a:lnSpc>
            </a:pPr>
            <a:r>
              <a:rPr lang="en-US" sz="2183" spc="10">
                <a:solidFill>
                  <a:srgbClr val="181D2B"/>
                </a:solidFill>
                <a:latin typeface="Times New Roman"/>
                <a:ea typeface="Times New Roman"/>
                <a:cs typeface="Times New Roman"/>
                <a:sym typeface="Times New Roman"/>
              </a:rPr>
              <a:t>Lập trình đa luồng (Threading)</a:t>
            </a:r>
          </a:p>
          <a:p>
            <a:pPr marL="0" lvl="0" indent="0" algn="l">
              <a:lnSpc>
                <a:spcPts val="3492"/>
              </a:lnSpc>
            </a:pPr>
            <a:r>
              <a:rPr lang="en-US" sz="2183" spc="10">
                <a:solidFill>
                  <a:srgbClr val="181D2B"/>
                </a:solidFill>
                <a:latin typeface="Times New Roman"/>
                <a:ea typeface="Times New Roman"/>
                <a:cs typeface="Times New Roman"/>
                <a:sym typeface="Times New Roman"/>
              </a:rPr>
              <a:t>Thuật toán SHA-256 &amp; PBKDF2</a:t>
            </a:r>
          </a:p>
          <a:p>
            <a:pPr marL="0" lvl="0" indent="0" algn="l">
              <a:lnSpc>
                <a:spcPts val="3492"/>
              </a:lnSpc>
            </a:pPr>
            <a:r>
              <a:rPr lang="en-US" sz="2183" spc="10">
                <a:solidFill>
                  <a:srgbClr val="181D2B"/>
                </a:solidFill>
                <a:latin typeface="Times New Roman"/>
                <a:ea typeface="Times New Roman"/>
                <a:cs typeface="Times New Roman"/>
                <a:sym typeface="Times New Roman"/>
              </a:rPr>
              <a:t>Giao diện PyQt5, SQLite/SQL Server</a:t>
            </a:r>
          </a:p>
          <a:p>
            <a:pPr marL="0" lvl="0" indent="0" algn="l">
              <a:lnSpc>
                <a:spcPts val="3492"/>
              </a:lnSpc>
            </a:pPr>
            <a:endParaRPr lang="en-US" sz="2183" spc="10">
              <a:solidFill>
                <a:srgbClr val="181D2B"/>
              </a:solidFill>
              <a:latin typeface="Times New Roman"/>
              <a:ea typeface="Times New Roman"/>
              <a:cs typeface="Times New Roman"/>
              <a:sym typeface="Times New Roman"/>
            </a:endParaRPr>
          </a:p>
        </p:txBody>
      </p:sp>
      <p:sp>
        <p:nvSpPr>
          <p:cNvPr id="9" name="TextBox 9"/>
          <p:cNvSpPr txBox="1"/>
          <p:nvPr/>
        </p:nvSpPr>
        <p:spPr>
          <a:xfrm>
            <a:off x="7464889" y="6285217"/>
            <a:ext cx="4243705" cy="2344420"/>
          </a:xfrm>
          <a:prstGeom prst="rect">
            <a:avLst/>
          </a:prstGeom>
        </p:spPr>
        <p:txBody>
          <a:bodyPr lIns="0" tIns="0" rIns="0" bIns="0" rtlCol="0" anchor="t">
            <a:spAutoFit/>
          </a:bodyPr>
          <a:lstStyle/>
          <a:p>
            <a:pPr algn="l">
              <a:lnSpc>
                <a:spcPts val="3080"/>
              </a:lnSpc>
              <a:spcBef>
                <a:spcPct val="0"/>
              </a:spcBef>
            </a:pPr>
            <a:r>
              <a:rPr lang="en-US" sz="2200">
                <a:solidFill>
                  <a:srgbClr val="000000"/>
                </a:solidFill>
                <a:latin typeface="Times New Roman"/>
                <a:ea typeface="Times New Roman"/>
                <a:cs typeface="Times New Roman"/>
                <a:sym typeface="Times New Roman"/>
              </a:rPr>
              <a:t>🔴 Vấn đề tồn tại</a:t>
            </a:r>
          </a:p>
          <a:p>
            <a:pPr marL="474981" lvl="1" indent="-237491" algn="l">
              <a:lnSpc>
                <a:spcPts val="3080"/>
              </a:lnSpc>
              <a:buAutoNum type="arabicPeriod"/>
            </a:pPr>
            <a:r>
              <a:rPr lang="en-US" sz="2200">
                <a:solidFill>
                  <a:srgbClr val="000000"/>
                </a:solidFill>
                <a:latin typeface="Times New Roman"/>
                <a:ea typeface="Times New Roman"/>
                <a:cs typeface="Times New Roman"/>
                <a:sym typeface="Times New Roman"/>
              </a:rPr>
              <a:t>Không có chức năng Pause/Resume</a:t>
            </a:r>
          </a:p>
          <a:p>
            <a:pPr marL="474981" lvl="1" indent="-237491" algn="l">
              <a:lnSpc>
                <a:spcPts val="3080"/>
              </a:lnSpc>
              <a:buAutoNum type="arabicPeriod"/>
            </a:pPr>
            <a:r>
              <a:rPr lang="en-US" sz="2200">
                <a:solidFill>
                  <a:srgbClr val="000000"/>
                </a:solidFill>
                <a:latin typeface="Times New Roman"/>
                <a:ea typeface="Times New Roman"/>
                <a:cs typeface="Times New Roman"/>
                <a:sym typeface="Times New Roman"/>
              </a:rPr>
              <a:t>Không xác thực SHA-256</a:t>
            </a:r>
          </a:p>
          <a:p>
            <a:pPr marL="474981" lvl="1" indent="-237491" algn="l">
              <a:lnSpc>
                <a:spcPts val="3080"/>
              </a:lnSpc>
              <a:buAutoNum type="arabicPeriod"/>
            </a:pPr>
            <a:r>
              <a:rPr lang="en-US" sz="2200">
                <a:solidFill>
                  <a:srgbClr val="000000"/>
                </a:solidFill>
                <a:latin typeface="Times New Roman"/>
                <a:ea typeface="Times New Roman"/>
                <a:cs typeface="Times New Roman"/>
                <a:sym typeface="Times New Roman"/>
              </a:rPr>
              <a:t>Lãng phí băng thông</a:t>
            </a:r>
          </a:p>
          <a:p>
            <a:pPr marL="474981" lvl="1" indent="-237491" algn="l">
              <a:lnSpc>
                <a:spcPts val="3080"/>
              </a:lnSpc>
              <a:buAutoNum type="arabicPeriod"/>
            </a:pPr>
            <a:r>
              <a:rPr lang="en-US" sz="2200">
                <a:solidFill>
                  <a:srgbClr val="000000"/>
                </a:solidFill>
                <a:latin typeface="Times New Roman"/>
                <a:ea typeface="Times New Roman"/>
                <a:cs typeface="Times New Roman"/>
                <a:sym typeface="Times New Roman"/>
              </a:rPr>
              <a:t>Không giới hạn tốc độ truyền</a:t>
            </a:r>
          </a:p>
        </p:txBody>
      </p:sp>
      <p:sp>
        <p:nvSpPr>
          <p:cNvPr id="10" name="TextBox 10"/>
          <p:cNvSpPr txBox="1"/>
          <p:nvPr/>
        </p:nvSpPr>
        <p:spPr>
          <a:xfrm>
            <a:off x="13166802" y="6285217"/>
            <a:ext cx="4115395" cy="2091690"/>
          </a:xfrm>
          <a:prstGeom prst="rect">
            <a:avLst/>
          </a:prstGeom>
        </p:spPr>
        <p:txBody>
          <a:bodyPr lIns="0" tIns="0" rIns="0" bIns="0" rtlCol="0" anchor="t">
            <a:spAutoFit/>
          </a:bodyPr>
          <a:lstStyle/>
          <a:p>
            <a:pPr algn="l">
              <a:lnSpc>
                <a:spcPts val="3359"/>
              </a:lnSpc>
              <a:spcBef>
                <a:spcPct val="0"/>
              </a:spcBef>
            </a:pPr>
            <a:r>
              <a:rPr lang="en-US" sz="2399">
                <a:solidFill>
                  <a:srgbClr val="000000"/>
                </a:solidFill>
                <a:latin typeface="Times New Roman"/>
                <a:ea typeface="Times New Roman"/>
                <a:cs typeface="Times New Roman"/>
                <a:sym typeface="Times New Roman"/>
              </a:rPr>
              <a:t>🔵 Ý nghĩa thực tiễn</a:t>
            </a:r>
          </a:p>
          <a:p>
            <a:pPr algn="l">
              <a:lnSpc>
                <a:spcPts val="3359"/>
              </a:lnSpc>
            </a:pPr>
            <a:r>
              <a:rPr lang="en-US" sz="2399">
                <a:solidFill>
                  <a:srgbClr val="000000"/>
                </a:solidFill>
                <a:latin typeface="Times New Roman"/>
                <a:ea typeface="Times New Roman"/>
                <a:cs typeface="Times New Roman"/>
                <a:sym typeface="Times New Roman"/>
              </a:rPr>
              <a:t>Tiết kiệm băng thông hiệu quả</a:t>
            </a:r>
          </a:p>
          <a:p>
            <a:pPr algn="l">
              <a:lnSpc>
                <a:spcPts val="3359"/>
              </a:lnSpc>
            </a:pPr>
            <a:r>
              <a:rPr lang="en-US" sz="2399">
                <a:solidFill>
                  <a:srgbClr val="000000"/>
                </a:solidFill>
                <a:latin typeface="Times New Roman"/>
                <a:ea typeface="Times New Roman"/>
                <a:cs typeface="Times New Roman"/>
                <a:sym typeface="Times New Roman"/>
              </a:rPr>
              <a:t>Toàn vẹn dữ liệu đạt 100%</a:t>
            </a:r>
          </a:p>
          <a:p>
            <a:pPr algn="l">
              <a:lnSpc>
                <a:spcPts val="3359"/>
              </a:lnSpc>
            </a:pPr>
            <a:r>
              <a:rPr lang="en-US" sz="2399">
                <a:solidFill>
                  <a:srgbClr val="000000"/>
                </a:solidFill>
                <a:latin typeface="Times New Roman"/>
                <a:ea typeface="Times New Roman"/>
                <a:cs typeface="Times New Roman"/>
                <a:sym typeface="Times New Roman"/>
              </a:rPr>
              <a:t>Trải nghiệm người dùng linh hoạt</a:t>
            </a:r>
          </a:p>
          <a:p>
            <a:pPr algn="l">
              <a:lnSpc>
                <a:spcPts val="3359"/>
              </a:lnSpc>
            </a:pPr>
            <a:r>
              <a:rPr lang="en-US" sz="2399">
                <a:solidFill>
                  <a:srgbClr val="000000"/>
                </a:solidFill>
                <a:latin typeface="Times New Roman"/>
                <a:ea typeface="Times New Roman"/>
                <a:cs typeface="Times New Roman"/>
                <a:sym typeface="Times New Roman"/>
              </a:rPr>
              <a:t>Tiềm năng ứng dụng thương mại</a:t>
            </a: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9FEFF"/>
        </a:solidFill>
        <a:effectLst/>
      </p:bgPr>
    </p:bg>
    <p:spTree>
      <p:nvGrpSpPr>
        <p:cNvPr id="1" name=""/>
        <p:cNvGrpSpPr/>
        <p:nvPr/>
      </p:nvGrpSpPr>
      <p:grpSpPr>
        <a:xfrm>
          <a:off x="0" y="0"/>
          <a:ext cx="0" cy="0"/>
          <a:chOff x="0" y="0"/>
          <a:chExt cx="0" cy="0"/>
        </a:xfrm>
      </p:grpSpPr>
      <p:sp>
        <p:nvSpPr>
          <p:cNvPr id="2" name="Freeform 2"/>
          <p:cNvSpPr/>
          <p:nvPr/>
        </p:nvSpPr>
        <p:spPr>
          <a:xfrm rot="-10800000">
            <a:off x="-2150717" y="2645110"/>
            <a:ext cx="9343257" cy="8578808"/>
          </a:xfrm>
          <a:custGeom>
            <a:avLst/>
            <a:gdLst/>
            <a:ahLst/>
            <a:cxnLst/>
            <a:rect l="l" t="t" r="r" b="b"/>
            <a:pathLst>
              <a:path w="9343257" h="8578808">
                <a:moveTo>
                  <a:pt x="0" y="0"/>
                </a:moveTo>
                <a:lnTo>
                  <a:pt x="9343257" y="0"/>
                </a:lnTo>
                <a:lnTo>
                  <a:pt x="9343257" y="8578808"/>
                </a:lnTo>
                <a:lnTo>
                  <a:pt x="0" y="8578808"/>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txBody>
          <a:bodyPr/>
          <a:lstStyle/>
          <a:p>
            <a:endParaRPr lang="en-US"/>
          </a:p>
        </p:txBody>
      </p:sp>
      <p:grpSp>
        <p:nvGrpSpPr>
          <p:cNvPr id="3" name="Group 3"/>
          <p:cNvGrpSpPr/>
          <p:nvPr/>
        </p:nvGrpSpPr>
        <p:grpSpPr>
          <a:xfrm>
            <a:off x="5772013" y="3914475"/>
            <a:ext cx="10249037" cy="2458051"/>
            <a:chOff x="0" y="0"/>
            <a:chExt cx="2704460" cy="648617"/>
          </a:xfrm>
        </p:grpSpPr>
        <p:sp>
          <p:nvSpPr>
            <p:cNvPr id="4" name="Freeform 4"/>
            <p:cNvSpPr/>
            <p:nvPr/>
          </p:nvSpPr>
          <p:spPr>
            <a:xfrm>
              <a:off x="0" y="0"/>
              <a:ext cx="2704460" cy="648617"/>
            </a:xfrm>
            <a:custGeom>
              <a:avLst/>
              <a:gdLst/>
              <a:ahLst/>
              <a:cxnLst/>
              <a:rect l="l" t="t" r="r" b="b"/>
              <a:pathLst>
                <a:path w="2704460" h="648617">
                  <a:moveTo>
                    <a:pt x="21906" y="0"/>
                  </a:moveTo>
                  <a:lnTo>
                    <a:pt x="2682554" y="0"/>
                  </a:lnTo>
                  <a:cubicBezTo>
                    <a:pt x="2694652" y="0"/>
                    <a:pt x="2704460" y="9808"/>
                    <a:pt x="2704460" y="21906"/>
                  </a:cubicBezTo>
                  <a:lnTo>
                    <a:pt x="2704460" y="626711"/>
                  </a:lnTo>
                  <a:cubicBezTo>
                    <a:pt x="2704460" y="632521"/>
                    <a:pt x="2702152" y="638093"/>
                    <a:pt x="2698043" y="642201"/>
                  </a:cubicBezTo>
                  <a:cubicBezTo>
                    <a:pt x="2693935" y="646309"/>
                    <a:pt x="2688363" y="648617"/>
                    <a:pt x="2682554" y="648617"/>
                  </a:cubicBezTo>
                  <a:lnTo>
                    <a:pt x="21906" y="648617"/>
                  </a:lnTo>
                  <a:cubicBezTo>
                    <a:pt x="16096" y="648617"/>
                    <a:pt x="10524" y="646309"/>
                    <a:pt x="6416" y="642201"/>
                  </a:cubicBezTo>
                  <a:cubicBezTo>
                    <a:pt x="2308" y="638093"/>
                    <a:pt x="0" y="632521"/>
                    <a:pt x="0" y="626711"/>
                  </a:cubicBezTo>
                  <a:lnTo>
                    <a:pt x="0" y="21906"/>
                  </a:lnTo>
                  <a:cubicBezTo>
                    <a:pt x="0" y="16096"/>
                    <a:pt x="2308" y="10524"/>
                    <a:pt x="6416" y="6416"/>
                  </a:cubicBezTo>
                  <a:cubicBezTo>
                    <a:pt x="10524" y="2308"/>
                    <a:pt x="16096" y="0"/>
                    <a:pt x="21906" y="0"/>
                  </a:cubicBezTo>
                  <a:close/>
                </a:path>
              </a:pathLst>
            </a:custGeom>
            <a:solidFill>
              <a:srgbClr val="FFFFFE"/>
            </a:solidFill>
            <a:ln w="19050" cap="rnd">
              <a:solidFill>
                <a:srgbClr val="181D2B"/>
              </a:solidFill>
              <a:prstDash val="solid"/>
              <a:round/>
            </a:ln>
          </p:spPr>
          <p:txBody>
            <a:bodyPr/>
            <a:lstStyle/>
            <a:p>
              <a:endParaRPr lang="en-US"/>
            </a:p>
          </p:txBody>
        </p:sp>
        <p:sp>
          <p:nvSpPr>
            <p:cNvPr id="5" name="TextBox 5"/>
            <p:cNvSpPr txBox="1"/>
            <p:nvPr/>
          </p:nvSpPr>
          <p:spPr>
            <a:xfrm>
              <a:off x="0" y="-38100"/>
              <a:ext cx="2704460" cy="686717"/>
            </a:xfrm>
            <a:prstGeom prst="rect">
              <a:avLst/>
            </a:prstGeom>
          </p:spPr>
          <p:txBody>
            <a:bodyPr lIns="50704" tIns="50704" rIns="50704" bIns="50704" rtlCol="0" anchor="ctr"/>
            <a:lstStyle/>
            <a:p>
              <a:pPr marL="0" lvl="0" indent="0" algn="ctr">
                <a:lnSpc>
                  <a:spcPts val="3135"/>
                </a:lnSpc>
              </a:pPr>
              <a:endParaRPr/>
            </a:p>
          </p:txBody>
        </p:sp>
      </p:grpSp>
      <p:sp>
        <p:nvSpPr>
          <p:cNvPr id="6" name="TextBox 6"/>
          <p:cNvSpPr txBox="1"/>
          <p:nvPr/>
        </p:nvSpPr>
        <p:spPr>
          <a:xfrm>
            <a:off x="6120067" y="4179062"/>
            <a:ext cx="9710250" cy="313589"/>
          </a:xfrm>
          <a:prstGeom prst="rect">
            <a:avLst/>
          </a:prstGeom>
        </p:spPr>
        <p:txBody>
          <a:bodyPr lIns="0" tIns="0" rIns="0" bIns="0" rtlCol="0" anchor="t">
            <a:spAutoFit/>
          </a:bodyPr>
          <a:lstStyle/>
          <a:p>
            <a:pPr marL="0" lvl="0" indent="0" algn="l">
              <a:lnSpc>
                <a:spcPts val="2665"/>
              </a:lnSpc>
              <a:spcBef>
                <a:spcPct val="0"/>
              </a:spcBef>
            </a:pPr>
            <a:r>
              <a:rPr lang="en-US" sz="1903" b="1" u="none" strike="noStrike" spc="9">
                <a:solidFill>
                  <a:srgbClr val="181D2B"/>
                </a:solidFill>
                <a:latin typeface="Open Sauce Bold"/>
                <a:ea typeface="Open Sauce Bold"/>
                <a:cs typeface="Open Sauce Bold"/>
                <a:sym typeface="Open Sauce Bold"/>
              </a:rPr>
              <a:t>Mô hình Client-Server</a:t>
            </a:r>
          </a:p>
        </p:txBody>
      </p:sp>
      <p:sp>
        <p:nvSpPr>
          <p:cNvPr id="7" name="TextBox 7"/>
          <p:cNvSpPr txBox="1"/>
          <p:nvPr/>
        </p:nvSpPr>
        <p:spPr>
          <a:xfrm>
            <a:off x="6120067" y="4747596"/>
            <a:ext cx="9710250" cy="1313711"/>
          </a:xfrm>
          <a:prstGeom prst="rect">
            <a:avLst/>
          </a:prstGeom>
        </p:spPr>
        <p:txBody>
          <a:bodyPr lIns="0" tIns="0" rIns="0" bIns="0" rtlCol="0" anchor="t">
            <a:spAutoFit/>
          </a:bodyPr>
          <a:lstStyle/>
          <a:p>
            <a:pPr marL="0" lvl="0" indent="0" algn="l">
              <a:lnSpc>
                <a:spcPts val="2665"/>
              </a:lnSpc>
              <a:spcBef>
                <a:spcPct val="0"/>
              </a:spcBef>
            </a:pPr>
            <a:r>
              <a:rPr lang="en-US" sz="1904" u="none" strike="noStrike" spc="9">
                <a:solidFill>
                  <a:srgbClr val="181D2B"/>
                </a:solidFill>
                <a:latin typeface="Open Sauce"/>
                <a:ea typeface="Open Sauce"/>
                <a:cs typeface="Open Sauce"/>
                <a:sym typeface="Open Sauce"/>
              </a:rPr>
              <a:t>Phân chia vai trò rõ ràng: Server lắng nghe kết nối tại cổng cố định (port 8888), Client chủ động kết nối tới Server. TCP đảm bảo kết nối tin cậy qua cơ chế 3-way handshake (SYN → SYN-ACK → ACK), đảm bảo dữ liệu nhị phân được truyền toàn vẹn, đúng thứ tự.</a:t>
            </a:r>
          </a:p>
        </p:txBody>
      </p:sp>
      <p:grpSp>
        <p:nvGrpSpPr>
          <p:cNvPr id="8" name="Group 8"/>
          <p:cNvGrpSpPr/>
          <p:nvPr/>
        </p:nvGrpSpPr>
        <p:grpSpPr>
          <a:xfrm>
            <a:off x="7010263" y="6800249"/>
            <a:ext cx="10249037" cy="2458051"/>
            <a:chOff x="0" y="0"/>
            <a:chExt cx="2704460" cy="648617"/>
          </a:xfrm>
        </p:grpSpPr>
        <p:sp>
          <p:nvSpPr>
            <p:cNvPr id="9" name="Freeform 9"/>
            <p:cNvSpPr/>
            <p:nvPr/>
          </p:nvSpPr>
          <p:spPr>
            <a:xfrm>
              <a:off x="0" y="0"/>
              <a:ext cx="2704460" cy="648617"/>
            </a:xfrm>
            <a:custGeom>
              <a:avLst/>
              <a:gdLst/>
              <a:ahLst/>
              <a:cxnLst/>
              <a:rect l="l" t="t" r="r" b="b"/>
              <a:pathLst>
                <a:path w="2704460" h="648617">
                  <a:moveTo>
                    <a:pt x="21906" y="0"/>
                  </a:moveTo>
                  <a:lnTo>
                    <a:pt x="2682554" y="0"/>
                  </a:lnTo>
                  <a:cubicBezTo>
                    <a:pt x="2694652" y="0"/>
                    <a:pt x="2704460" y="9808"/>
                    <a:pt x="2704460" y="21906"/>
                  </a:cubicBezTo>
                  <a:lnTo>
                    <a:pt x="2704460" y="626711"/>
                  </a:lnTo>
                  <a:cubicBezTo>
                    <a:pt x="2704460" y="632521"/>
                    <a:pt x="2702152" y="638093"/>
                    <a:pt x="2698043" y="642201"/>
                  </a:cubicBezTo>
                  <a:cubicBezTo>
                    <a:pt x="2693935" y="646309"/>
                    <a:pt x="2688363" y="648617"/>
                    <a:pt x="2682554" y="648617"/>
                  </a:cubicBezTo>
                  <a:lnTo>
                    <a:pt x="21906" y="648617"/>
                  </a:lnTo>
                  <a:cubicBezTo>
                    <a:pt x="16096" y="648617"/>
                    <a:pt x="10524" y="646309"/>
                    <a:pt x="6416" y="642201"/>
                  </a:cubicBezTo>
                  <a:cubicBezTo>
                    <a:pt x="2308" y="638093"/>
                    <a:pt x="0" y="632521"/>
                    <a:pt x="0" y="626711"/>
                  </a:cubicBezTo>
                  <a:lnTo>
                    <a:pt x="0" y="21906"/>
                  </a:lnTo>
                  <a:cubicBezTo>
                    <a:pt x="0" y="16096"/>
                    <a:pt x="2308" y="10524"/>
                    <a:pt x="6416" y="6416"/>
                  </a:cubicBezTo>
                  <a:cubicBezTo>
                    <a:pt x="10524" y="2308"/>
                    <a:pt x="16096" y="0"/>
                    <a:pt x="21906" y="0"/>
                  </a:cubicBezTo>
                  <a:close/>
                </a:path>
              </a:pathLst>
            </a:custGeom>
            <a:solidFill>
              <a:srgbClr val="FFFFFE"/>
            </a:solidFill>
            <a:ln w="19050" cap="rnd">
              <a:solidFill>
                <a:srgbClr val="181D2B"/>
              </a:solidFill>
              <a:prstDash val="solid"/>
              <a:round/>
            </a:ln>
          </p:spPr>
          <p:txBody>
            <a:bodyPr/>
            <a:lstStyle/>
            <a:p>
              <a:endParaRPr lang="en-US"/>
            </a:p>
          </p:txBody>
        </p:sp>
        <p:sp>
          <p:nvSpPr>
            <p:cNvPr id="10" name="TextBox 10"/>
            <p:cNvSpPr txBox="1"/>
            <p:nvPr/>
          </p:nvSpPr>
          <p:spPr>
            <a:xfrm>
              <a:off x="0" y="-38100"/>
              <a:ext cx="2704460" cy="686717"/>
            </a:xfrm>
            <a:prstGeom prst="rect">
              <a:avLst/>
            </a:prstGeom>
          </p:spPr>
          <p:txBody>
            <a:bodyPr lIns="50704" tIns="50704" rIns="50704" bIns="50704" rtlCol="0" anchor="ctr"/>
            <a:lstStyle/>
            <a:p>
              <a:pPr marL="0" lvl="0" indent="0" algn="ctr">
                <a:lnSpc>
                  <a:spcPts val="3135"/>
                </a:lnSpc>
              </a:pPr>
              <a:endParaRPr/>
            </a:p>
          </p:txBody>
        </p:sp>
      </p:grpSp>
      <p:sp>
        <p:nvSpPr>
          <p:cNvPr id="11" name="TextBox 11"/>
          <p:cNvSpPr txBox="1"/>
          <p:nvPr/>
        </p:nvSpPr>
        <p:spPr>
          <a:xfrm>
            <a:off x="7358317" y="7064836"/>
            <a:ext cx="9710250" cy="313589"/>
          </a:xfrm>
          <a:prstGeom prst="rect">
            <a:avLst/>
          </a:prstGeom>
        </p:spPr>
        <p:txBody>
          <a:bodyPr lIns="0" tIns="0" rIns="0" bIns="0" rtlCol="0" anchor="t">
            <a:spAutoFit/>
          </a:bodyPr>
          <a:lstStyle/>
          <a:p>
            <a:pPr marL="0" lvl="0" indent="0" algn="l">
              <a:lnSpc>
                <a:spcPts val="2665"/>
              </a:lnSpc>
              <a:spcBef>
                <a:spcPct val="0"/>
              </a:spcBef>
            </a:pPr>
            <a:r>
              <a:rPr lang="en-US" sz="1903" b="1" spc="9">
                <a:solidFill>
                  <a:srgbClr val="181D2B"/>
                </a:solidFill>
                <a:latin typeface="Open Sauce Bold"/>
                <a:ea typeface="Open Sauce Bold"/>
                <a:cs typeface="Open Sauce Bold"/>
                <a:sym typeface="Open Sauce Bold"/>
              </a:rPr>
              <a:t>TCP Socket &amp; Truyền dữ liệu nhị phân</a:t>
            </a:r>
          </a:p>
        </p:txBody>
      </p:sp>
      <p:sp>
        <p:nvSpPr>
          <p:cNvPr id="12" name="TextBox 12"/>
          <p:cNvSpPr txBox="1"/>
          <p:nvPr/>
        </p:nvSpPr>
        <p:spPr>
          <a:xfrm>
            <a:off x="7358317" y="7633371"/>
            <a:ext cx="9710250" cy="1313711"/>
          </a:xfrm>
          <a:prstGeom prst="rect">
            <a:avLst/>
          </a:prstGeom>
        </p:spPr>
        <p:txBody>
          <a:bodyPr lIns="0" tIns="0" rIns="0" bIns="0" rtlCol="0" anchor="t">
            <a:spAutoFit/>
          </a:bodyPr>
          <a:lstStyle/>
          <a:p>
            <a:pPr marL="0" lvl="0" indent="0" algn="l">
              <a:lnSpc>
                <a:spcPts val="2665"/>
              </a:lnSpc>
              <a:spcBef>
                <a:spcPct val="0"/>
              </a:spcBef>
            </a:pPr>
            <a:r>
              <a:rPr lang="en-US" sz="1904" u="none" strike="noStrike" spc="9">
                <a:solidFill>
                  <a:srgbClr val="181D2B"/>
                </a:solidFill>
                <a:latin typeface="Open Sauce"/>
                <a:ea typeface="Open Sauce"/>
                <a:cs typeface="Open Sauce"/>
                <a:sym typeface="Open Sauce"/>
              </a:rPr>
              <a:t>Socket TCP cung cấp luồng byte liên tục, không mất gói. File được chia thành các chunk nhị phân (≥1MB), mỗi chunk mang header chứa offset và kích thước. Server đọc đúng vị trí nhờ offset, hỗ trợ Resume khi mạng gián đoạn mà không cần tải lại từ đầu.</a:t>
            </a:r>
          </a:p>
        </p:txBody>
      </p:sp>
      <p:sp>
        <p:nvSpPr>
          <p:cNvPr id="13" name="Freeform 13"/>
          <p:cNvSpPr/>
          <p:nvPr/>
        </p:nvSpPr>
        <p:spPr>
          <a:xfrm>
            <a:off x="-4095" y="4072515"/>
            <a:ext cx="5635330" cy="1458142"/>
          </a:xfrm>
          <a:custGeom>
            <a:avLst/>
            <a:gdLst/>
            <a:ahLst/>
            <a:cxnLst/>
            <a:rect l="l" t="t" r="r" b="b"/>
            <a:pathLst>
              <a:path w="5635330" h="1458142">
                <a:moveTo>
                  <a:pt x="0" y="0"/>
                </a:moveTo>
                <a:lnTo>
                  <a:pt x="5635330" y="0"/>
                </a:lnTo>
                <a:lnTo>
                  <a:pt x="5635330" y="1458141"/>
                </a:lnTo>
                <a:lnTo>
                  <a:pt x="0" y="1458141"/>
                </a:lnTo>
                <a:lnTo>
                  <a:pt x="0" y="0"/>
                </a:lnTo>
                <a:close/>
              </a:path>
            </a:pathLst>
          </a:custGeom>
          <a:blipFill>
            <a:blip r:embed="rId3"/>
            <a:stretch>
              <a:fillRect/>
            </a:stretch>
          </a:blipFill>
          <a:ln cap="sq">
            <a:noFill/>
            <a:prstDash val="solid"/>
            <a:miter/>
          </a:ln>
        </p:spPr>
        <p:txBody>
          <a:bodyPr/>
          <a:lstStyle/>
          <a:p>
            <a:endParaRPr lang="en-US"/>
          </a:p>
        </p:txBody>
      </p:sp>
      <p:sp>
        <p:nvSpPr>
          <p:cNvPr id="14" name="Freeform 14"/>
          <p:cNvSpPr/>
          <p:nvPr/>
        </p:nvSpPr>
        <p:spPr>
          <a:xfrm>
            <a:off x="3254746" y="6981993"/>
            <a:ext cx="3680865" cy="2187334"/>
          </a:xfrm>
          <a:custGeom>
            <a:avLst/>
            <a:gdLst/>
            <a:ahLst/>
            <a:cxnLst/>
            <a:rect l="l" t="t" r="r" b="b"/>
            <a:pathLst>
              <a:path w="3680865" h="2187334">
                <a:moveTo>
                  <a:pt x="0" y="0"/>
                </a:moveTo>
                <a:lnTo>
                  <a:pt x="3680865" y="0"/>
                </a:lnTo>
                <a:lnTo>
                  <a:pt x="3680865" y="2187334"/>
                </a:lnTo>
                <a:lnTo>
                  <a:pt x="0" y="2187334"/>
                </a:lnTo>
                <a:lnTo>
                  <a:pt x="0" y="0"/>
                </a:lnTo>
                <a:close/>
              </a:path>
            </a:pathLst>
          </a:custGeom>
          <a:blipFill>
            <a:blip r:embed="rId4"/>
            <a:stretch>
              <a:fillRect/>
            </a:stretch>
          </a:blipFill>
          <a:ln cap="sq">
            <a:noFill/>
            <a:prstDash val="solid"/>
            <a:miter/>
          </a:ln>
        </p:spPr>
        <p:txBody>
          <a:bodyPr/>
          <a:lstStyle/>
          <a:p>
            <a:endParaRPr lang="en-US"/>
          </a:p>
        </p:txBody>
      </p:sp>
      <p:sp>
        <p:nvSpPr>
          <p:cNvPr id="15" name="Freeform 15"/>
          <p:cNvSpPr/>
          <p:nvPr/>
        </p:nvSpPr>
        <p:spPr>
          <a:xfrm>
            <a:off x="16480701" y="1182638"/>
            <a:ext cx="828518" cy="778304"/>
          </a:xfrm>
          <a:custGeom>
            <a:avLst/>
            <a:gdLst/>
            <a:ahLst/>
            <a:cxnLst/>
            <a:rect l="l" t="t" r="r" b="b"/>
            <a:pathLst>
              <a:path w="828518" h="778304">
                <a:moveTo>
                  <a:pt x="0" y="0"/>
                </a:moveTo>
                <a:lnTo>
                  <a:pt x="828518" y="0"/>
                </a:lnTo>
                <a:lnTo>
                  <a:pt x="828518" y="778305"/>
                </a:lnTo>
                <a:lnTo>
                  <a:pt x="0" y="778305"/>
                </a:lnTo>
                <a:lnTo>
                  <a:pt x="0" y="0"/>
                </a:lnTo>
                <a:close/>
              </a:path>
            </a:pathLst>
          </a:custGeom>
          <a:blipFill>
            <a:blip r:embed="rId5"/>
            <a:stretch>
              <a:fillRect/>
            </a:stretch>
          </a:blipFill>
          <a:ln cap="sq">
            <a:noFill/>
            <a:prstDash val="solid"/>
            <a:miter/>
          </a:ln>
        </p:spPr>
        <p:txBody>
          <a:bodyPr/>
          <a:lstStyle/>
          <a:p>
            <a:endParaRPr lang="en-US"/>
          </a:p>
        </p:txBody>
      </p:sp>
      <p:sp>
        <p:nvSpPr>
          <p:cNvPr id="16" name="TextBox 16"/>
          <p:cNvSpPr txBox="1"/>
          <p:nvPr/>
        </p:nvSpPr>
        <p:spPr>
          <a:xfrm>
            <a:off x="13802857" y="1007110"/>
            <a:ext cx="2432042" cy="290591"/>
          </a:xfrm>
          <a:prstGeom prst="rect">
            <a:avLst/>
          </a:prstGeom>
        </p:spPr>
        <p:txBody>
          <a:bodyPr lIns="0" tIns="0" rIns="0" bIns="0" rtlCol="0" anchor="t">
            <a:spAutoFit/>
          </a:bodyPr>
          <a:lstStyle/>
          <a:p>
            <a:pPr marL="0" lvl="0" indent="0" algn="r">
              <a:lnSpc>
                <a:spcPts val="2358"/>
              </a:lnSpc>
            </a:pPr>
            <a:r>
              <a:rPr lang="en-US" sz="1684" spc="8">
                <a:solidFill>
                  <a:srgbClr val="181D2B"/>
                </a:solidFill>
                <a:latin typeface="Open Sauce"/>
                <a:ea typeface="Open Sauce"/>
                <a:cs typeface="Open Sauce"/>
                <a:sym typeface="Open Sauce"/>
              </a:rPr>
              <a:t>Lập trình mạng</a:t>
            </a:r>
          </a:p>
        </p:txBody>
      </p:sp>
      <p:sp>
        <p:nvSpPr>
          <p:cNvPr id="17" name="TextBox 17"/>
          <p:cNvSpPr txBox="1"/>
          <p:nvPr/>
        </p:nvSpPr>
        <p:spPr>
          <a:xfrm>
            <a:off x="13802857" y="1315614"/>
            <a:ext cx="2432042" cy="313589"/>
          </a:xfrm>
          <a:prstGeom prst="rect">
            <a:avLst/>
          </a:prstGeom>
        </p:spPr>
        <p:txBody>
          <a:bodyPr lIns="0" tIns="0" rIns="0" bIns="0" rtlCol="0" anchor="t">
            <a:spAutoFit/>
          </a:bodyPr>
          <a:lstStyle/>
          <a:p>
            <a:pPr marL="0" lvl="0" indent="0" algn="r">
              <a:lnSpc>
                <a:spcPts val="2665"/>
              </a:lnSpc>
            </a:pPr>
            <a:r>
              <a:rPr lang="en-US" sz="1903" b="1" spc="9">
                <a:solidFill>
                  <a:srgbClr val="181D2B"/>
                </a:solidFill>
                <a:latin typeface="Open Sauce Bold"/>
                <a:ea typeface="Open Sauce Bold"/>
                <a:cs typeface="Open Sauce Bold"/>
                <a:sym typeface="Open Sauce Bold"/>
              </a:rPr>
              <a:t>TCP &amp; Client-Server</a:t>
            </a:r>
          </a:p>
        </p:txBody>
      </p:sp>
      <p:sp>
        <p:nvSpPr>
          <p:cNvPr id="18" name="TextBox 18"/>
          <p:cNvSpPr txBox="1"/>
          <p:nvPr/>
        </p:nvSpPr>
        <p:spPr>
          <a:xfrm>
            <a:off x="1028700" y="1547196"/>
            <a:ext cx="8913197" cy="1767362"/>
          </a:xfrm>
          <a:prstGeom prst="rect">
            <a:avLst/>
          </a:prstGeom>
        </p:spPr>
        <p:txBody>
          <a:bodyPr lIns="0" tIns="0" rIns="0" bIns="0" rtlCol="0" anchor="t">
            <a:spAutoFit/>
          </a:bodyPr>
          <a:lstStyle/>
          <a:p>
            <a:pPr marL="0" lvl="0" indent="0" algn="l">
              <a:lnSpc>
                <a:spcPts val="12311"/>
              </a:lnSpc>
              <a:spcBef>
                <a:spcPct val="0"/>
              </a:spcBef>
            </a:pPr>
            <a:r>
              <a:rPr lang="en-US" sz="8793" b="1" u="none" strike="noStrike">
                <a:solidFill>
                  <a:srgbClr val="2B598F"/>
                </a:solidFill>
                <a:latin typeface="Agrandir Bold"/>
                <a:ea typeface="Agrandir Bold"/>
                <a:cs typeface="Agrandir Bold"/>
                <a:sym typeface="Agrandir Bold"/>
              </a:rPr>
              <a:t>Cơ sở lý thuyết</a:t>
            </a: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9FEFF"/>
        </a:solidFill>
        <a:effectLst/>
      </p:bgPr>
    </p:bg>
    <p:spTree>
      <p:nvGrpSpPr>
        <p:cNvPr id="1" name=""/>
        <p:cNvGrpSpPr/>
        <p:nvPr/>
      </p:nvGrpSpPr>
      <p:grpSpPr>
        <a:xfrm>
          <a:off x="0" y="0"/>
          <a:ext cx="0" cy="0"/>
          <a:chOff x="0" y="0"/>
          <a:chExt cx="0" cy="0"/>
        </a:xfrm>
      </p:grpSpPr>
      <p:sp>
        <p:nvSpPr>
          <p:cNvPr id="2" name="Freeform 2"/>
          <p:cNvSpPr/>
          <p:nvPr/>
        </p:nvSpPr>
        <p:spPr>
          <a:xfrm rot="-10800000">
            <a:off x="-2150717" y="2645110"/>
            <a:ext cx="9343257" cy="8578808"/>
          </a:xfrm>
          <a:custGeom>
            <a:avLst/>
            <a:gdLst/>
            <a:ahLst/>
            <a:cxnLst/>
            <a:rect l="l" t="t" r="r" b="b"/>
            <a:pathLst>
              <a:path w="9343257" h="8578808">
                <a:moveTo>
                  <a:pt x="0" y="0"/>
                </a:moveTo>
                <a:lnTo>
                  <a:pt x="9343257" y="0"/>
                </a:lnTo>
                <a:lnTo>
                  <a:pt x="9343257" y="8578808"/>
                </a:lnTo>
                <a:lnTo>
                  <a:pt x="0" y="8578808"/>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txBody>
          <a:bodyPr/>
          <a:lstStyle/>
          <a:p>
            <a:endParaRPr lang="en-US"/>
          </a:p>
        </p:txBody>
      </p:sp>
      <p:grpSp>
        <p:nvGrpSpPr>
          <p:cNvPr id="3" name="Group 3"/>
          <p:cNvGrpSpPr/>
          <p:nvPr/>
        </p:nvGrpSpPr>
        <p:grpSpPr>
          <a:xfrm>
            <a:off x="5772013" y="3914475"/>
            <a:ext cx="10249037" cy="2458051"/>
            <a:chOff x="0" y="0"/>
            <a:chExt cx="2704460" cy="648617"/>
          </a:xfrm>
        </p:grpSpPr>
        <p:sp>
          <p:nvSpPr>
            <p:cNvPr id="4" name="Freeform 4"/>
            <p:cNvSpPr/>
            <p:nvPr/>
          </p:nvSpPr>
          <p:spPr>
            <a:xfrm>
              <a:off x="0" y="0"/>
              <a:ext cx="2704460" cy="648617"/>
            </a:xfrm>
            <a:custGeom>
              <a:avLst/>
              <a:gdLst/>
              <a:ahLst/>
              <a:cxnLst/>
              <a:rect l="l" t="t" r="r" b="b"/>
              <a:pathLst>
                <a:path w="2704460" h="648617">
                  <a:moveTo>
                    <a:pt x="21906" y="0"/>
                  </a:moveTo>
                  <a:lnTo>
                    <a:pt x="2682554" y="0"/>
                  </a:lnTo>
                  <a:cubicBezTo>
                    <a:pt x="2694652" y="0"/>
                    <a:pt x="2704460" y="9808"/>
                    <a:pt x="2704460" y="21906"/>
                  </a:cubicBezTo>
                  <a:lnTo>
                    <a:pt x="2704460" y="626711"/>
                  </a:lnTo>
                  <a:cubicBezTo>
                    <a:pt x="2704460" y="632521"/>
                    <a:pt x="2702152" y="638093"/>
                    <a:pt x="2698043" y="642201"/>
                  </a:cubicBezTo>
                  <a:cubicBezTo>
                    <a:pt x="2693935" y="646309"/>
                    <a:pt x="2688363" y="648617"/>
                    <a:pt x="2682554" y="648617"/>
                  </a:cubicBezTo>
                  <a:lnTo>
                    <a:pt x="21906" y="648617"/>
                  </a:lnTo>
                  <a:cubicBezTo>
                    <a:pt x="16096" y="648617"/>
                    <a:pt x="10524" y="646309"/>
                    <a:pt x="6416" y="642201"/>
                  </a:cubicBezTo>
                  <a:cubicBezTo>
                    <a:pt x="2308" y="638093"/>
                    <a:pt x="0" y="632521"/>
                    <a:pt x="0" y="626711"/>
                  </a:cubicBezTo>
                  <a:lnTo>
                    <a:pt x="0" y="21906"/>
                  </a:lnTo>
                  <a:cubicBezTo>
                    <a:pt x="0" y="16096"/>
                    <a:pt x="2308" y="10524"/>
                    <a:pt x="6416" y="6416"/>
                  </a:cubicBezTo>
                  <a:cubicBezTo>
                    <a:pt x="10524" y="2308"/>
                    <a:pt x="16096" y="0"/>
                    <a:pt x="21906" y="0"/>
                  </a:cubicBezTo>
                  <a:close/>
                </a:path>
              </a:pathLst>
            </a:custGeom>
            <a:solidFill>
              <a:srgbClr val="FFFFFE"/>
            </a:solidFill>
            <a:ln w="19050" cap="rnd">
              <a:solidFill>
                <a:srgbClr val="181D2B"/>
              </a:solidFill>
              <a:prstDash val="solid"/>
              <a:round/>
            </a:ln>
          </p:spPr>
          <p:txBody>
            <a:bodyPr/>
            <a:lstStyle/>
            <a:p>
              <a:endParaRPr lang="en-US"/>
            </a:p>
          </p:txBody>
        </p:sp>
        <p:sp>
          <p:nvSpPr>
            <p:cNvPr id="5" name="TextBox 5"/>
            <p:cNvSpPr txBox="1"/>
            <p:nvPr/>
          </p:nvSpPr>
          <p:spPr>
            <a:xfrm>
              <a:off x="0" y="-38100"/>
              <a:ext cx="2704460" cy="686717"/>
            </a:xfrm>
            <a:prstGeom prst="rect">
              <a:avLst/>
            </a:prstGeom>
          </p:spPr>
          <p:txBody>
            <a:bodyPr lIns="50704" tIns="50704" rIns="50704" bIns="50704" rtlCol="0" anchor="ctr"/>
            <a:lstStyle/>
            <a:p>
              <a:pPr marL="0" lvl="0" indent="0" algn="ctr">
                <a:lnSpc>
                  <a:spcPts val="3135"/>
                </a:lnSpc>
              </a:pPr>
              <a:endParaRPr/>
            </a:p>
          </p:txBody>
        </p:sp>
      </p:grpSp>
      <p:sp>
        <p:nvSpPr>
          <p:cNvPr id="6" name="TextBox 6"/>
          <p:cNvSpPr txBox="1"/>
          <p:nvPr/>
        </p:nvSpPr>
        <p:spPr>
          <a:xfrm>
            <a:off x="6120067" y="4160012"/>
            <a:ext cx="9710250" cy="439339"/>
          </a:xfrm>
          <a:prstGeom prst="rect">
            <a:avLst/>
          </a:prstGeom>
        </p:spPr>
        <p:txBody>
          <a:bodyPr lIns="0" tIns="0" rIns="0" bIns="0" rtlCol="0" anchor="t">
            <a:spAutoFit/>
          </a:bodyPr>
          <a:lstStyle/>
          <a:p>
            <a:pPr marL="0" lvl="0" indent="0" algn="l">
              <a:lnSpc>
                <a:spcPts val="3609"/>
              </a:lnSpc>
              <a:spcBef>
                <a:spcPct val="0"/>
              </a:spcBef>
            </a:pPr>
            <a:r>
              <a:rPr lang="en-US" sz="2578" b="1" u="none" strike="noStrike" spc="12">
                <a:solidFill>
                  <a:srgbClr val="181D2B"/>
                </a:solidFill>
                <a:latin typeface="Open Sauce Bold"/>
                <a:ea typeface="Open Sauce Bold"/>
                <a:cs typeface="Open Sauce Bold"/>
                <a:sym typeface="Open Sauce Bold"/>
              </a:rPr>
              <a:t>Truyền tệp theo Chunk</a:t>
            </a:r>
          </a:p>
        </p:txBody>
      </p:sp>
      <p:sp>
        <p:nvSpPr>
          <p:cNvPr id="7" name="TextBox 7"/>
          <p:cNvSpPr txBox="1"/>
          <p:nvPr/>
        </p:nvSpPr>
        <p:spPr>
          <a:xfrm>
            <a:off x="6120067" y="4738071"/>
            <a:ext cx="9710250" cy="1071438"/>
          </a:xfrm>
          <a:prstGeom prst="rect">
            <a:avLst/>
          </a:prstGeom>
        </p:spPr>
        <p:txBody>
          <a:bodyPr lIns="0" tIns="0" rIns="0" bIns="0" rtlCol="0" anchor="t">
            <a:spAutoFit/>
          </a:bodyPr>
          <a:lstStyle/>
          <a:p>
            <a:pPr marL="0" lvl="0" indent="0" algn="l">
              <a:lnSpc>
                <a:spcPts val="2894"/>
              </a:lnSpc>
              <a:spcBef>
                <a:spcPct val="0"/>
              </a:spcBef>
            </a:pPr>
            <a:r>
              <a:rPr lang="en-US" sz="2067" u="none" strike="noStrike" spc="10">
                <a:solidFill>
                  <a:srgbClr val="181D2B"/>
                </a:solidFill>
                <a:latin typeface="Open Sauce"/>
                <a:ea typeface="Open Sauce"/>
                <a:cs typeface="Open Sauce"/>
                <a:sym typeface="Open Sauce"/>
              </a:rPr>
              <a:t>File được chia thành các chunk nhỏ (≥1MB) để truyền qua TCP Socket. Mỗi chunk mang header chứa offset, kích thước và số thứ tự. Server dùng offset để ghi đúng vị trí, hỗ trợ Pause/Resume mà không cần truyền lại từ đầu.</a:t>
            </a:r>
          </a:p>
        </p:txBody>
      </p:sp>
      <p:grpSp>
        <p:nvGrpSpPr>
          <p:cNvPr id="8" name="Group 8"/>
          <p:cNvGrpSpPr/>
          <p:nvPr/>
        </p:nvGrpSpPr>
        <p:grpSpPr>
          <a:xfrm>
            <a:off x="7010263" y="6800249"/>
            <a:ext cx="10249037" cy="2458051"/>
            <a:chOff x="0" y="0"/>
            <a:chExt cx="2704460" cy="648617"/>
          </a:xfrm>
        </p:grpSpPr>
        <p:sp>
          <p:nvSpPr>
            <p:cNvPr id="9" name="Freeform 9"/>
            <p:cNvSpPr/>
            <p:nvPr/>
          </p:nvSpPr>
          <p:spPr>
            <a:xfrm>
              <a:off x="0" y="0"/>
              <a:ext cx="2704460" cy="648617"/>
            </a:xfrm>
            <a:custGeom>
              <a:avLst/>
              <a:gdLst/>
              <a:ahLst/>
              <a:cxnLst/>
              <a:rect l="l" t="t" r="r" b="b"/>
              <a:pathLst>
                <a:path w="2704460" h="648617">
                  <a:moveTo>
                    <a:pt x="21906" y="0"/>
                  </a:moveTo>
                  <a:lnTo>
                    <a:pt x="2682554" y="0"/>
                  </a:lnTo>
                  <a:cubicBezTo>
                    <a:pt x="2694652" y="0"/>
                    <a:pt x="2704460" y="9808"/>
                    <a:pt x="2704460" y="21906"/>
                  </a:cubicBezTo>
                  <a:lnTo>
                    <a:pt x="2704460" y="626711"/>
                  </a:lnTo>
                  <a:cubicBezTo>
                    <a:pt x="2704460" y="632521"/>
                    <a:pt x="2702152" y="638093"/>
                    <a:pt x="2698043" y="642201"/>
                  </a:cubicBezTo>
                  <a:cubicBezTo>
                    <a:pt x="2693935" y="646309"/>
                    <a:pt x="2688363" y="648617"/>
                    <a:pt x="2682554" y="648617"/>
                  </a:cubicBezTo>
                  <a:lnTo>
                    <a:pt x="21906" y="648617"/>
                  </a:lnTo>
                  <a:cubicBezTo>
                    <a:pt x="16096" y="648617"/>
                    <a:pt x="10524" y="646309"/>
                    <a:pt x="6416" y="642201"/>
                  </a:cubicBezTo>
                  <a:cubicBezTo>
                    <a:pt x="2308" y="638093"/>
                    <a:pt x="0" y="632521"/>
                    <a:pt x="0" y="626711"/>
                  </a:cubicBezTo>
                  <a:lnTo>
                    <a:pt x="0" y="21906"/>
                  </a:lnTo>
                  <a:cubicBezTo>
                    <a:pt x="0" y="16096"/>
                    <a:pt x="2308" y="10524"/>
                    <a:pt x="6416" y="6416"/>
                  </a:cubicBezTo>
                  <a:cubicBezTo>
                    <a:pt x="10524" y="2308"/>
                    <a:pt x="16096" y="0"/>
                    <a:pt x="21906" y="0"/>
                  </a:cubicBezTo>
                  <a:close/>
                </a:path>
              </a:pathLst>
            </a:custGeom>
            <a:solidFill>
              <a:srgbClr val="FFFFFE"/>
            </a:solidFill>
            <a:ln w="19050" cap="rnd">
              <a:solidFill>
                <a:srgbClr val="181D2B"/>
              </a:solidFill>
              <a:prstDash val="solid"/>
              <a:round/>
            </a:ln>
          </p:spPr>
          <p:txBody>
            <a:bodyPr/>
            <a:lstStyle/>
            <a:p>
              <a:endParaRPr lang="en-US"/>
            </a:p>
          </p:txBody>
        </p:sp>
        <p:sp>
          <p:nvSpPr>
            <p:cNvPr id="10" name="TextBox 10"/>
            <p:cNvSpPr txBox="1"/>
            <p:nvPr/>
          </p:nvSpPr>
          <p:spPr>
            <a:xfrm>
              <a:off x="0" y="-38100"/>
              <a:ext cx="2704460" cy="686717"/>
            </a:xfrm>
            <a:prstGeom prst="rect">
              <a:avLst/>
            </a:prstGeom>
          </p:spPr>
          <p:txBody>
            <a:bodyPr lIns="50704" tIns="50704" rIns="50704" bIns="50704" rtlCol="0" anchor="ctr"/>
            <a:lstStyle/>
            <a:p>
              <a:pPr marL="0" lvl="0" indent="0" algn="ctr">
                <a:lnSpc>
                  <a:spcPts val="3135"/>
                </a:lnSpc>
              </a:pPr>
              <a:endParaRPr/>
            </a:p>
          </p:txBody>
        </p:sp>
      </p:grpSp>
      <p:sp>
        <p:nvSpPr>
          <p:cNvPr id="11" name="TextBox 11"/>
          <p:cNvSpPr txBox="1"/>
          <p:nvPr/>
        </p:nvSpPr>
        <p:spPr>
          <a:xfrm>
            <a:off x="7358317" y="7045786"/>
            <a:ext cx="9710250" cy="439339"/>
          </a:xfrm>
          <a:prstGeom prst="rect">
            <a:avLst/>
          </a:prstGeom>
        </p:spPr>
        <p:txBody>
          <a:bodyPr lIns="0" tIns="0" rIns="0" bIns="0" rtlCol="0" anchor="t">
            <a:spAutoFit/>
          </a:bodyPr>
          <a:lstStyle/>
          <a:p>
            <a:pPr marL="0" lvl="0" indent="0" algn="l">
              <a:lnSpc>
                <a:spcPts val="3609"/>
              </a:lnSpc>
              <a:spcBef>
                <a:spcPct val="0"/>
              </a:spcBef>
            </a:pPr>
            <a:r>
              <a:rPr lang="en-US" sz="2578" b="1" spc="12">
                <a:solidFill>
                  <a:srgbClr val="181D2B"/>
                </a:solidFill>
                <a:latin typeface="Open Sauce Bold"/>
                <a:ea typeface="Open Sauce Bold"/>
                <a:cs typeface="Open Sauce Bold"/>
                <a:sym typeface="Open Sauce Bold"/>
              </a:rPr>
              <a:t>Xác thực toàn vẹn SHA-256</a:t>
            </a:r>
          </a:p>
        </p:txBody>
      </p:sp>
      <p:sp>
        <p:nvSpPr>
          <p:cNvPr id="12" name="TextBox 12"/>
          <p:cNvSpPr txBox="1"/>
          <p:nvPr/>
        </p:nvSpPr>
        <p:spPr>
          <a:xfrm>
            <a:off x="7358317" y="7623846"/>
            <a:ext cx="9710250" cy="1071438"/>
          </a:xfrm>
          <a:prstGeom prst="rect">
            <a:avLst/>
          </a:prstGeom>
        </p:spPr>
        <p:txBody>
          <a:bodyPr lIns="0" tIns="0" rIns="0" bIns="0" rtlCol="0" anchor="t">
            <a:spAutoFit/>
          </a:bodyPr>
          <a:lstStyle/>
          <a:p>
            <a:pPr marL="0" lvl="0" indent="0" algn="l">
              <a:lnSpc>
                <a:spcPts val="2894"/>
              </a:lnSpc>
              <a:spcBef>
                <a:spcPct val="0"/>
              </a:spcBef>
            </a:pPr>
            <a:r>
              <a:rPr lang="en-US" sz="2067" u="none" strike="noStrike" spc="10">
                <a:solidFill>
                  <a:srgbClr val="181D2B"/>
                </a:solidFill>
                <a:latin typeface="Open Sauce"/>
                <a:ea typeface="Open Sauce"/>
                <a:cs typeface="Open Sauce"/>
                <a:sym typeface="Open Sauce"/>
              </a:rPr>
              <a:t>SHA-256 tạo mã băm 256-bit cho toàn bộ file trước khi gửi. Sau khi truyền xong, Server tính lại hash và so khớp với giá trị Client gửi qua lệnh MULTIPART_FINALIZE, đảm bảo toàn vẹn dữ liệu 100%.</a:t>
            </a:r>
          </a:p>
        </p:txBody>
      </p:sp>
      <p:sp>
        <p:nvSpPr>
          <p:cNvPr id="13" name="Freeform 13"/>
          <p:cNvSpPr/>
          <p:nvPr/>
        </p:nvSpPr>
        <p:spPr>
          <a:xfrm>
            <a:off x="1427580" y="4038050"/>
            <a:ext cx="4220980" cy="2105214"/>
          </a:xfrm>
          <a:custGeom>
            <a:avLst/>
            <a:gdLst/>
            <a:ahLst/>
            <a:cxnLst/>
            <a:rect l="l" t="t" r="r" b="b"/>
            <a:pathLst>
              <a:path w="4220980" h="2105214">
                <a:moveTo>
                  <a:pt x="0" y="0"/>
                </a:moveTo>
                <a:lnTo>
                  <a:pt x="4220980" y="0"/>
                </a:lnTo>
                <a:lnTo>
                  <a:pt x="4220980" y="2105214"/>
                </a:lnTo>
                <a:lnTo>
                  <a:pt x="0" y="2105214"/>
                </a:lnTo>
                <a:lnTo>
                  <a:pt x="0" y="0"/>
                </a:lnTo>
                <a:close/>
              </a:path>
            </a:pathLst>
          </a:custGeom>
          <a:blipFill>
            <a:blip r:embed="rId3"/>
            <a:stretch>
              <a:fillRect/>
            </a:stretch>
          </a:blipFill>
          <a:ln cap="sq">
            <a:noFill/>
            <a:prstDash val="solid"/>
            <a:miter/>
          </a:ln>
        </p:spPr>
        <p:txBody>
          <a:bodyPr/>
          <a:lstStyle/>
          <a:p>
            <a:endParaRPr lang="en-US"/>
          </a:p>
        </p:txBody>
      </p:sp>
      <p:sp>
        <p:nvSpPr>
          <p:cNvPr id="14" name="Freeform 14"/>
          <p:cNvSpPr/>
          <p:nvPr/>
        </p:nvSpPr>
        <p:spPr>
          <a:xfrm>
            <a:off x="3847455" y="6866756"/>
            <a:ext cx="2480286" cy="2473097"/>
          </a:xfrm>
          <a:custGeom>
            <a:avLst/>
            <a:gdLst/>
            <a:ahLst/>
            <a:cxnLst/>
            <a:rect l="l" t="t" r="r" b="b"/>
            <a:pathLst>
              <a:path w="2480286" h="2473097">
                <a:moveTo>
                  <a:pt x="0" y="0"/>
                </a:moveTo>
                <a:lnTo>
                  <a:pt x="2480286" y="0"/>
                </a:lnTo>
                <a:lnTo>
                  <a:pt x="2480286" y="2473097"/>
                </a:lnTo>
                <a:lnTo>
                  <a:pt x="0" y="2473097"/>
                </a:lnTo>
                <a:lnTo>
                  <a:pt x="0" y="0"/>
                </a:lnTo>
                <a:close/>
              </a:path>
            </a:pathLst>
          </a:custGeom>
          <a:blipFill>
            <a:blip r:embed="rId4"/>
            <a:stretch>
              <a:fillRect/>
            </a:stretch>
          </a:blipFill>
          <a:ln cap="sq">
            <a:noFill/>
            <a:prstDash val="solid"/>
            <a:miter/>
          </a:ln>
        </p:spPr>
        <p:txBody>
          <a:bodyPr/>
          <a:lstStyle/>
          <a:p>
            <a:endParaRPr lang="en-US"/>
          </a:p>
        </p:txBody>
      </p:sp>
      <p:sp>
        <p:nvSpPr>
          <p:cNvPr id="15" name="Freeform 15"/>
          <p:cNvSpPr/>
          <p:nvPr/>
        </p:nvSpPr>
        <p:spPr>
          <a:xfrm>
            <a:off x="16442551" y="1107433"/>
            <a:ext cx="773804" cy="781050"/>
          </a:xfrm>
          <a:custGeom>
            <a:avLst/>
            <a:gdLst/>
            <a:ahLst/>
            <a:cxnLst/>
            <a:rect l="l" t="t" r="r" b="b"/>
            <a:pathLst>
              <a:path w="773804" h="781050">
                <a:moveTo>
                  <a:pt x="0" y="0"/>
                </a:moveTo>
                <a:lnTo>
                  <a:pt x="773804" y="0"/>
                </a:lnTo>
                <a:lnTo>
                  <a:pt x="773804" y="781050"/>
                </a:lnTo>
                <a:lnTo>
                  <a:pt x="0" y="781050"/>
                </a:lnTo>
                <a:lnTo>
                  <a:pt x="0" y="0"/>
                </a:lnTo>
                <a:close/>
              </a:path>
            </a:pathLst>
          </a:custGeom>
          <a:blipFill>
            <a:blip r:embed="rId5"/>
            <a:stretch>
              <a:fillRect/>
            </a:stretch>
          </a:blipFill>
          <a:ln cap="sq">
            <a:noFill/>
            <a:prstDash val="solid"/>
            <a:miter/>
          </a:ln>
        </p:spPr>
        <p:txBody>
          <a:bodyPr/>
          <a:lstStyle/>
          <a:p>
            <a:endParaRPr lang="en-US"/>
          </a:p>
        </p:txBody>
      </p:sp>
      <p:sp>
        <p:nvSpPr>
          <p:cNvPr id="16" name="TextBox 16"/>
          <p:cNvSpPr txBox="1"/>
          <p:nvPr/>
        </p:nvSpPr>
        <p:spPr>
          <a:xfrm>
            <a:off x="1028700" y="1547196"/>
            <a:ext cx="8913197" cy="1767362"/>
          </a:xfrm>
          <a:prstGeom prst="rect">
            <a:avLst/>
          </a:prstGeom>
        </p:spPr>
        <p:txBody>
          <a:bodyPr lIns="0" tIns="0" rIns="0" bIns="0" rtlCol="0" anchor="t">
            <a:spAutoFit/>
          </a:bodyPr>
          <a:lstStyle/>
          <a:p>
            <a:pPr marL="0" lvl="0" indent="0" algn="l">
              <a:lnSpc>
                <a:spcPts val="12311"/>
              </a:lnSpc>
              <a:spcBef>
                <a:spcPct val="0"/>
              </a:spcBef>
            </a:pPr>
            <a:r>
              <a:rPr lang="en-US" sz="8793" b="1" u="none" strike="noStrike">
                <a:solidFill>
                  <a:srgbClr val="2B598F"/>
                </a:solidFill>
                <a:latin typeface="Agrandir Bold"/>
                <a:ea typeface="Agrandir Bold"/>
                <a:cs typeface="Agrandir Bold"/>
                <a:sym typeface="Agrandir Bold"/>
              </a:rPr>
              <a:t>Cơ sở lý thuyết</a:t>
            </a: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9FEFF"/>
        </a:solidFill>
        <a:effectLst/>
      </p:bgPr>
    </p:bg>
    <p:spTree>
      <p:nvGrpSpPr>
        <p:cNvPr id="1" name=""/>
        <p:cNvGrpSpPr/>
        <p:nvPr/>
      </p:nvGrpSpPr>
      <p:grpSpPr>
        <a:xfrm>
          <a:off x="0" y="0"/>
          <a:ext cx="0" cy="0"/>
          <a:chOff x="0" y="0"/>
          <a:chExt cx="0" cy="0"/>
        </a:xfrm>
      </p:grpSpPr>
      <p:sp>
        <p:nvSpPr>
          <p:cNvPr id="2" name="Freeform 2"/>
          <p:cNvSpPr/>
          <p:nvPr/>
        </p:nvSpPr>
        <p:spPr>
          <a:xfrm rot="-10800000">
            <a:off x="-2150717" y="2645110"/>
            <a:ext cx="9343257" cy="8578808"/>
          </a:xfrm>
          <a:custGeom>
            <a:avLst/>
            <a:gdLst/>
            <a:ahLst/>
            <a:cxnLst/>
            <a:rect l="l" t="t" r="r" b="b"/>
            <a:pathLst>
              <a:path w="9343257" h="8578808">
                <a:moveTo>
                  <a:pt x="0" y="0"/>
                </a:moveTo>
                <a:lnTo>
                  <a:pt x="9343257" y="0"/>
                </a:lnTo>
                <a:lnTo>
                  <a:pt x="9343257" y="8578808"/>
                </a:lnTo>
                <a:lnTo>
                  <a:pt x="0" y="8578808"/>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txBody>
          <a:bodyPr/>
          <a:lstStyle/>
          <a:p>
            <a:endParaRPr lang="en-US"/>
          </a:p>
        </p:txBody>
      </p:sp>
      <p:grpSp>
        <p:nvGrpSpPr>
          <p:cNvPr id="3" name="Group 3"/>
          <p:cNvGrpSpPr/>
          <p:nvPr/>
        </p:nvGrpSpPr>
        <p:grpSpPr>
          <a:xfrm>
            <a:off x="5772013" y="3914475"/>
            <a:ext cx="10249037" cy="2458051"/>
            <a:chOff x="0" y="0"/>
            <a:chExt cx="2704460" cy="648617"/>
          </a:xfrm>
        </p:grpSpPr>
        <p:sp>
          <p:nvSpPr>
            <p:cNvPr id="4" name="Freeform 4"/>
            <p:cNvSpPr/>
            <p:nvPr/>
          </p:nvSpPr>
          <p:spPr>
            <a:xfrm>
              <a:off x="0" y="0"/>
              <a:ext cx="2704460" cy="648617"/>
            </a:xfrm>
            <a:custGeom>
              <a:avLst/>
              <a:gdLst/>
              <a:ahLst/>
              <a:cxnLst/>
              <a:rect l="l" t="t" r="r" b="b"/>
              <a:pathLst>
                <a:path w="2704460" h="648617">
                  <a:moveTo>
                    <a:pt x="21906" y="0"/>
                  </a:moveTo>
                  <a:lnTo>
                    <a:pt x="2682554" y="0"/>
                  </a:lnTo>
                  <a:cubicBezTo>
                    <a:pt x="2694652" y="0"/>
                    <a:pt x="2704460" y="9808"/>
                    <a:pt x="2704460" y="21906"/>
                  </a:cubicBezTo>
                  <a:lnTo>
                    <a:pt x="2704460" y="626711"/>
                  </a:lnTo>
                  <a:cubicBezTo>
                    <a:pt x="2704460" y="632521"/>
                    <a:pt x="2702152" y="638093"/>
                    <a:pt x="2698043" y="642201"/>
                  </a:cubicBezTo>
                  <a:cubicBezTo>
                    <a:pt x="2693935" y="646309"/>
                    <a:pt x="2688363" y="648617"/>
                    <a:pt x="2682554" y="648617"/>
                  </a:cubicBezTo>
                  <a:lnTo>
                    <a:pt x="21906" y="648617"/>
                  </a:lnTo>
                  <a:cubicBezTo>
                    <a:pt x="16096" y="648617"/>
                    <a:pt x="10524" y="646309"/>
                    <a:pt x="6416" y="642201"/>
                  </a:cubicBezTo>
                  <a:cubicBezTo>
                    <a:pt x="2308" y="638093"/>
                    <a:pt x="0" y="632521"/>
                    <a:pt x="0" y="626711"/>
                  </a:cubicBezTo>
                  <a:lnTo>
                    <a:pt x="0" y="21906"/>
                  </a:lnTo>
                  <a:cubicBezTo>
                    <a:pt x="0" y="16096"/>
                    <a:pt x="2308" y="10524"/>
                    <a:pt x="6416" y="6416"/>
                  </a:cubicBezTo>
                  <a:cubicBezTo>
                    <a:pt x="10524" y="2308"/>
                    <a:pt x="16096" y="0"/>
                    <a:pt x="21906" y="0"/>
                  </a:cubicBezTo>
                  <a:close/>
                </a:path>
              </a:pathLst>
            </a:custGeom>
            <a:solidFill>
              <a:srgbClr val="FFFFFE"/>
            </a:solidFill>
            <a:ln w="19050" cap="rnd">
              <a:solidFill>
                <a:srgbClr val="181D2B"/>
              </a:solidFill>
              <a:prstDash val="solid"/>
              <a:round/>
            </a:ln>
          </p:spPr>
          <p:txBody>
            <a:bodyPr/>
            <a:lstStyle/>
            <a:p>
              <a:endParaRPr lang="en-US"/>
            </a:p>
          </p:txBody>
        </p:sp>
        <p:sp>
          <p:nvSpPr>
            <p:cNvPr id="5" name="TextBox 5"/>
            <p:cNvSpPr txBox="1"/>
            <p:nvPr/>
          </p:nvSpPr>
          <p:spPr>
            <a:xfrm>
              <a:off x="0" y="-38100"/>
              <a:ext cx="2704460" cy="686717"/>
            </a:xfrm>
            <a:prstGeom prst="rect">
              <a:avLst/>
            </a:prstGeom>
          </p:spPr>
          <p:txBody>
            <a:bodyPr lIns="50704" tIns="50704" rIns="50704" bIns="50704" rtlCol="0" anchor="ctr"/>
            <a:lstStyle/>
            <a:p>
              <a:pPr marL="0" lvl="0" indent="0" algn="ctr">
                <a:lnSpc>
                  <a:spcPts val="3135"/>
                </a:lnSpc>
              </a:pPr>
              <a:endParaRPr/>
            </a:p>
          </p:txBody>
        </p:sp>
      </p:grpSp>
      <p:sp>
        <p:nvSpPr>
          <p:cNvPr id="6" name="TextBox 6"/>
          <p:cNvSpPr txBox="1"/>
          <p:nvPr/>
        </p:nvSpPr>
        <p:spPr>
          <a:xfrm>
            <a:off x="6120067" y="4160012"/>
            <a:ext cx="9710250" cy="439339"/>
          </a:xfrm>
          <a:prstGeom prst="rect">
            <a:avLst/>
          </a:prstGeom>
        </p:spPr>
        <p:txBody>
          <a:bodyPr lIns="0" tIns="0" rIns="0" bIns="0" rtlCol="0" anchor="t">
            <a:spAutoFit/>
          </a:bodyPr>
          <a:lstStyle/>
          <a:p>
            <a:pPr marL="0" lvl="0" indent="0" algn="l">
              <a:lnSpc>
                <a:spcPts val="3609"/>
              </a:lnSpc>
              <a:spcBef>
                <a:spcPct val="0"/>
              </a:spcBef>
            </a:pPr>
            <a:r>
              <a:rPr lang="en-US" sz="2578" b="1" u="none" strike="noStrike" spc="12">
                <a:solidFill>
                  <a:srgbClr val="181D2B"/>
                </a:solidFill>
                <a:latin typeface="Open Sauce Bold"/>
                <a:ea typeface="Open Sauce Bold"/>
                <a:cs typeface="Open Sauce Bold"/>
                <a:sym typeface="Open Sauce Bold"/>
              </a:rPr>
              <a:t>Threading &amp; Đa luồng</a:t>
            </a:r>
          </a:p>
        </p:txBody>
      </p:sp>
      <p:sp>
        <p:nvSpPr>
          <p:cNvPr id="7" name="TextBox 7"/>
          <p:cNvSpPr txBox="1"/>
          <p:nvPr/>
        </p:nvSpPr>
        <p:spPr>
          <a:xfrm>
            <a:off x="6120067" y="4738071"/>
            <a:ext cx="9710250" cy="1098976"/>
          </a:xfrm>
          <a:prstGeom prst="rect">
            <a:avLst/>
          </a:prstGeom>
        </p:spPr>
        <p:txBody>
          <a:bodyPr lIns="0" tIns="0" rIns="0" bIns="0" rtlCol="0" anchor="t">
            <a:spAutoFit/>
          </a:bodyPr>
          <a:lstStyle/>
          <a:p>
            <a:pPr marL="0" lvl="0" indent="0" algn="l">
              <a:lnSpc>
                <a:spcPts val="2951"/>
              </a:lnSpc>
              <a:spcBef>
                <a:spcPct val="0"/>
              </a:spcBef>
            </a:pPr>
            <a:r>
              <a:rPr lang="en-US" sz="2108" u="none" strike="noStrike" spc="10">
                <a:solidFill>
                  <a:srgbClr val="181D2B"/>
                </a:solidFill>
                <a:latin typeface="Open Sauce"/>
                <a:ea typeface="Open Sauce"/>
                <a:cs typeface="Open Sauce"/>
                <a:sym typeface="Open Sauce"/>
              </a:rPr>
              <a:t>Worker Thread xử lý truyền tải file độc lập, tránh treo giao diện. pyqtSignal cập nhật UI theo thời gian thực từ luồng nền. Server đa luồng phục vụ nhiều client đồng thời, mỗi kết nối được xử lý bởi một thread riêng biệt.</a:t>
            </a:r>
          </a:p>
        </p:txBody>
      </p:sp>
      <p:grpSp>
        <p:nvGrpSpPr>
          <p:cNvPr id="8" name="Group 8"/>
          <p:cNvGrpSpPr/>
          <p:nvPr/>
        </p:nvGrpSpPr>
        <p:grpSpPr>
          <a:xfrm>
            <a:off x="7010263" y="6800249"/>
            <a:ext cx="10249037" cy="2458051"/>
            <a:chOff x="0" y="0"/>
            <a:chExt cx="2704460" cy="648617"/>
          </a:xfrm>
        </p:grpSpPr>
        <p:sp>
          <p:nvSpPr>
            <p:cNvPr id="9" name="Freeform 9"/>
            <p:cNvSpPr/>
            <p:nvPr/>
          </p:nvSpPr>
          <p:spPr>
            <a:xfrm>
              <a:off x="0" y="0"/>
              <a:ext cx="2704460" cy="648617"/>
            </a:xfrm>
            <a:custGeom>
              <a:avLst/>
              <a:gdLst/>
              <a:ahLst/>
              <a:cxnLst/>
              <a:rect l="l" t="t" r="r" b="b"/>
              <a:pathLst>
                <a:path w="2704460" h="648617">
                  <a:moveTo>
                    <a:pt x="21906" y="0"/>
                  </a:moveTo>
                  <a:lnTo>
                    <a:pt x="2682554" y="0"/>
                  </a:lnTo>
                  <a:cubicBezTo>
                    <a:pt x="2694652" y="0"/>
                    <a:pt x="2704460" y="9808"/>
                    <a:pt x="2704460" y="21906"/>
                  </a:cubicBezTo>
                  <a:lnTo>
                    <a:pt x="2704460" y="626711"/>
                  </a:lnTo>
                  <a:cubicBezTo>
                    <a:pt x="2704460" y="632521"/>
                    <a:pt x="2702152" y="638093"/>
                    <a:pt x="2698043" y="642201"/>
                  </a:cubicBezTo>
                  <a:cubicBezTo>
                    <a:pt x="2693935" y="646309"/>
                    <a:pt x="2688363" y="648617"/>
                    <a:pt x="2682554" y="648617"/>
                  </a:cubicBezTo>
                  <a:lnTo>
                    <a:pt x="21906" y="648617"/>
                  </a:lnTo>
                  <a:cubicBezTo>
                    <a:pt x="16096" y="648617"/>
                    <a:pt x="10524" y="646309"/>
                    <a:pt x="6416" y="642201"/>
                  </a:cubicBezTo>
                  <a:cubicBezTo>
                    <a:pt x="2308" y="638093"/>
                    <a:pt x="0" y="632521"/>
                    <a:pt x="0" y="626711"/>
                  </a:cubicBezTo>
                  <a:lnTo>
                    <a:pt x="0" y="21906"/>
                  </a:lnTo>
                  <a:cubicBezTo>
                    <a:pt x="0" y="16096"/>
                    <a:pt x="2308" y="10524"/>
                    <a:pt x="6416" y="6416"/>
                  </a:cubicBezTo>
                  <a:cubicBezTo>
                    <a:pt x="10524" y="2308"/>
                    <a:pt x="16096" y="0"/>
                    <a:pt x="21906" y="0"/>
                  </a:cubicBezTo>
                  <a:close/>
                </a:path>
              </a:pathLst>
            </a:custGeom>
            <a:solidFill>
              <a:srgbClr val="FFFFFE"/>
            </a:solidFill>
            <a:ln w="19050" cap="rnd">
              <a:solidFill>
                <a:srgbClr val="181D2B"/>
              </a:solidFill>
              <a:prstDash val="solid"/>
              <a:round/>
            </a:ln>
          </p:spPr>
          <p:txBody>
            <a:bodyPr/>
            <a:lstStyle/>
            <a:p>
              <a:endParaRPr lang="en-US"/>
            </a:p>
          </p:txBody>
        </p:sp>
        <p:sp>
          <p:nvSpPr>
            <p:cNvPr id="10" name="TextBox 10"/>
            <p:cNvSpPr txBox="1"/>
            <p:nvPr/>
          </p:nvSpPr>
          <p:spPr>
            <a:xfrm>
              <a:off x="0" y="-38100"/>
              <a:ext cx="2704460" cy="686717"/>
            </a:xfrm>
            <a:prstGeom prst="rect">
              <a:avLst/>
            </a:prstGeom>
          </p:spPr>
          <p:txBody>
            <a:bodyPr lIns="50704" tIns="50704" rIns="50704" bIns="50704" rtlCol="0" anchor="ctr"/>
            <a:lstStyle/>
            <a:p>
              <a:pPr marL="0" lvl="0" indent="0" algn="ctr">
                <a:lnSpc>
                  <a:spcPts val="3135"/>
                </a:lnSpc>
              </a:pPr>
              <a:endParaRPr/>
            </a:p>
          </p:txBody>
        </p:sp>
      </p:grpSp>
      <p:sp>
        <p:nvSpPr>
          <p:cNvPr id="11" name="TextBox 11"/>
          <p:cNvSpPr txBox="1"/>
          <p:nvPr/>
        </p:nvSpPr>
        <p:spPr>
          <a:xfrm>
            <a:off x="7358317" y="7045786"/>
            <a:ext cx="9710250" cy="439339"/>
          </a:xfrm>
          <a:prstGeom prst="rect">
            <a:avLst/>
          </a:prstGeom>
        </p:spPr>
        <p:txBody>
          <a:bodyPr lIns="0" tIns="0" rIns="0" bIns="0" rtlCol="0" anchor="t">
            <a:spAutoFit/>
          </a:bodyPr>
          <a:lstStyle/>
          <a:p>
            <a:pPr marL="0" lvl="0" indent="0" algn="l">
              <a:lnSpc>
                <a:spcPts val="3609"/>
              </a:lnSpc>
              <a:spcBef>
                <a:spcPct val="0"/>
              </a:spcBef>
            </a:pPr>
            <a:r>
              <a:rPr lang="en-US" sz="2578" b="1" spc="12">
                <a:solidFill>
                  <a:srgbClr val="181D2B"/>
                </a:solidFill>
                <a:latin typeface="Open Sauce Bold"/>
                <a:ea typeface="Open Sauce Bold"/>
                <a:cs typeface="Open Sauce Bold"/>
                <a:sym typeface="Open Sauce Bold"/>
              </a:rPr>
              <a:t>SQLite &amp; Quản lý dữ liệu</a:t>
            </a:r>
          </a:p>
        </p:txBody>
      </p:sp>
      <p:sp>
        <p:nvSpPr>
          <p:cNvPr id="12" name="TextBox 12"/>
          <p:cNvSpPr txBox="1"/>
          <p:nvPr/>
        </p:nvSpPr>
        <p:spPr>
          <a:xfrm>
            <a:off x="7358317" y="7623846"/>
            <a:ext cx="9710250" cy="1098976"/>
          </a:xfrm>
          <a:prstGeom prst="rect">
            <a:avLst/>
          </a:prstGeom>
        </p:spPr>
        <p:txBody>
          <a:bodyPr lIns="0" tIns="0" rIns="0" bIns="0" rtlCol="0" anchor="t">
            <a:spAutoFit/>
          </a:bodyPr>
          <a:lstStyle/>
          <a:p>
            <a:pPr marL="0" lvl="0" indent="0" algn="l">
              <a:lnSpc>
                <a:spcPts val="2951"/>
              </a:lnSpc>
              <a:spcBef>
                <a:spcPct val="0"/>
              </a:spcBef>
            </a:pPr>
            <a:r>
              <a:rPr lang="en-US" sz="2108" u="none" strike="noStrike" spc="10">
                <a:solidFill>
                  <a:srgbClr val="181D2B"/>
                </a:solidFill>
                <a:latin typeface="Open Sauce"/>
                <a:ea typeface="Open Sauce"/>
                <a:cs typeface="Open Sauce"/>
                <a:sym typeface="Open Sauce"/>
              </a:rPr>
              <a:t>SQLite lưu trữ tài khoản người dùng, lịch sử upload và trạng thái phiên truyền. Đảm bảo tính ACID (Atomicity, Consistency, Isolation, Durability), hỗ trợ truy vấn nhanh và tích hợp nhẹ không cần cấu hình server.</a:t>
            </a:r>
          </a:p>
        </p:txBody>
      </p:sp>
      <p:sp>
        <p:nvSpPr>
          <p:cNvPr id="13" name="Freeform 13"/>
          <p:cNvSpPr/>
          <p:nvPr/>
        </p:nvSpPr>
        <p:spPr>
          <a:xfrm>
            <a:off x="-108081" y="4305619"/>
            <a:ext cx="5767695" cy="1204006"/>
          </a:xfrm>
          <a:custGeom>
            <a:avLst/>
            <a:gdLst/>
            <a:ahLst/>
            <a:cxnLst/>
            <a:rect l="l" t="t" r="r" b="b"/>
            <a:pathLst>
              <a:path w="5767695" h="1204006">
                <a:moveTo>
                  <a:pt x="0" y="0"/>
                </a:moveTo>
                <a:lnTo>
                  <a:pt x="5767694" y="0"/>
                </a:lnTo>
                <a:lnTo>
                  <a:pt x="5767694" y="1204006"/>
                </a:lnTo>
                <a:lnTo>
                  <a:pt x="0" y="1204006"/>
                </a:lnTo>
                <a:lnTo>
                  <a:pt x="0" y="0"/>
                </a:lnTo>
                <a:close/>
              </a:path>
            </a:pathLst>
          </a:custGeom>
          <a:blipFill>
            <a:blip r:embed="rId3"/>
            <a:stretch>
              <a:fillRect/>
            </a:stretch>
          </a:blipFill>
          <a:ln cap="sq">
            <a:noFill/>
            <a:prstDash val="solid"/>
            <a:miter/>
          </a:ln>
        </p:spPr>
        <p:txBody>
          <a:bodyPr/>
          <a:lstStyle/>
          <a:p>
            <a:endParaRPr lang="en-US"/>
          </a:p>
        </p:txBody>
      </p:sp>
      <p:sp>
        <p:nvSpPr>
          <p:cNvPr id="14" name="Freeform 14"/>
          <p:cNvSpPr/>
          <p:nvPr/>
        </p:nvSpPr>
        <p:spPr>
          <a:xfrm>
            <a:off x="4072457" y="6030910"/>
            <a:ext cx="2029763" cy="3273811"/>
          </a:xfrm>
          <a:custGeom>
            <a:avLst/>
            <a:gdLst/>
            <a:ahLst/>
            <a:cxnLst/>
            <a:rect l="l" t="t" r="r" b="b"/>
            <a:pathLst>
              <a:path w="2029763" h="3273811">
                <a:moveTo>
                  <a:pt x="0" y="0"/>
                </a:moveTo>
                <a:lnTo>
                  <a:pt x="2029763" y="0"/>
                </a:lnTo>
                <a:lnTo>
                  <a:pt x="2029763" y="3273811"/>
                </a:lnTo>
                <a:lnTo>
                  <a:pt x="0" y="3273811"/>
                </a:lnTo>
                <a:lnTo>
                  <a:pt x="0" y="0"/>
                </a:lnTo>
                <a:close/>
              </a:path>
            </a:pathLst>
          </a:custGeom>
          <a:blipFill>
            <a:blip r:embed="rId4"/>
            <a:stretch>
              <a:fillRect/>
            </a:stretch>
          </a:blipFill>
          <a:ln cap="sq">
            <a:noFill/>
            <a:prstDash val="solid"/>
            <a:miter/>
          </a:ln>
        </p:spPr>
        <p:txBody>
          <a:bodyPr/>
          <a:lstStyle/>
          <a:p>
            <a:endParaRPr lang="en-US"/>
          </a:p>
        </p:txBody>
      </p:sp>
      <p:sp>
        <p:nvSpPr>
          <p:cNvPr id="15" name="Freeform 15"/>
          <p:cNvSpPr/>
          <p:nvPr/>
        </p:nvSpPr>
        <p:spPr>
          <a:xfrm>
            <a:off x="16549768" y="1098710"/>
            <a:ext cx="690398" cy="800174"/>
          </a:xfrm>
          <a:custGeom>
            <a:avLst/>
            <a:gdLst/>
            <a:ahLst/>
            <a:cxnLst/>
            <a:rect l="l" t="t" r="r" b="b"/>
            <a:pathLst>
              <a:path w="690398" h="800174">
                <a:moveTo>
                  <a:pt x="0" y="0"/>
                </a:moveTo>
                <a:lnTo>
                  <a:pt x="690398" y="0"/>
                </a:lnTo>
                <a:lnTo>
                  <a:pt x="690398" y="800174"/>
                </a:lnTo>
                <a:lnTo>
                  <a:pt x="0" y="800174"/>
                </a:lnTo>
                <a:lnTo>
                  <a:pt x="0" y="0"/>
                </a:lnTo>
                <a:close/>
              </a:path>
            </a:pathLst>
          </a:custGeom>
          <a:blipFill>
            <a:blip r:embed="rId5"/>
            <a:stretch>
              <a:fillRect/>
            </a:stretch>
          </a:blipFill>
          <a:ln cap="sq">
            <a:noFill/>
            <a:prstDash val="solid"/>
            <a:miter/>
          </a:ln>
        </p:spPr>
        <p:txBody>
          <a:bodyPr/>
          <a:lstStyle/>
          <a:p>
            <a:endParaRPr lang="en-US"/>
          </a:p>
        </p:txBody>
      </p:sp>
      <p:sp>
        <p:nvSpPr>
          <p:cNvPr id="16" name="TextBox 16"/>
          <p:cNvSpPr txBox="1"/>
          <p:nvPr/>
        </p:nvSpPr>
        <p:spPr>
          <a:xfrm>
            <a:off x="1028700" y="1547196"/>
            <a:ext cx="8913197" cy="1767362"/>
          </a:xfrm>
          <a:prstGeom prst="rect">
            <a:avLst/>
          </a:prstGeom>
        </p:spPr>
        <p:txBody>
          <a:bodyPr lIns="0" tIns="0" rIns="0" bIns="0" rtlCol="0" anchor="t">
            <a:spAutoFit/>
          </a:bodyPr>
          <a:lstStyle/>
          <a:p>
            <a:pPr marL="0" lvl="0" indent="0" algn="l">
              <a:lnSpc>
                <a:spcPts val="12311"/>
              </a:lnSpc>
              <a:spcBef>
                <a:spcPct val="0"/>
              </a:spcBef>
            </a:pPr>
            <a:r>
              <a:rPr lang="en-US" sz="8793" b="1" u="none" strike="noStrike">
                <a:solidFill>
                  <a:srgbClr val="2B598F"/>
                </a:solidFill>
                <a:latin typeface="Agrandir Bold"/>
                <a:ea typeface="Agrandir Bold"/>
                <a:cs typeface="Agrandir Bold"/>
                <a:sym typeface="Agrandir Bold"/>
              </a:rPr>
              <a:t>Cơ sở lý thuyết</a:t>
            </a: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9FEFF"/>
        </a:solidFill>
        <a:effectLst/>
      </p:bgPr>
    </p:bg>
    <p:spTree>
      <p:nvGrpSpPr>
        <p:cNvPr id="1" name=""/>
        <p:cNvGrpSpPr/>
        <p:nvPr/>
      </p:nvGrpSpPr>
      <p:grpSpPr>
        <a:xfrm>
          <a:off x="0" y="0"/>
          <a:ext cx="0" cy="0"/>
          <a:chOff x="0" y="0"/>
          <a:chExt cx="0" cy="0"/>
        </a:xfrm>
      </p:grpSpPr>
      <p:sp>
        <p:nvSpPr>
          <p:cNvPr id="2" name="Freeform 2"/>
          <p:cNvSpPr/>
          <p:nvPr/>
        </p:nvSpPr>
        <p:spPr>
          <a:xfrm rot="-5400000" flipH="1">
            <a:off x="8856179" y="2513730"/>
            <a:ext cx="11923595" cy="8953536"/>
          </a:xfrm>
          <a:custGeom>
            <a:avLst/>
            <a:gdLst/>
            <a:ahLst/>
            <a:cxnLst/>
            <a:rect l="l" t="t" r="r" b="b"/>
            <a:pathLst>
              <a:path w="11923595" h="8953536">
                <a:moveTo>
                  <a:pt x="11923595" y="0"/>
                </a:moveTo>
                <a:lnTo>
                  <a:pt x="0" y="0"/>
                </a:lnTo>
                <a:lnTo>
                  <a:pt x="0" y="8953536"/>
                </a:lnTo>
                <a:lnTo>
                  <a:pt x="11923595" y="8953536"/>
                </a:lnTo>
                <a:lnTo>
                  <a:pt x="11923595"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txBody>
          <a:bodyPr/>
          <a:lstStyle/>
          <a:p>
            <a:endParaRPr lang="en-US"/>
          </a:p>
        </p:txBody>
      </p:sp>
      <p:sp>
        <p:nvSpPr>
          <p:cNvPr id="3" name="Freeform 3"/>
          <p:cNvSpPr/>
          <p:nvPr/>
        </p:nvSpPr>
        <p:spPr>
          <a:xfrm>
            <a:off x="10882830" y="1714500"/>
            <a:ext cx="6259996" cy="6036731"/>
          </a:xfrm>
          <a:custGeom>
            <a:avLst/>
            <a:gdLst/>
            <a:ahLst/>
            <a:cxnLst/>
            <a:rect l="l" t="t" r="r" b="b"/>
            <a:pathLst>
              <a:path w="6259996" h="6036731">
                <a:moveTo>
                  <a:pt x="0" y="0"/>
                </a:moveTo>
                <a:lnTo>
                  <a:pt x="6259996" y="0"/>
                </a:lnTo>
                <a:lnTo>
                  <a:pt x="6259996" y="6036732"/>
                </a:lnTo>
                <a:lnTo>
                  <a:pt x="0" y="6036732"/>
                </a:lnTo>
                <a:lnTo>
                  <a:pt x="0" y="0"/>
                </a:lnTo>
                <a:close/>
              </a:path>
            </a:pathLst>
          </a:custGeom>
          <a:blipFill>
            <a:blip r:embed="rId3"/>
            <a:stretch>
              <a:fillRect/>
            </a:stretch>
          </a:blipFill>
          <a:ln cap="sq">
            <a:noFill/>
            <a:prstDash val="solid"/>
            <a:miter/>
          </a:ln>
        </p:spPr>
        <p:txBody>
          <a:bodyPr/>
          <a:lstStyle/>
          <a:p>
            <a:endParaRPr lang="en-US"/>
          </a:p>
        </p:txBody>
      </p:sp>
      <p:sp>
        <p:nvSpPr>
          <p:cNvPr id="4" name="Freeform 4"/>
          <p:cNvSpPr/>
          <p:nvPr/>
        </p:nvSpPr>
        <p:spPr>
          <a:xfrm>
            <a:off x="994571" y="8570932"/>
            <a:ext cx="766143" cy="778387"/>
          </a:xfrm>
          <a:custGeom>
            <a:avLst/>
            <a:gdLst/>
            <a:ahLst/>
            <a:cxnLst/>
            <a:rect l="l" t="t" r="r" b="b"/>
            <a:pathLst>
              <a:path w="766143" h="778387">
                <a:moveTo>
                  <a:pt x="0" y="0"/>
                </a:moveTo>
                <a:lnTo>
                  <a:pt x="766143" y="0"/>
                </a:lnTo>
                <a:lnTo>
                  <a:pt x="766143" y="778387"/>
                </a:lnTo>
                <a:lnTo>
                  <a:pt x="0" y="778387"/>
                </a:lnTo>
                <a:lnTo>
                  <a:pt x="0" y="0"/>
                </a:lnTo>
                <a:close/>
              </a:path>
            </a:pathLst>
          </a:custGeom>
          <a:blipFill>
            <a:blip r:embed="rId4"/>
            <a:stretch>
              <a:fillRect/>
            </a:stretch>
          </a:blipFill>
          <a:ln cap="sq">
            <a:noFill/>
            <a:prstDash val="solid"/>
            <a:miter/>
          </a:ln>
        </p:spPr>
        <p:txBody>
          <a:bodyPr/>
          <a:lstStyle/>
          <a:p>
            <a:endParaRPr lang="en-US"/>
          </a:p>
        </p:txBody>
      </p:sp>
      <p:sp>
        <p:nvSpPr>
          <p:cNvPr id="5" name="TextBox 5"/>
          <p:cNvSpPr txBox="1"/>
          <p:nvPr/>
        </p:nvSpPr>
        <p:spPr>
          <a:xfrm>
            <a:off x="1028700" y="1696040"/>
            <a:ext cx="8621502" cy="1516395"/>
          </a:xfrm>
          <a:prstGeom prst="rect">
            <a:avLst/>
          </a:prstGeom>
        </p:spPr>
        <p:txBody>
          <a:bodyPr lIns="0" tIns="0" rIns="0" bIns="0" rtlCol="0" anchor="t">
            <a:spAutoFit/>
          </a:bodyPr>
          <a:lstStyle/>
          <a:p>
            <a:pPr marL="0" lvl="0" indent="0" algn="l">
              <a:lnSpc>
                <a:spcPts val="5669"/>
              </a:lnSpc>
              <a:spcBef>
                <a:spcPct val="0"/>
              </a:spcBef>
            </a:pPr>
            <a:r>
              <a:rPr lang="en-US" sz="4049" b="1" u="none" strike="noStrike">
                <a:solidFill>
                  <a:srgbClr val="2B598F"/>
                </a:solidFill>
                <a:latin typeface="Agrandir Bold"/>
                <a:ea typeface="Agrandir Bold"/>
                <a:cs typeface="Agrandir Bold"/>
                <a:sym typeface="Agrandir Bold"/>
              </a:rPr>
              <a:t>Chương 3 - Thiết kế và Triển khai Hệ thống</a:t>
            </a:r>
          </a:p>
        </p:txBody>
      </p:sp>
      <p:grpSp>
        <p:nvGrpSpPr>
          <p:cNvPr id="6" name="Group 6"/>
          <p:cNvGrpSpPr/>
          <p:nvPr/>
        </p:nvGrpSpPr>
        <p:grpSpPr>
          <a:xfrm>
            <a:off x="656720" y="3484550"/>
            <a:ext cx="9186122" cy="1685288"/>
            <a:chOff x="0" y="0"/>
            <a:chExt cx="2423983" cy="444704"/>
          </a:xfrm>
        </p:grpSpPr>
        <p:sp>
          <p:nvSpPr>
            <p:cNvPr id="7" name="Freeform 7"/>
            <p:cNvSpPr/>
            <p:nvPr/>
          </p:nvSpPr>
          <p:spPr>
            <a:xfrm>
              <a:off x="0" y="0"/>
              <a:ext cx="2423983" cy="444704"/>
            </a:xfrm>
            <a:custGeom>
              <a:avLst/>
              <a:gdLst/>
              <a:ahLst/>
              <a:cxnLst/>
              <a:rect l="l" t="t" r="r" b="b"/>
              <a:pathLst>
                <a:path w="2423983" h="444704">
                  <a:moveTo>
                    <a:pt x="24441" y="0"/>
                  </a:moveTo>
                  <a:lnTo>
                    <a:pt x="2399543" y="0"/>
                  </a:lnTo>
                  <a:cubicBezTo>
                    <a:pt x="2406025" y="0"/>
                    <a:pt x="2412241" y="2575"/>
                    <a:pt x="2416825" y="7159"/>
                  </a:cubicBezTo>
                  <a:cubicBezTo>
                    <a:pt x="2421408" y="11742"/>
                    <a:pt x="2423983" y="17959"/>
                    <a:pt x="2423983" y="24441"/>
                  </a:cubicBezTo>
                  <a:lnTo>
                    <a:pt x="2423983" y="420264"/>
                  </a:lnTo>
                  <a:cubicBezTo>
                    <a:pt x="2423983" y="426746"/>
                    <a:pt x="2421408" y="432962"/>
                    <a:pt x="2416825" y="437546"/>
                  </a:cubicBezTo>
                  <a:cubicBezTo>
                    <a:pt x="2412241" y="442129"/>
                    <a:pt x="2406025" y="444704"/>
                    <a:pt x="2399543" y="444704"/>
                  </a:cubicBezTo>
                  <a:lnTo>
                    <a:pt x="24441" y="444704"/>
                  </a:lnTo>
                  <a:cubicBezTo>
                    <a:pt x="17959" y="444704"/>
                    <a:pt x="11742" y="442129"/>
                    <a:pt x="7159" y="437546"/>
                  </a:cubicBezTo>
                  <a:cubicBezTo>
                    <a:pt x="2575" y="432962"/>
                    <a:pt x="0" y="426746"/>
                    <a:pt x="0" y="420264"/>
                  </a:cubicBezTo>
                  <a:lnTo>
                    <a:pt x="0" y="24441"/>
                  </a:lnTo>
                  <a:cubicBezTo>
                    <a:pt x="0" y="17959"/>
                    <a:pt x="2575" y="11742"/>
                    <a:pt x="7159" y="7159"/>
                  </a:cubicBezTo>
                  <a:cubicBezTo>
                    <a:pt x="11742" y="2575"/>
                    <a:pt x="17959" y="0"/>
                    <a:pt x="24441" y="0"/>
                  </a:cubicBezTo>
                  <a:close/>
                </a:path>
              </a:pathLst>
            </a:custGeom>
            <a:solidFill>
              <a:srgbClr val="FFFFFE"/>
            </a:solidFill>
            <a:ln w="19050" cap="rnd">
              <a:solidFill>
                <a:srgbClr val="181D2B"/>
              </a:solidFill>
              <a:prstDash val="solid"/>
              <a:round/>
            </a:ln>
          </p:spPr>
          <p:txBody>
            <a:bodyPr/>
            <a:lstStyle/>
            <a:p>
              <a:endParaRPr lang="en-US"/>
            </a:p>
          </p:txBody>
        </p:sp>
        <p:sp>
          <p:nvSpPr>
            <p:cNvPr id="8" name="TextBox 8"/>
            <p:cNvSpPr txBox="1"/>
            <p:nvPr/>
          </p:nvSpPr>
          <p:spPr>
            <a:xfrm>
              <a:off x="0" y="-38100"/>
              <a:ext cx="2423983" cy="482804"/>
            </a:xfrm>
            <a:prstGeom prst="rect">
              <a:avLst/>
            </a:prstGeom>
          </p:spPr>
          <p:txBody>
            <a:bodyPr lIns="50704" tIns="50704" rIns="50704" bIns="50704" rtlCol="0" anchor="ctr"/>
            <a:lstStyle/>
            <a:p>
              <a:pPr marL="0" lvl="0" indent="0" algn="ctr">
                <a:lnSpc>
                  <a:spcPts val="3135"/>
                </a:lnSpc>
              </a:pPr>
              <a:endParaRPr/>
            </a:p>
          </p:txBody>
        </p:sp>
      </p:grpSp>
      <p:sp>
        <p:nvSpPr>
          <p:cNvPr id="9" name="TextBox 9"/>
          <p:cNvSpPr txBox="1"/>
          <p:nvPr/>
        </p:nvSpPr>
        <p:spPr>
          <a:xfrm>
            <a:off x="1028700" y="3464579"/>
            <a:ext cx="8621502" cy="1508610"/>
          </a:xfrm>
          <a:prstGeom prst="rect">
            <a:avLst/>
          </a:prstGeom>
        </p:spPr>
        <p:txBody>
          <a:bodyPr lIns="0" tIns="0" rIns="0" bIns="0" rtlCol="0" anchor="t">
            <a:spAutoFit/>
          </a:bodyPr>
          <a:lstStyle/>
          <a:p>
            <a:pPr marL="0" lvl="0" indent="0" algn="l">
              <a:lnSpc>
                <a:spcPts val="3998"/>
              </a:lnSpc>
              <a:spcBef>
                <a:spcPct val="0"/>
              </a:spcBef>
            </a:pPr>
            <a:r>
              <a:rPr lang="en-US" sz="2855" u="none" strike="noStrike" spc="14">
                <a:solidFill>
                  <a:srgbClr val="181D2B"/>
                </a:solidFill>
                <a:latin typeface="Times New Roman"/>
                <a:ea typeface="Times New Roman"/>
                <a:cs typeface="Times New Roman"/>
                <a:sym typeface="Times New Roman"/>
              </a:rPr>
              <a:t>Kiến trúc hệ thống, thiết kế giao diện, luồng hoạt động và các chức năng chính của ứng dụng Upload Single File with Control theo mô hình Client-Server.</a:t>
            </a: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9FEFF"/>
        </a:solidFill>
        <a:effectLst/>
      </p:bgPr>
    </p:bg>
    <p:spTree>
      <p:nvGrpSpPr>
        <p:cNvPr id="1" name=""/>
        <p:cNvGrpSpPr/>
        <p:nvPr/>
      </p:nvGrpSpPr>
      <p:grpSpPr>
        <a:xfrm>
          <a:off x="0" y="0"/>
          <a:ext cx="0" cy="0"/>
          <a:chOff x="0" y="0"/>
          <a:chExt cx="0" cy="0"/>
        </a:xfrm>
      </p:grpSpPr>
      <p:sp>
        <p:nvSpPr>
          <p:cNvPr id="2" name="Freeform 2"/>
          <p:cNvSpPr/>
          <p:nvPr/>
        </p:nvSpPr>
        <p:spPr>
          <a:xfrm>
            <a:off x="-510279" y="2121870"/>
            <a:ext cx="6095650" cy="6095650"/>
          </a:xfrm>
          <a:custGeom>
            <a:avLst/>
            <a:gdLst/>
            <a:ahLst/>
            <a:cxnLst/>
            <a:rect l="l" t="t" r="r" b="b"/>
            <a:pathLst>
              <a:path w="6095650" h="6095650">
                <a:moveTo>
                  <a:pt x="0" y="0"/>
                </a:moveTo>
                <a:lnTo>
                  <a:pt x="6095650" y="0"/>
                </a:lnTo>
                <a:lnTo>
                  <a:pt x="6095650" y="6095650"/>
                </a:lnTo>
                <a:lnTo>
                  <a:pt x="0" y="6095650"/>
                </a:lnTo>
                <a:lnTo>
                  <a:pt x="0" y="0"/>
                </a:lnTo>
                <a:close/>
              </a:path>
            </a:pathLst>
          </a:custGeom>
          <a:blipFill>
            <a:blip>
              <a:extLst>
                <a:ext uri="{96DAC541-7B7A-43D3-8B79-37D633B846F1}">
                  <asvg:svgBlip xmlns:asvg="http://schemas.microsoft.com/office/drawing/2016/SVG/main" r:embed="rId2"/>
                </a:ext>
              </a:extLst>
            </a:blip>
            <a:stretch>
              <a:fillRect l="-31923" t="-30783" r="-30783" b="-31923"/>
            </a:stretch>
          </a:blipFill>
          <a:ln cap="rnd">
            <a:noFill/>
            <a:prstDash val="solid"/>
            <a:round/>
          </a:ln>
        </p:spPr>
        <p:txBody>
          <a:bodyPr/>
          <a:lstStyle/>
          <a:p>
            <a:endParaRPr lang="en-US"/>
          </a:p>
        </p:txBody>
      </p:sp>
      <p:sp>
        <p:nvSpPr>
          <p:cNvPr id="3" name="TextBox 3"/>
          <p:cNvSpPr txBox="1"/>
          <p:nvPr/>
        </p:nvSpPr>
        <p:spPr>
          <a:xfrm>
            <a:off x="2879338" y="733425"/>
            <a:ext cx="12529324" cy="1233976"/>
          </a:xfrm>
          <a:prstGeom prst="rect">
            <a:avLst/>
          </a:prstGeom>
        </p:spPr>
        <p:txBody>
          <a:bodyPr lIns="0" tIns="0" rIns="0" bIns="0" rtlCol="0" anchor="t">
            <a:spAutoFit/>
          </a:bodyPr>
          <a:lstStyle/>
          <a:p>
            <a:pPr marL="0" lvl="0" indent="0" algn="ctr">
              <a:lnSpc>
                <a:spcPts val="8635"/>
              </a:lnSpc>
              <a:spcBef>
                <a:spcPct val="0"/>
              </a:spcBef>
            </a:pPr>
            <a:r>
              <a:rPr lang="en-US" sz="6168" b="1" u="none" strike="noStrike">
                <a:solidFill>
                  <a:srgbClr val="2B598F"/>
                </a:solidFill>
                <a:latin typeface="Agrandir Bold"/>
                <a:ea typeface="Agrandir Bold"/>
                <a:cs typeface="Agrandir Bold"/>
                <a:sym typeface="Agrandir Bold"/>
              </a:rPr>
              <a:t>Kiến trúc hệ thống Client-Server</a:t>
            </a:r>
          </a:p>
        </p:txBody>
      </p:sp>
      <p:sp>
        <p:nvSpPr>
          <p:cNvPr id="4" name="Freeform 4"/>
          <p:cNvSpPr/>
          <p:nvPr/>
        </p:nvSpPr>
        <p:spPr>
          <a:xfrm>
            <a:off x="16641651" y="8524353"/>
            <a:ext cx="536800" cy="841665"/>
          </a:xfrm>
          <a:custGeom>
            <a:avLst/>
            <a:gdLst/>
            <a:ahLst/>
            <a:cxnLst/>
            <a:rect l="l" t="t" r="r" b="b"/>
            <a:pathLst>
              <a:path w="536800" h="841665">
                <a:moveTo>
                  <a:pt x="0" y="0"/>
                </a:moveTo>
                <a:lnTo>
                  <a:pt x="536800" y="0"/>
                </a:lnTo>
                <a:lnTo>
                  <a:pt x="536800" y="841665"/>
                </a:lnTo>
                <a:lnTo>
                  <a:pt x="0" y="841665"/>
                </a:lnTo>
                <a:lnTo>
                  <a:pt x="0" y="0"/>
                </a:lnTo>
                <a:close/>
              </a:path>
            </a:pathLst>
          </a:custGeom>
          <a:blipFill>
            <a:blip r:embed="rId3"/>
            <a:stretch>
              <a:fillRect/>
            </a:stretch>
          </a:blipFill>
          <a:ln cap="sq">
            <a:noFill/>
            <a:prstDash val="solid"/>
            <a:miter/>
          </a:ln>
        </p:spPr>
        <p:txBody>
          <a:bodyPr/>
          <a:lstStyle/>
          <a:p>
            <a:endParaRPr lang="en-US"/>
          </a:p>
        </p:txBody>
      </p:sp>
      <p:grpSp>
        <p:nvGrpSpPr>
          <p:cNvPr id="5" name="Group 5"/>
          <p:cNvGrpSpPr/>
          <p:nvPr/>
        </p:nvGrpSpPr>
        <p:grpSpPr>
          <a:xfrm>
            <a:off x="5900989" y="2643550"/>
            <a:ext cx="10863414" cy="2167257"/>
            <a:chOff x="0" y="0"/>
            <a:chExt cx="2866578" cy="571884"/>
          </a:xfrm>
        </p:grpSpPr>
        <p:sp>
          <p:nvSpPr>
            <p:cNvPr id="6" name="Freeform 6"/>
            <p:cNvSpPr/>
            <p:nvPr/>
          </p:nvSpPr>
          <p:spPr>
            <a:xfrm>
              <a:off x="0" y="0"/>
              <a:ext cx="2866578" cy="571884"/>
            </a:xfrm>
            <a:custGeom>
              <a:avLst/>
              <a:gdLst/>
              <a:ahLst/>
              <a:cxnLst/>
              <a:rect l="l" t="t" r="r" b="b"/>
              <a:pathLst>
                <a:path w="2866578" h="571884">
                  <a:moveTo>
                    <a:pt x="20667" y="0"/>
                  </a:moveTo>
                  <a:lnTo>
                    <a:pt x="2845911" y="0"/>
                  </a:lnTo>
                  <a:cubicBezTo>
                    <a:pt x="2857325" y="0"/>
                    <a:pt x="2866578" y="9253"/>
                    <a:pt x="2866578" y="20667"/>
                  </a:cubicBezTo>
                  <a:lnTo>
                    <a:pt x="2866578" y="551217"/>
                  </a:lnTo>
                  <a:cubicBezTo>
                    <a:pt x="2866578" y="556698"/>
                    <a:pt x="2864401" y="561955"/>
                    <a:pt x="2860525" y="565831"/>
                  </a:cubicBezTo>
                  <a:cubicBezTo>
                    <a:pt x="2856649" y="569706"/>
                    <a:pt x="2851392" y="571884"/>
                    <a:pt x="2845911" y="571884"/>
                  </a:cubicBezTo>
                  <a:lnTo>
                    <a:pt x="20667" y="571884"/>
                  </a:lnTo>
                  <a:cubicBezTo>
                    <a:pt x="15186" y="571884"/>
                    <a:pt x="9929" y="569706"/>
                    <a:pt x="6053" y="565831"/>
                  </a:cubicBezTo>
                  <a:cubicBezTo>
                    <a:pt x="2177" y="561955"/>
                    <a:pt x="0" y="556698"/>
                    <a:pt x="0" y="551217"/>
                  </a:cubicBezTo>
                  <a:lnTo>
                    <a:pt x="0" y="20667"/>
                  </a:lnTo>
                  <a:cubicBezTo>
                    <a:pt x="0" y="15186"/>
                    <a:pt x="2177" y="9929"/>
                    <a:pt x="6053" y="6053"/>
                  </a:cubicBezTo>
                  <a:cubicBezTo>
                    <a:pt x="9929" y="2177"/>
                    <a:pt x="15186" y="0"/>
                    <a:pt x="20667" y="0"/>
                  </a:cubicBezTo>
                  <a:close/>
                </a:path>
              </a:pathLst>
            </a:custGeom>
            <a:solidFill>
              <a:srgbClr val="FFFFFE"/>
            </a:solidFill>
            <a:ln w="19050" cap="rnd">
              <a:solidFill>
                <a:srgbClr val="181D2B"/>
              </a:solidFill>
              <a:prstDash val="solid"/>
              <a:round/>
            </a:ln>
          </p:spPr>
          <p:txBody>
            <a:bodyPr/>
            <a:lstStyle/>
            <a:p>
              <a:endParaRPr lang="en-US"/>
            </a:p>
          </p:txBody>
        </p:sp>
        <p:sp>
          <p:nvSpPr>
            <p:cNvPr id="7" name="TextBox 7"/>
            <p:cNvSpPr txBox="1"/>
            <p:nvPr/>
          </p:nvSpPr>
          <p:spPr>
            <a:xfrm>
              <a:off x="0" y="-38100"/>
              <a:ext cx="2866578" cy="609984"/>
            </a:xfrm>
            <a:prstGeom prst="rect">
              <a:avLst/>
            </a:prstGeom>
          </p:spPr>
          <p:txBody>
            <a:bodyPr lIns="50704" tIns="50704" rIns="50704" bIns="50704" rtlCol="0" anchor="ctr"/>
            <a:lstStyle/>
            <a:p>
              <a:pPr marL="0" lvl="0" indent="0" algn="ctr">
                <a:lnSpc>
                  <a:spcPts val="3135"/>
                </a:lnSpc>
              </a:pPr>
              <a:endParaRPr/>
            </a:p>
          </p:txBody>
        </p:sp>
      </p:grpSp>
      <p:sp>
        <p:nvSpPr>
          <p:cNvPr id="8" name="TextBox 8"/>
          <p:cNvSpPr txBox="1"/>
          <p:nvPr/>
        </p:nvSpPr>
        <p:spPr>
          <a:xfrm>
            <a:off x="6425537" y="3028011"/>
            <a:ext cx="9523548" cy="1406513"/>
          </a:xfrm>
          <a:prstGeom prst="rect">
            <a:avLst/>
          </a:prstGeom>
        </p:spPr>
        <p:txBody>
          <a:bodyPr lIns="0" tIns="0" rIns="0" bIns="0" rtlCol="0" anchor="t">
            <a:spAutoFit/>
          </a:bodyPr>
          <a:lstStyle/>
          <a:p>
            <a:pPr marL="0" lvl="0" indent="0" algn="l">
              <a:lnSpc>
                <a:spcPts val="2800"/>
              </a:lnSpc>
              <a:spcBef>
                <a:spcPct val="0"/>
              </a:spcBef>
            </a:pPr>
            <a:r>
              <a:rPr lang="en-US" sz="2000" u="none" strike="noStrike" spc="10">
                <a:solidFill>
                  <a:srgbClr val="181D2B"/>
                </a:solidFill>
                <a:latin typeface="Open Sauce"/>
                <a:ea typeface="Open Sauce"/>
                <a:cs typeface="Open Sauce"/>
                <a:sym typeface="Open Sauce"/>
              </a:rPr>
              <a:t>Client – SocketClient: Kết nối tới Server qua IP/Port, tính toán mã băm SHA-256 của tệp, chia file thành các chunk nhị phân (≥1MB), quản lý hàng đợi và điều phối đa luồng Worker Threads để truyền song song, hỗ trợ Pause/Resume/Stop và giới hạn tốc độ (throttling).</a:t>
            </a:r>
          </a:p>
        </p:txBody>
      </p:sp>
      <p:sp>
        <p:nvSpPr>
          <p:cNvPr id="9" name="Freeform 9"/>
          <p:cNvSpPr/>
          <p:nvPr/>
        </p:nvSpPr>
        <p:spPr>
          <a:xfrm>
            <a:off x="4998624" y="3615501"/>
            <a:ext cx="586747" cy="223355"/>
          </a:xfrm>
          <a:custGeom>
            <a:avLst/>
            <a:gdLst/>
            <a:ahLst/>
            <a:cxnLst/>
            <a:rect l="l" t="t" r="r" b="b"/>
            <a:pathLst>
              <a:path w="586747" h="223355">
                <a:moveTo>
                  <a:pt x="0" y="0"/>
                </a:moveTo>
                <a:lnTo>
                  <a:pt x="586747" y="0"/>
                </a:lnTo>
                <a:lnTo>
                  <a:pt x="586747" y="223355"/>
                </a:lnTo>
                <a:lnTo>
                  <a:pt x="0" y="223355"/>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rot="-9340067">
            <a:off x="-1270245" y="4699742"/>
            <a:ext cx="9385847" cy="2792289"/>
          </a:xfrm>
          <a:custGeom>
            <a:avLst/>
            <a:gdLst/>
            <a:ahLst/>
            <a:cxnLst/>
            <a:rect l="l" t="t" r="r" b="b"/>
            <a:pathLst>
              <a:path w="9385847" h="2792289">
                <a:moveTo>
                  <a:pt x="0" y="0"/>
                </a:moveTo>
                <a:lnTo>
                  <a:pt x="9385847" y="0"/>
                </a:lnTo>
                <a:lnTo>
                  <a:pt x="9385847" y="2792289"/>
                </a:lnTo>
                <a:lnTo>
                  <a:pt x="0" y="2792289"/>
                </a:lnTo>
                <a:lnTo>
                  <a:pt x="0" y="0"/>
                </a:lnTo>
                <a:close/>
              </a:path>
            </a:pathLst>
          </a:custGeom>
          <a:blipFill>
            <a:blip r:embed="rId5">
              <a:alphaModFix amt="64000"/>
            </a:blip>
            <a:stretch>
              <a:fillRect/>
            </a:stretch>
          </a:blipFill>
        </p:spPr>
        <p:txBody>
          <a:bodyPr/>
          <a:lstStyle/>
          <a:p>
            <a:endParaRPr lang="en-US"/>
          </a:p>
        </p:txBody>
      </p:sp>
      <p:grpSp>
        <p:nvGrpSpPr>
          <p:cNvPr id="11" name="Group 11"/>
          <p:cNvGrpSpPr/>
          <p:nvPr/>
        </p:nvGrpSpPr>
        <p:grpSpPr>
          <a:xfrm>
            <a:off x="5900989" y="5072908"/>
            <a:ext cx="10863414" cy="2167257"/>
            <a:chOff x="0" y="0"/>
            <a:chExt cx="2866578" cy="571884"/>
          </a:xfrm>
        </p:grpSpPr>
        <p:sp>
          <p:nvSpPr>
            <p:cNvPr id="12" name="Freeform 12"/>
            <p:cNvSpPr/>
            <p:nvPr/>
          </p:nvSpPr>
          <p:spPr>
            <a:xfrm>
              <a:off x="0" y="0"/>
              <a:ext cx="2866578" cy="571884"/>
            </a:xfrm>
            <a:custGeom>
              <a:avLst/>
              <a:gdLst/>
              <a:ahLst/>
              <a:cxnLst/>
              <a:rect l="l" t="t" r="r" b="b"/>
              <a:pathLst>
                <a:path w="2866578" h="571884">
                  <a:moveTo>
                    <a:pt x="20667" y="0"/>
                  </a:moveTo>
                  <a:lnTo>
                    <a:pt x="2845911" y="0"/>
                  </a:lnTo>
                  <a:cubicBezTo>
                    <a:pt x="2857325" y="0"/>
                    <a:pt x="2866578" y="9253"/>
                    <a:pt x="2866578" y="20667"/>
                  </a:cubicBezTo>
                  <a:lnTo>
                    <a:pt x="2866578" y="551217"/>
                  </a:lnTo>
                  <a:cubicBezTo>
                    <a:pt x="2866578" y="556698"/>
                    <a:pt x="2864401" y="561955"/>
                    <a:pt x="2860525" y="565831"/>
                  </a:cubicBezTo>
                  <a:cubicBezTo>
                    <a:pt x="2856649" y="569706"/>
                    <a:pt x="2851392" y="571884"/>
                    <a:pt x="2845911" y="571884"/>
                  </a:cubicBezTo>
                  <a:lnTo>
                    <a:pt x="20667" y="571884"/>
                  </a:lnTo>
                  <a:cubicBezTo>
                    <a:pt x="15186" y="571884"/>
                    <a:pt x="9929" y="569706"/>
                    <a:pt x="6053" y="565831"/>
                  </a:cubicBezTo>
                  <a:cubicBezTo>
                    <a:pt x="2177" y="561955"/>
                    <a:pt x="0" y="556698"/>
                    <a:pt x="0" y="551217"/>
                  </a:cubicBezTo>
                  <a:lnTo>
                    <a:pt x="0" y="20667"/>
                  </a:lnTo>
                  <a:cubicBezTo>
                    <a:pt x="0" y="15186"/>
                    <a:pt x="2177" y="9929"/>
                    <a:pt x="6053" y="6053"/>
                  </a:cubicBezTo>
                  <a:cubicBezTo>
                    <a:pt x="9929" y="2177"/>
                    <a:pt x="15186" y="0"/>
                    <a:pt x="20667" y="0"/>
                  </a:cubicBezTo>
                  <a:close/>
                </a:path>
              </a:pathLst>
            </a:custGeom>
            <a:solidFill>
              <a:srgbClr val="FFFFFE"/>
            </a:solidFill>
            <a:ln w="19050" cap="rnd">
              <a:solidFill>
                <a:srgbClr val="181D2B"/>
              </a:solidFill>
              <a:prstDash val="solid"/>
              <a:round/>
            </a:ln>
          </p:spPr>
          <p:txBody>
            <a:bodyPr/>
            <a:lstStyle/>
            <a:p>
              <a:endParaRPr lang="en-US"/>
            </a:p>
          </p:txBody>
        </p:sp>
        <p:sp>
          <p:nvSpPr>
            <p:cNvPr id="13" name="TextBox 13"/>
            <p:cNvSpPr txBox="1"/>
            <p:nvPr/>
          </p:nvSpPr>
          <p:spPr>
            <a:xfrm>
              <a:off x="0" y="-38100"/>
              <a:ext cx="2866578" cy="609984"/>
            </a:xfrm>
            <a:prstGeom prst="rect">
              <a:avLst/>
            </a:prstGeom>
          </p:spPr>
          <p:txBody>
            <a:bodyPr lIns="50704" tIns="50704" rIns="50704" bIns="50704" rtlCol="0" anchor="ctr"/>
            <a:lstStyle/>
            <a:p>
              <a:pPr marL="0" lvl="0" indent="0" algn="ctr">
                <a:lnSpc>
                  <a:spcPts val="3135"/>
                </a:lnSpc>
              </a:pPr>
              <a:endParaRPr/>
            </a:p>
          </p:txBody>
        </p:sp>
      </p:grpSp>
      <p:sp>
        <p:nvSpPr>
          <p:cNvPr id="14" name="TextBox 14"/>
          <p:cNvSpPr txBox="1"/>
          <p:nvPr/>
        </p:nvSpPr>
        <p:spPr>
          <a:xfrm>
            <a:off x="6425537" y="5457369"/>
            <a:ext cx="9523548" cy="1406513"/>
          </a:xfrm>
          <a:prstGeom prst="rect">
            <a:avLst/>
          </a:prstGeom>
        </p:spPr>
        <p:txBody>
          <a:bodyPr lIns="0" tIns="0" rIns="0" bIns="0" rtlCol="0" anchor="t">
            <a:spAutoFit/>
          </a:bodyPr>
          <a:lstStyle/>
          <a:p>
            <a:pPr marL="0" lvl="0" indent="0" algn="l">
              <a:lnSpc>
                <a:spcPts val="2800"/>
              </a:lnSpc>
              <a:spcBef>
                <a:spcPct val="0"/>
              </a:spcBef>
            </a:pPr>
            <a:r>
              <a:rPr lang="en-US" sz="2000" u="none" strike="noStrike" spc="10">
                <a:solidFill>
                  <a:srgbClr val="181D2B"/>
                </a:solidFill>
                <a:latin typeface="Open Sauce"/>
                <a:ea typeface="Open Sauce"/>
                <a:cs typeface="Open Sauce"/>
                <a:sym typeface="Open Sauce"/>
              </a:rPr>
              <a:t>Server – Lắng nghe cổng 8888, xử lý tuần tự các lệnh: AUTH_COMMAND (xác thực tài khoản), MULTIPART_INIT (khởi tạo phiên), MULTIPART_PART (nhận từng chunk, ghi file đồng bộ không xung đột), MULTIPART_FINALIZE (kiểm tra SHA-256, xác nhận toàn vẹn dữ liệu).</a:t>
            </a:r>
          </a:p>
        </p:txBody>
      </p:sp>
      <p:sp>
        <p:nvSpPr>
          <p:cNvPr id="15" name="Freeform 15"/>
          <p:cNvSpPr/>
          <p:nvPr/>
        </p:nvSpPr>
        <p:spPr>
          <a:xfrm>
            <a:off x="4998624" y="6044859"/>
            <a:ext cx="586747" cy="223355"/>
          </a:xfrm>
          <a:custGeom>
            <a:avLst/>
            <a:gdLst/>
            <a:ahLst/>
            <a:cxnLst/>
            <a:rect l="l" t="t" r="r" b="b"/>
            <a:pathLst>
              <a:path w="586747" h="223355">
                <a:moveTo>
                  <a:pt x="0" y="0"/>
                </a:moveTo>
                <a:lnTo>
                  <a:pt x="586747" y="0"/>
                </a:lnTo>
                <a:lnTo>
                  <a:pt x="586747" y="223355"/>
                </a:lnTo>
                <a:lnTo>
                  <a:pt x="0" y="223355"/>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9FEFF"/>
        </a:solidFill>
        <a:effectLst/>
      </p:bgPr>
    </p:bg>
    <p:spTree>
      <p:nvGrpSpPr>
        <p:cNvPr id="1" name=""/>
        <p:cNvGrpSpPr/>
        <p:nvPr/>
      </p:nvGrpSpPr>
      <p:grpSpPr>
        <a:xfrm>
          <a:off x="0" y="0"/>
          <a:ext cx="0" cy="0"/>
          <a:chOff x="0" y="0"/>
          <a:chExt cx="0" cy="0"/>
        </a:xfrm>
      </p:grpSpPr>
      <p:sp>
        <p:nvSpPr>
          <p:cNvPr id="2" name="Freeform 2"/>
          <p:cNvSpPr/>
          <p:nvPr/>
        </p:nvSpPr>
        <p:spPr>
          <a:xfrm rot="5400000">
            <a:off x="470615" y="3124077"/>
            <a:ext cx="7651050" cy="12268447"/>
          </a:xfrm>
          <a:custGeom>
            <a:avLst/>
            <a:gdLst/>
            <a:ahLst/>
            <a:cxnLst/>
            <a:rect l="l" t="t" r="r" b="b"/>
            <a:pathLst>
              <a:path w="7651050" h="12268447">
                <a:moveTo>
                  <a:pt x="0" y="0"/>
                </a:moveTo>
                <a:lnTo>
                  <a:pt x="7651049" y="0"/>
                </a:lnTo>
                <a:lnTo>
                  <a:pt x="7651049" y="12268446"/>
                </a:lnTo>
                <a:lnTo>
                  <a:pt x="0" y="12268446"/>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txBody>
          <a:bodyPr/>
          <a:lstStyle/>
          <a:p>
            <a:endParaRPr lang="en-US"/>
          </a:p>
        </p:txBody>
      </p:sp>
      <p:grpSp>
        <p:nvGrpSpPr>
          <p:cNvPr id="3" name="Group 3"/>
          <p:cNvGrpSpPr/>
          <p:nvPr/>
        </p:nvGrpSpPr>
        <p:grpSpPr>
          <a:xfrm>
            <a:off x="1028700" y="4218294"/>
            <a:ext cx="4802016" cy="4479196"/>
            <a:chOff x="0" y="0"/>
            <a:chExt cx="1267130" cy="1181946"/>
          </a:xfrm>
        </p:grpSpPr>
        <p:sp>
          <p:nvSpPr>
            <p:cNvPr id="4" name="Freeform 4"/>
            <p:cNvSpPr/>
            <p:nvPr/>
          </p:nvSpPr>
          <p:spPr>
            <a:xfrm>
              <a:off x="0" y="0"/>
              <a:ext cx="1267130" cy="1181946"/>
            </a:xfrm>
            <a:custGeom>
              <a:avLst/>
              <a:gdLst/>
              <a:ahLst/>
              <a:cxnLst/>
              <a:rect l="l" t="t" r="r" b="b"/>
              <a:pathLst>
                <a:path w="1267130" h="1181946">
                  <a:moveTo>
                    <a:pt x="46754" y="0"/>
                  </a:moveTo>
                  <a:lnTo>
                    <a:pt x="1220375" y="0"/>
                  </a:lnTo>
                  <a:cubicBezTo>
                    <a:pt x="1232775" y="0"/>
                    <a:pt x="1244667" y="4926"/>
                    <a:pt x="1253436" y="13694"/>
                  </a:cubicBezTo>
                  <a:cubicBezTo>
                    <a:pt x="1262204" y="22462"/>
                    <a:pt x="1267130" y="34354"/>
                    <a:pt x="1267130" y="46754"/>
                  </a:cubicBezTo>
                  <a:lnTo>
                    <a:pt x="1267130" y="1135191"/>
                  </a:lnTo>
                  <a:cubicBezTo>
                    <a:pt x="1267130" y="1147591"/>
                    <a:pt x="1262204" y="1159483"/>
                    <a:pt x="1253436" y="1168252"/>
                  </a:cubicBezTo>
                  <a:cubicBezTo>
                    <a:pt x="1244667" y="1177020"/>
                    <a:pt x="1232775" y="1181946"/>
                    <a:pt x="1220375" y="1181946"/>
                  </a:cubicBezTo>
                  <a:lnTo>
                    <a:pt x="46754" y="1181946"/>
                  </a:lnTo>
                  <a:cubicBezTo>
                    <a:pt x="34354" y="1181946"/>
                    <a:pt x="22462" y="1177020"/>
                    <a:pt x="13694" y="1168252"/>
                  </a:cubicBezTo>
                  <a:cubicBezTo>
                    <a:pt x="4926" y="1159483"/>
                    <a:pt x="0" y="1147591"/>
                    <a:pt x="0" y="1135191"/>
                  </a:cubicBezTo>
                  <a:lnTo>
                    <a:pt x="0" y="46754"/>
                  </a:lnTo>
                  <a:cubicBezTo>
                    <a:pt x="0" y="34354"/>
                    <a:pt x="4926" y="22462"/>
                    <a:pt x="13694" y="13694"/>
                  </a:cubicBezTo>
                  <a:cubicBezTo>
                    <a:pt x="22462" y="4926"/>
                    <a:pt x="34354" y="0"/>
                    <a:pt x="46754" y="0"/>
                  </a:cubicBezTo>
                  <a:close/>
                </a:path>
              </a:pathLst>
            </a:custGeom>
            <a:solidFill>
              <a:srgbClr val="FFFFFE"/>
            </a:solidFill>
            <a:ln w="19050" cap="rnd">
              <a:solidFill>
                <a:srgbClr val="181D2B"/>
              </a:solidFill>
              <a:prstDash val="solid"/>
              <a:round/>
            </a:ln>
          </p:spPr>
          <p:txBody>
            <a:bodyPr/>
            <a:lstStyle/>
            <a:p>
              <a:endParaRPr lang="en-US"/>
            </a:p>
          </p:txBody>
        </p:sp>
        <p:sp>
          <p:nvSpPr>
            <p:cNvPr id="5" name="TextBox 5"/>
            <p:cNvSpPr txBox="1"/>
            <p:nvPr/>
          </p:nvSpPr>
          <p:spPr>
            <a:xfrm>
              <a:off x="0" y="-38100"/>
              <a:ext cx="1267130" cy="1220046"/>
            </a:xfrm>
            <a:prstGeom prst="rect">
              <a:avLst/>
            </a:prstGeom>
          </p:spPr>
          <p:txBody>
            <a:bodyPr lIns="50704" tIns="50704" rIns="50704" bIns="50704" rtlCol="0" anchor="ctr"/>
            <a:lstStyle/>
            <a:p>
              <a:pPr marL="0" lvl="0" indent="0" algn="ctr">
                <a:lnSpc>
                  <a:spcPts val="3135"/>
                </a:lnSpc>
              </a:pPr>
              <a:endParaRPr/>
            </a:p>
          </p:txBody>
        </p:sp>
      </p:grpSp>
      <p:grpSp>
        <p:nvGrpSpPr>
          <p:cNvPr id="6" name="Group 6"/>
          <p:cNvGrpSpPr/>
          <p:nvPr/>
        </p:nvGrpSpPr>
        <p:grpSpPr>
          <a:xfrm>
            <a:off x="12457284" y="2085444"/>
            <a:ext cx="4802016" cy="4479196"/>
            <a:chOff x="0" y="0"/>
            <a:chExt cx="1267130" cy="1181946"/>
          </a:xfrm>
        </p:grpSpPr>
        <p:sp>
          <p:nvSpPr>
            <p:cNvPr id="7" name="Freeform 7"/>
            <p:cNvSpPr/>
            <p:nvPr/>
          </p:nvSpPr>
          <p:spPr>
            <a:xfrm>
              <a:off x="0" y="0"/>
              <a:ext cx="1267130" cy="1181946"/>
            </a:xfrm>
            <a:custGeom>
              <a:avLst/>
              <a:gdLst/>
              <a:ahLst/>
              <a:cxnLst/>
              <a:rect l="l" t="t" r="r" b="b"/>
              <a:pathLst>
                <a:path w="1267130" h="1181946">
                  <a:moveTo>
                    <a:pt x="46754" y="0"/>
                  </a:moveTo>
                  <a:lnTo>
                    <a:pt x="1220375" y="0"/>
                  </a:lnTo>
                  <a:cubicBezTo>
                    <a:pt x="1232775" y="0"/>
                    <a:pt x="1244667" y="4926"/>
                    <a:pt x="1253436" y="13694"/>
                  </a:cubicBezTo>
                  <a:cubicBezTo>
                    <a:pt x="1262204" y="22462"/>
                    <a:pt x="1267130" y="34354"/>
                    <a:pt x="1267130" y="46754"/>
                  </a:cubicBezTo>
                  <a:lnTo>
                    <a:pt x="1267130" y="1135191"/>
                  </a:lnTo>
                  <a:cubicBezTo>
                    <a:pt x="1267130" y="1147591"/>
                    <a:pt x="1262204" y="1159483"/>
                    <a:pt x="1253436" y="1168252"/>
                  </a:cubicBezTo>
                  <a:cubicBezTo>
                    <a:pt x="1244667" y="1177020"/>
                    <a:pt x="1232775" y="1181946"/>
                    <a:pt x="1220375" y="1181946"/>
                  </a:cubicBezTo>
                  <a:lnTo>
                    <a:pt x="46754" y="1181946"/>
                  </a:lnTo>
                  <a:cubicBezTo>
                    <a:pt x="34354" y="1181946"/>
                    <a:pt x="22462" y="1177020"/>
                    <a:pt x="13694" y="1168252"/>
                  </a:cubicBezTo>
                  <a:cubicBezTo>
                    <a:pt x="4926" y="1159483"/>
                    <a:pt x="0" y="1147591"/>
                    <a:pt x="0" y="1135191"/>
                  </a:cubicBezTo>
                  <a:lnTo>
                    <a:pt x="0" y="46754"/>
                  </a:lnTo>
                  <a:cubicBezTo>
                    <a:pt x="0" y="34354"/>
                    <a:pt x="4926" y="22462"/>
                    <a:pt x="13694" y="13694"/>
                  </a:cubicBezTo>
                  <a:cubicBezTo>
                    <a:pt x="22462" y="4926"/>
                    <a:pt x="34354" y="0"/>
                    <a:pt x="46754" y="0"/>
                  </a:cubicBezTo>
                  <a:close/>
                </a:path>
              </a:pathLst>
            </a:custGeom>
            <a:solidFill>
              <a:srgbClr val="FFFFFE"/>
            </a:solidFill>
            <a:ln w="19050" cap="rnd">
              <a:solidFill>
                <a:srgbClr val="181D2B"/>
              </a:solidFill>
              <a:prstDash val="solid"/>
              <a:round/>
            </a:ln>
          </p:spPr>
          <p:txBody>
            <a:bodyPr/>
            <a:lstStyle/>
            <a:p>
              <a:endParaRPr lang="en-US"/>
            </a:p>
          </p:txBody>
        </p:sp>
        <p:sp>
          <p:nvSpPr>
            <p:cNvPr id="8" name="TextBox 8"/>
            <p:cNvSpPr txBox="1"/>
            <p:nvPr/>
          </p:nvSpPr>
          <p:spPr>
            <a:xfrm>
              <a:off x="0" y="-38100"/>
              <a:ext cx="1267130" cy="1220046"/>
            </a:xfrm>
            <a:prstGeom prst="rect">
              <a:avLst/>
            </a:prstGeom>
          </p:spPr>
          <p:txBody>
            <a:bodyPr lIns="50704" tIns="50704" rIns="50704" bIns="50704" rtlCol="0" anchor="ctr"/>
            <a:lstStyle/>
            <a:p>
              <a:pPr marL="0" lvl="0" indent="0" algn="ctr">
                <a:lnSpc>
                  <a:spcPts val="3135"/>
                </a:lnSpc>
              </a:pPr>
              <a:endParaRPr/>
            </a:p>
          </p:txBody>
        </p:sp>
      </p:grpSp>
      <p:grpSp>
        <p:nvGrpSpPr>
          <p:cNvPr id="9" name="Group 9"/>
          <p:cNvGrpSpPr/>
          <p:nvPr/>
        </p:nvGrpSpPr>
        <p:grpSpPr>
          <a:xfrm>
            <a:off x="6742992" y="3151869"/>
            <a:ext cx="4802016" cy="4479196"/>
            <a:chOff x="0" y="0"/>
            <a:chExt cx="1267130" cy="1181946"/>
          </a:xfrm>
        </p:grpSpPr>
        <p:sp>
          <p:nvSpPr>
            <p:cNvPr id="10" name="Freeform 10"/>
            <p:cNvSpPr/>
            <p:nvPr/>
          </p:nvSpPr>
          <p:spPr>
            <a:xfrm>
              <a:off x="0" y="0"/>
              <a:ext cx="1267130" cy="1181946"/>
            </a:xfrm>
            <a:custGeom>
              <a:avLst/>
              <a:gdLst/>
              <a:ahLst/>
              <a:cxnLst/>
              <a:rect l="l" t="t" r="r" b="b"/>
              <a:pathLst>
                <a:path w="1267130" h="1181946">
                  <a:moveTo>
                    <a:pt x="46754" y="0"/>
                  </a:moveTo>
                  <a:lnTo>
                    <a:pt x="1220375" y="0"/>
                  </a:lnTo>
                  <a:cubicBezTo>
                    <a:pt x="1232775" y="0"/>
                    <a:pt x="1244667" y="4926"/>
                    <a:pt x="1253436" y="13694"/>
                  </a:cubicBezTo>
                  <a:cubicBezTo>
                    <a:pt x="1262204" y="22462"/>
                    <a:pt x="1267130" y="34354"/>
                    <a:pt x="1267130" y="46754"/>
                  </a:cubicBezTo>
                  <a:lnTo>
                    <a:pt x="1267130" y="1135191"/>
                  </a:lnTo>
                  <a:cubicBezTo>
                    <a:pt x="1267130" y="1147591"/>
                    <a:pt x="1262204" y="1159483"/>
                    <a:pt x="1253436" y="1168252"/>
                  </a:cubicBezTo>
                  <a:cubicBezTo>
                    <a:pt x="1244667" y="1177020"/>
                    <a:pt x="1232775" y="1181946"/>
                    <a:pt x="1220375" y="1181946"/>
                  </a:cubicBezTo>
                  <a:lnTo>
                    <a:pt x="46754" y="1181946"/>
                  </a:lnTo>
                  <a:cubicBezTo>
                    <a:pt x="34354" y="1181946"/>
                    <a:pt x="22462" y="1177020"/>
                    <a:pt x="13694" y="1168252"/>
                  </a:cubicBezTo>
                  <a:cubicBezTo>
                    <a:pt x="4926" y="1159483"/>
                    <a:pt x="0" y="1147591"/>
                    <a:pt x="0" y="1135191"/>
                  </a:cubicBezTo>
                  <a:lnTo>
                    <a:pt x="0" y="46754"/>
                  </a:lnTo>
                  <a:cubicBezTo>
                    <a:pt x="0" y="34354"/>
                    <a:pt x="4926" y="22462"/>
                    <a:pt x="13694" y="13694"/>
                  </a:cubicBezTo>
                  <a:cubicBezTo>
                    <a:pt x="22462" y="4926"/>
                    <a:pt x="34354" y="0"/>
                    <a:pt x="46754" y="0"/>
                  </a:cubicBezTo>
                  <a:close/>
                </a:path>
              </a:pathLst>
            </a:custGeom>
            <a:solidFill>
              <a:srgbClr val="FFFFFE"/>
            </a:solidFill>
            <a:ln w="19050" cap="rnd">
              <a:solidFill>
                <a:srgbClr val="181D2B"/>
              </a:solidFill>
              <a:prstDash val="solid"/>
              <a:round/>
            </a:ln>
          </p:spPr>
          <p:txBody>
            <a:bodyPr/>
            <a:lstStyle/>
            <a:p>
              <a:endParaRPr lang="en-US"/>
            </a:p>
          </p:txBody>
        </p:sp>
        <p:sp>
          <p:nvSpPr>
            <p:cNvPr id="11" name="TextBox 11"/>
            <p:cNvSpPr txBox="1"/>
            <p:nvPr/>
          </p:nvSpPr>
          <p:spPr>
            <a:xfrm>
              <a:off x="0" y="-38100"/>
              <a:ext cx="1267130" cy="1220046"/>
            </a:xfrm>
            <a:prstGeom prst="rect">
              <a:avLst/>
            </a:prstGeom>
          </p:spPr>
          <p:txBody>
            <a:bodyPr lIns="50704" tIns="50704" rIns="50704" bIns="50704" rtlCol="0" anchor="ctr"/>
            <a:lstStyle/>
            <a:p>
              <a:pPr marL="0" lvl="0" indent="0" algn="ctr">
                <a:lnSpc>
                  <a:spcPts val="3135"/>
                </a:lnSpc>
              </a:pPr>
              <a:endParaRPr/>
            </a:p>
          </p:txBody>
        </p:sp>
      </p:grpSp>
      <p:sp>
        <p:nvSpPr>
          <p:cNvPr id="12" name="TextBox 12"/>
          <p:cNvSpPr txBox="1"/>
          <p:nvPr/>
        </p:nvSpPr>
        <p:spPr>
          <a:xfrm>
            <a:off x="7156122" y="3460467"/>
            <a:ext cx="3784832" cy="439339"/>
          </a:xfrm>
          <a:prstGeom prst="rect">
            <a:avLst/>
          </a:prstGeom>
        </p:spPr>
        <p:txBody>
          <a:bodyPr lIns="0" tIns="0" rIns="0" bIns="0" rtlCol="0" anchor="t">
            <a:spAutoFit/>
          </a:bodyPr>
          <a:lstStyle/>
          <a:p>
            <a:pPr marL="0" lvl="0" indent="0" algn="l">
              <a:lnSpc>
                <a:spcPts val="3609"/>
              </a:lnSpc>
              <a:spcBef>
                <a:spcPct val="0"/>
              </a:spcBef>
            </a:pPr>
            <a:r>
              <a:rPr lang="en-US" sz="2578" b="1" spc="12">
                <a:solidFill>
                  <a:srgbClr val="181D2B"/>
                </a:solidFill>
                <a:latin typeface="Open Sauce Bold"/>
                <a:ea typeface="Open Sauce Bold"/>
                <a:cs typeface="Open Sauce Bold"/>
                <a:sym typeface="Open Sauce Bold"/>
              </a:rPr>
              <a:t>Bước 2</a:t>
            </a:r>
          </a:p>
        </p:txBody>
      </p:sp>
      <p:sp>
        <p:nvSpPr>
          <p:cNvPr id="13" name="TextBox 13"/>
          <p:cNvSpPr txBox="1"/>
          <p:nvPr/>
        </p:nvSpPr>
        <p:spPr>
          <a:xfrm>
            <a:off x="7156122" y="4029001"/>
            <a:ext cx="4011851" cy="3182031"/>
          </a:xfrm>
          <a:prstGeom prst="rect">
            <a:avLst/>
          </a:prstGeom>
        </p:spPr>
        <p:txBody>
          <a:bodyPr lIns="0" tIns="0" rIns="0" bIns="0" rtlCol="0" anchor="t">
            <a:spAutoFit/>
          </a:bodyPr>
          <a:lstStyle/>
          <a:p>
            <a:pPr marL="0" lvl="0" indent="0" algn="l">
              <a:lnSpc>
                <a:spcPts val="3637"/>
              </a:lnSpc>
              <a:spcBef>
                <a:spcPct val="0"/>
              </a:spcBef>
            </a:pPr>
            <a:r>
              <a:rPr lang="en-US" sz="2598" u="none" strike="noStrike" spc="12">
                <a:solidFill>
                  <a:srgbClr val="181D2B"/>
                </a:solidFill>
                <a:latin typeface="Open Sauce"/>
                <a:ea typeface="Open Sauce"/>
                <a:cs typeface="Open Sauce"/>
                <a:sym typeface="Open Sauce"/>
              </a:rPr>
              <a:t>Đăng nhập với AUTH_COMMAND: Client gửi thông tin xác thực (username/password hash PBKDF2), Server kiểm tra và cấp quyền truy cập phiên truyền tải.</a:t>
            </a:r>
          </a:p>
        </p:txBody>
      </p:sp>
      <p:sp>
        <p:nvSpPr>
          <p:cNvPr id="14" name="Freeform 14"/>
          <p:cNvSpPr/>
          <p:nvPr/>
        </p:nvSpPr>
        <p:spPr>
          <a:xfrm>
            <a:off x="16562179" y="8474217"/>
            <a:ext cx="697121" cy="784083"/>
          </a:xfrm>
          <a:custGeom>
            <a:avLst/>
            <a:gdLst/>
            <a:ahLst/>
            <a:cxnLst/>
            <a:rect l="l" t="t" r="r" b="b"/>
            <a:pathLst>
              <a:path w="697121" h="784083">
                <a:moveTo>
                  <a:pt x="0" y="0"/>
                </a:moveTo>
                <a:lnTo>
                  <a:pt x="697121" y="0"/>
                </a:lnTo>
                <a:lnTo>
                  <a:pt x="697121" y="784083"/>
                </a:lnTo>
                <a:lnTo>
                  <a:pt x="0" y="784083"/>
                </a:lnTo>
                <a:lnTo>
                  <a:pt x="0" y="0"/>
                </a:lnTo>
                <a:close/>
              </a:path>
            </a:pathLst>
          </a:custGeom>
          <a:blipFill>
            <a:blip>
              <a:extLst>
                <a:ext uri="{96DAC541-7B7A-43D3-8B79-37D633B846F1}">
                  <asvg:svgBlip xmlns:asvg="http://schemas.microsoft.com/office/drawing/2016/SVG/main" r:embed="rId3"/>
                </a:ext>
              </a:extLst>
            </a:blip>
            <a:stretch>
              <a:fillRect/>
            </a:stretch>
          </a:blipFill>
          <a:ln cap="sq">
            <a:noFill/>
            <a:prstDash val="solid"/>
            <a:miter/>
          </a:ln>
        </p:spPr>
        <p:txBody>
          <a:bodyPr/>
          <a:lstStyle/>
          <a:p>
            <a:endParaRPr lang="en-US"/>
          </a:p>
        </p:txBody>
      </p:sp>
      <p:sp>
        <p:nvSpPr>
          <p:cNvPr id="15" name="Freeform 15"/>
          <p:cNvSpPr/>
          <p:nvPr/>
        </p:nvSpPr>
        <p:spPr>
          <a:xfrm rot="1433494">
            <a:off x="4930128" y="2970811"/>
            <a:ext cx="1413072" cy="1379521"/>
          </a:xfrm>
          <a:custGeom>
            <a:avLst/>
            <a:gdLst/>
            <a:ahLst/>
            <a:cxnLst/>
            <a:rect l="l" t="t" r="r" b="b"/>
            <a:pathLst>
              <a:path w="1413072" h="1379521">
                <a:moveTo>
                  <a:pt x="0" y="0"/>
                </a:moveTo>
                <a:lnTo>
                  <a:pt x="1413072" y="0"/>
                </a:lnTo>
                <a:lnTo>
                  <a:pt x="1413072" y="1379521"/>
                </a:lnTo>
                <a:lnTo>
                  <a:pt x="0" y="137952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6" name="TextBox 16"/>
          <p:cNvSpPr txBox="1"/>
          <p:nvPr/>
        </p:nvSpPr>
        <p:spPr>
          <a:xfrm>
            <a:off x="1028700" y="781050"/>
            <a:ext cx="10516308" cy="1055011"/>
          </a:xfrm>
          <a:prstGeom prst="rect">
            <a:avLst/>
          </a:prstGeom>
        </p:spPr>
        <p:txBody>
          <a:bodyPr lIns="0" tIns="0" rIns="0" bIns="0" rtlCol="0" anchor="t">
            <a:spAutoFit/>
          </a:bodyPr>
          <a:lstStyle/>
          <a:p>
            <a:pPr marL="0" lvl="0" indent="0" algn="l">
              <a:lnSpc>
                <a:spcPts val="7474"/>
              </a:lnSpc>
              <a:spcBef>
                <a:spcPct val="0"/>
              </a:spcBef>
            </a:pPr>
            <a:r>
              <a:rPr lang="en-US" sz="5339" b="1" u="none" strike="noStrike">
                <a:solidFill>
                  <a:srgbClr val="2B598F"/>
                </a:solidFill>
                <a:latin typeface="Agrandir Bold"/>
                <a:ea typeface="Agrandir Bold"/>
                <a:cs typeface="Agrandir Bold"/>
                <a:sym typeface="Agrandir Bold"/>
              </a:rPr>
              <a:t>Luồng Hoạt Động Chương Trình</a:t>
            </a:r>
          </a:p>
        </p:txBody>
      </p:sp>
      <p:sp>
        <p:nvSpPr>
          <p:cNvPr id="17" name="Freeform 17"/>
          <p:cNvSpPr/>
          <p:nvPr/>
        </p:nvSpPr>
        <p:spPr>
          <a:xfrm rot="1433494">
            <a:off x="10649180" y="1938069"/>
            <a:ext cx="1413072" cy="1379521"/>
          </a:xfrm>
          <a:custGeom>
            <a:avLst/>
            <a:gdLst/>
            <a:ahLst/>
            <a:cxnLst/>
            <a:rect l="l" t="t" r="r" b="b"/>
            <a:pathLst>
              <a:path w="1413072" h="1379521">
                <a:moveTo>
                  <a:pt x="0" y="0"/>
                </a:moveTo>
                <a:lnTo>
                  <a:pt x="1413072" y="0"/>
                </a:lnTo>
                <a:lnTo>
                  <a:pt x="1413072" y="1379521"/>
                </a:lnTo>
                <a:lnTo>
                  <a:pt x="0" y="137952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8" name="TextBox 18"/>
          <p:cNvSpPr txBox="1"/>
          <p:nvPr/>
        </p:nvSpPr>
        <p:spPr>
          <a:xfrm>
            <a:off x="1441830" y="4526892"/>
            <a:ext cx="3784832" cy="439339"/>
          </a:xfrm>
          <a:prstGeom prst="rect">
            <a:avLst/>
          </a:prstGeom>
        </p:spPr>
        <p:txBody>
          <a:bodyPr lIns="0" tIns="0" rIns="0" bIns="0" rtlCol="0" anchor="t">
            <a:spAutoFit/>
          </a:bodyPr>
          <a:lstStyle/>
          <a:p>
            <a:pPr marL="0" lvl="0" indent="0" algn="l">
              <a:lnSpc>
                <a:spcPts val="3609"/>
              </a:lnSpc>
              <a:spcBef>
                <a:spcPct val="0"/>
              </a:spcBef>
            </a:pPr>
            <a:r>
              <a:rPr lang="en-US" sz="2578" b="1" spc="12">
                <a:solidFill>
                  <a:srgbClr val="181D2B"/>
                </a:solidFill>
                <a:latin typeface="Open Sauce Bold"/>
                <a:ea typeface="Open Sauce Bold"/>
                <a:cs typeface="Open Sauce Bold"/>
                <a:sym typeface="Open Sauce Bold"/>
              </a:rPr>
              <a:t>Bước 1</a:t>
            </a:r>
          </a:p>
        </p:txBody>
      </p:sp>
      <p:sp>
        <p:nvSpPr>
          <p:cNvPr id="19" name="TextBox 19"/>
          <p:cNvSpPr txBox="1"/>
          <p:nvPr/>
        </p:nvSpPr>
        <p:spPr>
          <a:xfrm>
            <a:off x="1441830" y="5095427"/>
            <a:ext cx="4011851" cy="2724831"/>
          </a:xfrm>
          <a:prstGeom prst="rect">
            <a:avLst/>
          </a:prstGeom>
        </p:spPr>
        <p:txBody>
          <a:bodyPr lIns="0" tIns="0" rIns="0" bIns="0" rtlCol="0" anchor="t">
            <a:spAutoFit/>
          </a:bodyPr>
          <a:lstStyle/>
          <a:p>
            <a:pPr marL="0" lvl="0" indent="0" algn="l">
              <a:lnSpc>
                <a:spcPts val="3637"/>
              </a:lnSpc>
              <a:spcBef>
                <a:spcPct val="0"/>
              </a:spcBef>
            </a:pPr>
            <a:r>
              <a:rPr lang="en-US" sz="2598" u="none" strike="noStrike" spc="12">
                <a:solidFill>
                  <a:srgbClr val="181D2B"/>
                </a:solidFill>
                <a:latin typeface="Open Sauce"/>
                <a:ea typeface="Open Sauce"/>
                <a:cs typeface="Open Sauce"/>
                <a:sym typeface="Open Sauce"/>
              </a:rPr>
              <a:t>Khởi động ứng dụng, thiết lập kết nối TCP tới Server (IP/Port). Xác thực phiên kết nối ban đầu trước khi thực hiện bất kỳ thao tác nào.</a:t>
            </a:r>
          </a:p>
        </p:txBody>
      </p:sp>
      <p:sp>
        <p:nvSpPr>
          <p:cNvPr id="20" name="TextBox 20"/>
          <p:cNvSpPr txBox="1"/>
          <p:nvPr/>
        </p:nvSpPr>
        <p:spPr>
          <a:xfrm>
            <a:off x="12870414" y="2394042"/>
            <a:ext cx="3784832" cy="439339"/>
          </a:xfrm>
          <a:prstGeom prst="rect">
            <a:avLst/>
          </a:prstGeom>
        </p:spPr>
        <p:txBody>
          <a:bodyPr lIns="0" tIns="0" rIns="0" bIns="0" rtlCol="0" anchor="t">
            <a:spAutoFit/>
          </a:bodyPr>
          <a:lstStyle/>
          <a:p>
            <a:pPr marL="0" lvl="0" indent="0" algn="l">
              <a:lnSpc>
                <a:spcPts val="3609"/>
              </a:lnSpc>
              <a:spcBef>
                <a:spcPct val="0"/>
              </a:spcBef>
            </a:pPr>
            <a:r>
              <a:rPr lang="en-US" sz="2578" b="1" spc="12">
                <a:solidFill>
                  <a:srgbClr val="181D2B"/>
                </a:solidFill>
                <a:latin typeface="Open Sauce Bold"/>
                <a:ea typeface="Open Sauce Bold"/>
                <a:cs typeface="Open Sauce Bold"/>
                <a:sym typeface="Open Sauce Bold"/>
              </a:rPr>
              <a:t>Bước 3</a:t>
            </a:r>
          </a:p>
        </p:txBody>
      </p:sp>
      <p:sp>
        <p:nvSpPr>
          <p:cNvPr id="21" name="TextBox 21"/>
          <p:cNvSpPr txBox="1"/>
          <p:nvPr/>
        </p:nvSpPr>
        <p:spPr>
          <a:xfrm>
            <a:off x="12870414" y="2962576"/>
            <a:ext cx="4011851" cy="3182031"/>
          </a:xfrm>
          <a:prstGeom prst="rect">
            <a:avLst/>
          </a:prstGeom>
        </p:spPr>
        <p:txBody>
          <a:bodyPr lIns="0" tIns="0" rIns="0" bIns="0" rtlCol="0" anchor="t">
            <a:spAutoFit/>
          </a:bodyPr>
          <a:lstStyle/>
          <a:p>
            <a:pPr marL="0" lvl="0" indent="0" algn="l">
              <a:lnSpc>
                <a:spcPts val="3637"/>
              </a:lnSpc>
              <a:spcBef>
                <a:spcPct val="0"/>
              </a:spcBef>
            </a:pPr>
            <a:r>
              <a:rPr lang="en-US" sz="2598" u="none" strike="noStrike" spc="12">
                <a:solidFill>
                  <a:srgbClr val="181D2B"/>
                </a:solidFill>
                <a:latin typeface="Open Sauce"/>
                <a:ea typeface="Open Sauce"/>
                <a:cs typeface="Open Sauce"/>
                <a:sym typeface="Open Sauce"/>
              </a:rPr>
              <a:t>Chọn file và đọc thông tin: Client duyệt hoặc kéo thả file, đọc kích thước, định dạng, tính toán mã băm SHA-256 để chuẩn bị cho quá trình truyền tải.</a:t>
            </a: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9FEFF"/>
        </a:solidFill>
        <a:effectLst/>
      </p:bgPr>
    </p:bg>
    <p:spTree>
      <p:nvGrpSpPr>
        <p:cNvPr id="1" name=""/>
        <p:cNvGrpSpPr/>
        <p:nvPr/>
      </p:nvGrpSpPr>
      <p:grpSpPr>
        <a:xfrm>
          <a:off x="0" y="0"/>
          <a:ext cx="0" cy="0"/>
          <a:chOff x="0" y="0"/>
          <a:chExt cx="0" cy="0"/>
        </a:xfrm>
      </p:grpSpPr>
      <p:sp>
        <p:nvSpPr>
          <p:cNvPr id="2" name="Freeform 2"/>
          <p:cNvSpPr/>
          <p:nvPr/>
        </p:nvSpPr>
        <p:spPr>
          <a:xfrm rot="5400000">
            <a:off x="470615" y="3124077"/>
            <a:ext cx="7651050" cy="12268447"/>
          </a:xfrm>
          <a:custGeom>
            <a:avLst/>
            <a:gdLst/>
            <a:ahLst/>
            <a:cxnLst/>
            <a:rect l="l" t="t" r="r" b="b"/>
            <a:pathLst>
              <a:path w="7651050" h="12268447">
                <a:moveTo>
                  <a:pt x="0" y="0"/>
                </a:moveTo>
                <a:lnTo>
                  <a:pt x="7651049" y="0"/>
                </a:lnTo>
                <a:lnTo>
                  <a:pt x="7651049" y="12268446"/>
                </a:lnTo>
                <a:lnTo>
                  <a:pt x="0" y="12268446"/>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txBody>
          <a:bodyPr/>
          <a:lstStyle/>
          <a:p>
            <a:endParaRPr lang="en-US"/>
          </a:p>
        </p:txBody>
      </p:sp>
      <p:grpSp>
        <p:nvGrpSpPr>
          <p:cNvPr id="3" name="Group 3"/>
          <p:cNvGrpSpPr/>
          <p:nvPr/>
        </p:nvGrpSpPr>
        <p:grpSpPr>
          <a:xfrm>
            <a:off x="1028700" y="4218294"/>
            <a:ext cx="4802016" cy="4479196"/>
            <a:chOff x="0" y="0"/>
            <a:chExt cx="1267130" cy="1181946"/>
          </a:xfrm>
        </p:grpSpPr>
        <p:sp>
          <p:nvSpPr>
            <p:cNvPr id="4" name="Freeform 4"/>
            <p:cNvSpPr/>
            <p:nvPr/>
          </p:nvSpPr>
          <p:spPr>
            <a:xfrm>
              <a:off x="0" y="0"/>
              <a:ext cx="1267130" cy="1181946"/>
            </a:xfrm>
            <a:custGeom>
              <a:avLst/>
              <a:gdLst/>
              <a:ahLst/>
              <a:cxnLst/>
              <a:rect l="l" t="t" r="r" b="b"/>
              <a:pathLst>
                <a:path w="1267130" h="1181946">
                  <a:moveTo>
                    <a:pt x="46754" y="0"/>
                  </a:moveTo>
                  <a:lnTo>
                    <a:pt x="1220375" y="0"/>
                  </a:lnTo>
                  <a:cubicBezTo>
                    <a:pt x="1232775" y="0"/>
                    <a:pt x="1244667" y="4926"/>
                    <a:pt x="1253436" y="13694"/>
                  </a:cubicBezTo>
                  <a:cubicBezTo>
                    <a:pt x="1262204" y="22462"/>
                    <a:pt x="1267130" y="34354"/>
                    <a:pt x="1267130" y="46754"/>
                  </a:cubicBezTo>
                  <a:lnTo>
                    <a:pt x="1267130" y="1135191"/>
                  </a:lnTo>
                  <a:cubicBezTo>
                    <a:pt x="1267130" y="1147591"/>
                    <a:pt x="1262204" y="1159483"/>
                    <a:pt x="1253436" y="1168252"/>
                  </a:cubicBezTo>
                  <a:cubicBezTo>
                    <a:pt x="1244667" y="1177020"/>
                    <a:pt x="1232775" y="1181946"/>
                    <a:pt x="1220375" y="1181946"/>
                  </a:cubicBezTo>
                  <a:lnTo>
                    <a:pt x="46754" y="1181946"/>
                  </a:lnTo>
                  <a:cubicBezTo>
                    <a:pt x="34354" y="1181946"/>
                    <a:pt x="22462" y="1177020"/>
                    <a:pt x="13694" y="1168252"/>
                  </a:cubicBezTo>
                  <a:cubicBezTo>
                    <a:pt x="4926" y="1159483"/>
                    <a:pt x="0" y="1147591"/>
                    <a:pt x="0" y="1135191"/>
                  </a:cubicBezTo>
                  <a:lnTo>
                    <a:pt x="0" y="46754"/>
                  </a:lnTo>
                  <a:cubicBezTo>
                    <a:pt x="0" y="34354"/>
                    <a:pt x="4926" y="22462"/>
                    <a:pt x="13694" y="13694"/>
                  </a:cubicBezTo>
                  <a:cubicBezTo>
                    <a:pt x="22462" y="4926"/>
                    <a:pt x="34354" y="0"/>
                    <a:pt x="46754" y="0"/>
                  </a:cubicBezTo>
                  <a:close/>
                </a:path>
              </a:pathLst>
            </a:custGeom>
            <a:solidFill>
              <a:srgbClr val="FFFFFE"/>
            </a:solidFill>
            <a:ln w="19050" cap="rnd">
              <a:solidFill>
                <a:srgbClr val="181D2B"/>
              </a:solidFill>
              <a:prstDash val="solid"/>
              <a:round/>
            </a:ln>
          </p:spPr>
          <p:txBody>
            <a:bodyPr/>
            <a:lstStyle/>
            <a:p>
              <a:endParaRPr lang="en-US"/>
            </a:p>
          </p:txBody>
        </p:sp>
        <p:sp>
          <p:nvSpPr>
            <p:cNvPr id="5" name="TextBox 5"/>
            <p:cNvSpPr txBox="1"/>
            <p:nvPr/>
          </p:nvSpPr>
          <p:spPr>
            <a:xfrm>
              <a:off x="0" y="-38100"/>
              <a:ext cx="1267130" cy="1220046"/>
            </a:xfrm>
            <a:prstGeom prst="rect">
              <a:avLst/>
            </a:prstGeom>
          </p:spPr>
          <p:txBody>
            <a:bodyPr lIns="50704" tIns="50704" rIns="50704" bIns="50704" rtlCol="0" anchor="ctr"/>
            <a:lstStyle/>
            <a:p>
              <a:pPr marL="0" lvl="0" indent="0" algn="ctr">
                <a:lnSpc>
                  <a:spcPts val="3135"/>
                </a:lnSpc>
              </a:pPr>
              <a:endParaRPr/>
            </a:p>
          </p:txBody>
        </p:sp>
      </p:grpSp>
      <p:grpSp>
        <p:nvGrpSpPr>
          <p:cNvPr id="6" name="Group 6"/>
          <p:cNvGrpSpPr/>
          <p:nvPr/>
        </p:nvGrpSpPr>
        <p:grpSpPr>
          <a:xfrm>
            <a:off x="12457284" y="2085444"/>
            <a:ext cx="4802016" cy="4479196"/>
            <a:chOff x="0" y="0"/>
            <a:chExt cx="1267130" cy="1181946"/>
          </a:xfrm>
        </p:grpSpPr>
        <p:sp>
          <p:nvSpPr>
            <p:cNvPr id="7" name="Freeform 7"/>
            <p:cNvSpPr/>
            <p:nvPr/>
          </p:nvSpPr>
          <p:spPr>
            <a:xfrm>
              <a:off x="0" y="0"/>
              <a:ext cx="1267130" cy="1181946"/>
            </a:xfrm>
            <a:custGeom>
              <a:avLst/>
              <a:gdLst/>
              <a:ahLst/>
              <a:cxnLst/>
              <a:rect l="l" t="t" r="r" b="b"/>
              <a:pathLst>
                <a:path w="1267130" h="1181946">
                  <a:moveTo>
                    <a:pt x="46754" y="0"/>
                  </a:moveTo>
                  <a:lnTo>
                    <a:pt x="1220375" y="0"/>
                  </a:lnTo>
                  <a:cubicBezTo>
                    <a:pt x="1232775" y="0"/>
                    <a:pt x="1244667" y="4926"/>
                    <a:pt x="1253436" y="13694"/>
                  </a:cubicBezTo>
                  <a:cubicBezTo>
                    <a:pt x="1262204" y="22462"/>
                    <a:pt x="1267130" y="34354"/>
                    <a:pt x="1267130" y="46754"/>
                  </a:cubicBezTo>
                  <a:lnTo>
                    <a:pt x="1267130" y="1135191"/>
                  </a:lnTo>
                  <a:cubicBezTo>
                    <a:pt x="1267130" y="1147591"/>
                    <a:pt x="1262204" y="1159483"/>
                    <a:pt x="1253436" y="1168252"/>
                  </a:cubicBezTo>
                  <a:cubicBezTo>
                    <a:pt x="1244667" y="1177020"/>
                    <a:pt x="1232775" y="1181946"/>
                    <a:pt x="1220375" y="1181946"/>
                  </a:cubicBezTo>
                  <a:lnTo>
                    <a:pt x="46754" y="1181946"/>
                  </a:lnTo>
                  <a:cubicBezTo>
                    <a:pt x="34354" y="1181946"/>
                    <a:pt x="22462" y="1177020"/>
                    <a:pt x="13694" y="1168252"/>
                  </a:cubicBezTo>
                  <a:cubicBezTo>
                    <a:pt x="4926" y="1159483"/>
                    <a:pt x="0" y="1147591"/>
                    <a:pt x="0" y="1135191"/>
                  </a:cubicBezTo>
                  <a:lnTo>
                    <a:pt x="0" y="46754"/>
                  </a:lnTo>
                  <a:cubicBezTo>
                    <a:pt x="0" y="34354"/>
                    <a:pt x="4926" y="22462"/>
                    <a:pt x="13694" y="13694"/>
                  </a:cubicBezTo>
                  <a:cubicBezTo>
                    <a:pt x="22462" y="4926"/>
                    <a:pt x="34354" y="0"/>
                    <a:pt x="46754" y="0"/>
                  </a:cubicBezTo>
                  <a:close/>
                </a:path>
              </a:pathLst>
            </a:custGeom>
            <a:solidFill>
              <a:srgbClr val="FFFFFE"/>
            </a:solidFill>
            <a:ln w="19050" cap="rnd">
              <a:solidFill>
                <a:srgbClr val="181D2B"/>
              </a:solidFill>
              <a:prstDash val="solid"/>
              <a:round/>
            </a:ln>
          </p:spPr>
          <p:txBody>
            <a:bodyPr/>
            <a:lstStyle/>
            <a:p>
              <a:endParaRPr lang="en-US"/>
            </a:p>
          </p:txBody>
        </p:sp>
        <p:sp>
          <p:nvSpPr>
            <p:cNvPr id="8" name="TextBox 8"/>
            <p:cNvSpPr txBox="1"/>
            <p:nvPr/>
          </p:nvSpPr>
          <p:spPr>
            <a:xfrm>
              <a:off x="0" y="-38100"/>
              <a:ext cx="1267130" cy="1220046"/>
            </a:xfrm>
            <a:prstGeom prst="rect">
              <a:avLst/>
            </a:prstGeom>
          </p:spPr>
          <p:txBody>
            <a:bodyPr lIns="50704" tIns="50704" rIns="50704" bIns="50704" rtlCol="0" anchor="ctr"/>
            <a:lstStyle/>
            <a:p>
              <a:pPr marL="0" lvl="0" indent="0" algn="ctr">
                <a:lnSpc>
                  <a:spcPts val="3135"/>
                </a:lnSpc>
              </a:pPr>
              <a:endParaRPr/>
            </a:p>
          </p:txBody>
        </p:sp>
      </p:grpSp>
      <p:grpSp>
        <p:nvGrpSpPr>
          <p:cNvPr id="9" name="Group 9"/>
          <p:cNvGrpSpPr/>
          <p:nvPr/>
        </p:nvGrpSpPr>
        <p:grpSpPr>
          <a:xfrm>
            <a:off x="6742992" y="3151869"/>
            <a:ext cx="4802016" cy="4479196"/>
            <a:chOff x="0" y="0"/>
            <a:chExt cx="1267130" cy="1181946"/>
          </a:xfrm>
        </p:grpSpPr>
        <p:sp>
          <p:nvSpPr>
            <p:cNvPr id="10" name="Freeform 10"/>
            <p:cNvSpPr/>
            <p:nvPr/>
          </p:nvSpPr>
          <p:spPr>
            <a:xfrm>
              <a:off x="0" y="0"/>
              <a:ext cx="1267130" cy="1181946"/>
            </a:xfrm>
            <a:custGeom>
              <a:avLst/>
              <a:gdLst/>
              <a:ahLst/>
              <a:cxnLst/>
              <a:rect l="l" t="t" r="r" b="b"/>
              <a:pathLst>
                <a:path w="1267130" h="1181946">
                  <a:moveTo>
                    <a:pt x="46754" y="0"/>
                  </a:moveTo>
                  <a:lnTo>
                    <a:pt x="1220375" y="0"/>
                  </a:lnTo>
                  <a:cubicBezTo>
                    <a:pt x="1232775" y="0"/>
                    <a:pt x="1244667" y="4926"/>
                    <a:pt x="1253436" y="13694"/>
                  </a:cubicBezTo>
                  <a:cubicBezTo>
                    <a:pt x="1262204" y="22462"/>
                    <a:pt x="1267130" y="34354"/>
                    <a:pt x="1267130" y="46754"/>
                  </a:cubicBezTo>
                  <a:lnTo>
                    <a:pt x="1267130" y="1135191"/>
                  </a:lnTo>
                  <a:cubicBezTo>
                    <a:pt x="1267130" y="1147591"/>
                    <a:pt x="1262204" y="1159483"/>
                    <a:pt x="1253436" y="1168252"/>
                  </a:cubicBezTo>
                  <a:cubicBezTo>
                    <a:pt x="1244667" y="1177020"/>
                    <a:pt x="1232775" y="1181946"/>
                    <a:pt x="1220375" y="1181946"/>
                  </a:cubicBezTo>
                  <a:lnTo>
                    <a:pt x="46754" y="1181946"/>
                  </a:lnTo>
                  <a:cubicBezTo>
                    <a:pt x="34354" y="1181946"/>
                    <a:pt x="22462" y="1177020"/>
                    <a:pt x="13694" y="1168252"/>
                  </a:cubicBezTo>
                  <a:cubicBezTo>
                    <a:pt x="4926" y="1159483"/>
                    <a:pt x="0" y="1147591"/>
                    <a:pt x="0" y="1135191"/>
                  </a:cubicBezTo>
                  <a:lnTo>
                    <a:pt x="0" y="46754"/>
                  </a:lnTo>
                  <a:cubicBezTo>
                    <a:pt x="0" y="34354"/>
                    <a:pt x="4926" y="22462"/>
                    <a:pt x="13694" y="13694"/>
                  </a:cubicBezTo>
                  <a:cubicBezTo>
                    <a:pt x="22462" y="4926"/>
                    <a:pt x="34354" y="0"/>
                    <a:pt x="46754" y="0"/>
                  </a:cubicBezTo>
                  <a:close/>
                </a:path>
              </a:pathLst>
            </a:custGeom>
            <a:solidFill>
              <a:srgbClr val="FFFFFE"/>
            </a:solidFill>
            <a:ln w="19050" cap="rnd">
              <a:solidFill>
                <a:srgbClr val="181D2B"/>
              </a:solidFill>
              <a:prstDash val="solid"/>
              <a:round/>
            </a:ln>
          </p:spPr>
          <p:txBody>
            <a:bodyPr/>
            <a:lstStyle/>
            <a:p>
              <a:endParaRPr lang="en-US"/>
            </a:p>
          </p:txBody>
        </p:sp>
        <p:sp>
          <p:nvSpPr>
            <p:cNvPr id="11" name="TextBox 11"/>
            <p:cNvSpPr txBox="1"/>
            <p:nvPr/>
          </p:nvSpPr>
          <p:spPr>
            <a:xfrm>
              <a:off x="0" y="-38100"/>
              <a:ext cx="1267130" cy="1220046"/>
            </a:xfrm>
            <a:prstGeom prst="rect">
              <a:avLst/>
            </a:prstGeom>
          </p:spPr>
          <p:txBody>
            <a:bodyPr lIns="50704" tIns="50704" rIns="50704" bIns="50704" rtlCol="0" anchor="ctr"/>
            <a:lstStyle/>
            <a:p>
              <a:pPr marL="0" lvl="0" indent="0" algn="ctr">
                <a:lnSpc>
                  <a:spcPts val="3135"/>
                </a:lnSpc>
              </a:pPr>
              <a:endParaRPr/>
            </a:p>
          </p:txBody>
        </p:sp>
      </p:grpSp>
      <p:sp>
        <p:nvSpPr>
          <p:cNvPr id="12" name="TextBox 12"/>
          <p:cNvSpPr txBox="1"/>
          <p:nvPr/>
        </p:nvSpPr>
        <p:spPr>
          <a:xfrm>
            <a:off x="7156122" y="3460467"/>
            <a:ext cx="3784832" cy="439293"/>
          </a:xfrm>
          <a:prstGeom prst="rect">
            <a:avLst/>
          </a:prstGeom>
        </p:spPr>
        <p:txBody>
          <a:bodyPr lIns="0" tIns="0" rIns="0" bIns="0" rtlCol="0" anchor="t">
            <a:spAutoFit/>
          </a:bodyPr>
          <a:lstStyle/>
          <a:p>
            <a:pPr marL="0" lvl="0" indent="0" algn="l">
              <a:lnSpc>
                <a:spcPts val="3611"/>
              </a:lnSpc>
              <a:spcBef>
                <a:spcPct val="0"/>
              </a:spcBef>
            </a:pPr>
            <a:r>
              <a:rPr lang="en-US" sz="2579" b="1" spc="12">
                <a:solidFill>
                  <a:srgbClr val="181D2B"/>
                </a:solidFill>
                <a:latin typeface="Open Sauce Bold"/>
                <a:ea typeface="Open Sauce Bold"/>
                <a:cs typeface="Open Sauce Bold"/>
                <a:sym typeface="Open Sauce Bold"/>
              </a:rPr>
              <a:t>Bước 5</a:t>
            </a:r>
          </a:p>
        </p:txBody>
      </p:sp>
      <p:sp>
        <p:nvSpPr>
          <p:cNvPr id="13" name="TextBox 13"/>
          <p:cNvSpPr txBox="1"/>
          <p:nvPr/>
        </p:nvSpPr>
        <p:spPr>
          <a:xfrm>
            <a:off x="7156122" y="4038526"/>
            <a:ext cx="4011851" cy="2381048"/>
          </a:xfrm>
          <a:prstGeom prst="rect">
            <a:avLst/>
          </a:prstGeom>
        </p:spPr>
        <p:txBody>
          <a:bodyPr lIns="0" tIns="0" rIns="0" bIns="0" rtlCol="0" anchor="t">
            <a:spAutoFit/>
          </a:bodyPr>
          <a:lstStyle/>
          <a:p>
            <a:pPr marL="0" lvl="0" indent="0" algn="l">
              <a:lnSpc>
                <a:spcPts val="3161"/>
              </a:lnSpc>
              <a:spcBef>
                <a:spcPct val="0"/>
              </a:spcBef>
            </a:pPr>
            <a:r>
              <a:rPr lang="en-US" sz="2257" u="none" strike="noStrike" spc="11">
                <a:solidFill>
                  <a:srgbClr val="181D2B"/>
                </a:solidFill>
                <a:latin typeface="Open Sauce"/>
                <a:ea typeface="Open Sauce"/>
                <a:cs typeface="Open Sauce"/>
                <a:sym typeface="Open Sauce"/>
              </a:rPr>
              <a:t>Chia file thành các chunk (≥1MB), tính offset từng phần và xếp vào hàng đợi truyền. Mỗi chunk mang header định danh để Server ghép lại đúng thứ tự.</a:t>
            </a:r>
          </a:p>
        </p:txBody>
      </p:sp>
      <p:sp>
        <p:nvSpPr>
          <p:cNvPr id="14" name="Freeform 14"/>
          <p:cNvSpPr/>
          <p:nvPr/>
        </p:nvSpPr>
        <p:spPr>
          <a:xfrm>
            <a:off x="16468688" y="8475620"/>
            <a:ext cx="881365" cy="946907"/>
          </a:xfrm>
          <a:custGeom>
            <a:avLst/>
            <a:gdLst/>
            <a:ahLst/>
            <a:cxnLst/>
            <a:rect l="l" t="t" r="r" b="b"/>
            <a:pathLst>
              <a:path w="881365" h="946907">
                <a:moveTo>
                  <a:pt x="0" y="0"/>
                </a:moveTo>
                <a:lnTo>
                  <a:pt x="881365" y="0"/>
                </a:lnTo>
                <a:lnTo>
                  <a:pt x="881365" y="946907"/>
                </a:lnTo>
                <a:lnTo>
                  <a:pt x="0" y="946907"/>
                </a:lnTo>
                <a:lnTo>
                  <a:pt x="0" y="0"/>
                </a:lnTo>
                <a:close/>
              </a:path>
            </a:pathLst>
          </a:custGeom>
          <a:blipFill>
            <a:blip r:embed="rId3"/>
            <a:stretch>
              <a:fillRect/>
            </a:stretch>
          </a:blipFill>
          <a:ln cap="sq">
            <a:noFill/>
            <a:prstDash val="solid"/>
            <a:miter/>
          </a:ln>
        </p:spPr>
        <p:txBody>
          <a:bodyPr/>
          <a:lstStyle/>
          <a:p>
            <a:endParaRPr lang="en-US"/>
          </a:p>
        </p:txBody>
      </p:sp>
      <p:sp>
        <p:nvSpPr>
          <p:cNvPr id="15" name="Freeform 15"/>
          <p:cNvSpPr/>
          <p:nvPr/>
        </p:nvSpPr>
        <p:spPr>
          <a:xfrm rot="1433494">
            <a:off x="4930128" y="2970811"/>
            <a:ext cx="1413072" cy="1379521"/>
          </a:xfrm>
          <a:custGeom>
            <a:avLst/>
            <a:gdLst/>
            <a:ahLst/>
            <a:cxnLst/>
            <a:rect l="l" t="t" r="r" b="b"/>
            <a:pathLst>
              <a:path w="1413072" h="1379521">
                <a:moveTo>
                  <a:pt x="0" y="0"/>
                </a:moveTo>
                <a:lnTo>
                  <a:pt x="1413072" y="0"/>
                </a:lnTo>
                <a:lnTo>
                  <a:pt x="1413072" y="1379521"/>
                </a:lnTo>
                <a:lnTo>
                  <a:pt x="0" y="137952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6" name="TextBox 16"/>
          <p:cNvSpPr txBox="1"/>
          <p:nvPr/>
        </p:nvSpPr>
        <p:spPr>
          <a:xfrm>
            <a:off x="1028700" y="781050"/>
            <a:ext cx="10516308" cy="1055011"/>
          </a:xfrm>
          <a:prstGeom prst="rect">
            <a:avLst/>
          </a:prstGeom>
        </p:spPr>
        <p:txBody>
          <a:bodyPr lIns="0" tIns="0" rIns="0" bIns="0" rtlCol="0" anchor="t">
            <a:spAutoFit/>
          </a:bodyPr>
          <a:lstStyle/>
          <a:p>
            <a:pPr marL="0" lvl="0" indent="0" algn="l">
              <a:lnSpc>
                <a:spcPts val="7474"/>
              </a:lnSpc>
              <a:spcBef>
                <a:spcPct val="0"/>
              </a:spcBef>
            </a:pPr>
            <a:r>
              <a:rPr lang="en-US" sz="5339" b="1" u="none" strike="noStrike">
                <a:solidFill>
                  <a:srgbClr val="2B598F"/>
                </a:solidFill>
                <a:latin typeface="Agrandir Bold"/>
                <a:ea typeface="Agrandir Bold"/>
                <a:cs typeface="Agrandir Bold"/>
                <a:sym typeface="Agrandir Bold"/>
              </a:rPr>
              <a:t>Luồng Hoạt Động Chương Trình</a:t>
            </a:r>
          </a:p>
        </p:txBody>
      </p:sp>
      <p:sp>
        <p:nvSpPr>
          <p:cNvPr id="17" name="Freeform 17"/>
          <p:cNvSpPr/>
          <p:nvPr/>
        </p:nvSpPr>
        <p:spPr>
          <a:xfrm rot="1433494">
            <a:off x="10649180" y="1938069"/>
            <a:ext cx="1413072" cy="1379521"/>
          </a:xfrm>
          <a:custGeom>
            <a:avLst/>
            <a:gdLst/>
            <a:ahLst/>
            <a:cxnLst/>
            <a:rect l="l" t="t" r="r" b="b"/>
            <a:pathLst>
              <a:path w="1413072" h="1379521">
                <a:moveTo>
                  <a:pt x="0" y="0"/>
                </a:moveTo>
                <a:lnTo>
                  <a:pt x="1413072" y="0"/>
                </a:lnTo>
                <a:lnTo>
                  <a:pt x="1413072" y="1379521"/>
                </a:lnTo>
                <a:lnTo>
                  <a:pt x="0" y="137952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8" name="TextBox 18"/>
          <p:cNvSpPr txBox="1"/>
          <p:nvPr/>
        </p:nvSpPr>
        <p:spPr>
          <a:xfrm>
            <a:off x="1441830" y="4526892"/>
            <a:ext cx="3784832" cy="439293"/>
          </a:xfrm>
          <a:prstGeom prst="rect">
            <a:avLst/>
          </a:prstGeom>
        </p:spPr>
        <p:txBody>
          <a:bodyPr lIns="0" tIns="0" rIns="0" bIns="0" rtlCol="0" anchor="t">
            <a:spAutoFit/>
          </a:bodyPr>
          <a:lstStyle/>
          <a:p>
            <a:pPr marL="0" lvl="0" indent="0" algn="l">
              <a:lnSpc>
                <a:spcPts val="3611"/>
              </a:lnSpc>
              <a:spcBef>
                <a:spcPct val="0"/>
              </a:spcBef>
            </a:pPr>
            <a:r>
              <a:rPr lang="en-US" sz="2579" b="1" spc="12">
                <a:solidFill>
                  <a:srgbClr val="181D2B"/>
                </a:solidFill>
                <a:latin typeface="Open Sauce Bold"/>
                <a:ea typeface="Open Sauce Bold"/>
                <a:cs typeface="Open Sauce Bold"/>
                <a:sym typeface="Open Sauce Bold"/>
              </a:rPr>
              <a:t>Bước 4</a:t>
            </a:r>
          </a:p>
        </p:txBody>
      </p:sp>
      <p:sp>
        <p:nvSpPr>
          <p:cNvPr id="19" name="TextBox 19"/>
          <p:cNvSpPr txBox="1"/>
          <p:nvPr/>
        </p:nvSpPr>
        <p:spPr>
          <a:xfrm>
            <a:off x="1441830" y="5104952"/>
            <a:ext cx="4011851" cy="2781098"/>
          </a:xfrm>
          <a:prstGeom prst="rect">
            <a:avLst/>
          </a:prstGeom>
        </p:spPr>
        <p:txBody>
          <a:bodyPr lIns="0" tIns="0" rIns="0" bIns="0" rtlCol="0" anchor="t">
            <a:spAutoFit/>
          </a:bodyPr>
          <a:lstStyle/>
          <a:p>
            <a:pPr marL="0" lvl="0" indent="0" algn="l">
              <a:lnSpc>
                <a:spcPts val="3161"/>
              </a:lnSpc>
              <a:spcBef>
                <a:spcPct val="0"/>
              </a:spcBef>
            </a:pPr>
            <a:r>
              <a:rPr lang="en-US" sz="2257" u="none" strike="noStrike" spc="11">
                <a:solidFill>
                  <a:srgbClr val="181D2B"/>
                </a:solidFill>
                <a:latin typeface="Open Sauce"/>
                <a:ea typeface="Open Sauce"/>
                <a:cs typeface="Open Sauce"/>
                <a:sym typeface="Open Sauce"/>
              </a:rPr>
              <a:t>Khởi tạo phiên truyền tải bằng lệnh MULTIPART_INIT. Client gửi thông tin file (tên, kích thước, SHA-256) lên Server để Server chuẩn bị tiếp nhận và cấp phát phiên làm việc.</a:t>
            </a:r>
          </a:p>
        </p:txBody>
      </p:sp>
      <p:sp>
        <p:nvSpPr>
          <p:cNvPr id="20" name="TextBox 20"/>
          <p:cNvSpPr txBox="1"/>
          <p:nvPr/>
        </p:nvSpPr>
        <p:spPr>
          <a:xfrm>
            <a:off x="12870414" y="2394042"/>
            <a:ext cx="3784832" cy="439293"/>
          </a:xfrm>
          <a:prstGeom prst="rect">
            <a:avLst/>
          </a:prstGeom>
        </p:spPr>
        <p:txBody>
          <a:bodyPr lIns="0" tIns="0" rIns="0" bIns="0" rtlCol="0" anchor="t">
            <a:spAutoFit/>
          </a:bodyPr>
          <a:lstStyle/>
          <a:p>
            <a:pPr marL="0" lvl="0" indent="0" algn="l">
              <a:lnSpc>
                <a:spcPts val="3611"/>
              </a:lnSpc>
              <a:spcBef>
                <a:spcPct val="0"/>
              </a:spcBef>
            </a:pPr>
            <a:r>
              <a:rPr lang="en-US" sz="2579" b="1" spc="12">
                <a:solidFill>
                  <a:srgbClr val="181D2B"/>
                </a:solidFill>
                <a:latin typeface="Open Sauce Bold"/>
                <a:ea typeface="Open Sauce Bold"/>
                <a:cs typeface="Open Sauce Bold"/>
                <a:sym typeface="Open Sauce Bold"/>
              </a:rPr>
              <a:t>Bước 6</a:t>
            </a:r>
          </a:p>
        </p:txBody>
      </p:sp>
      <p:sp>
        <p:nvSpPr>
          <p:cNvPr id="21" name="TextBox 21"/>
          <p:cNvSpPr txBox="1"/>
          <p:nvPr/>
        </p:nvSpPr>
        <p:spPr>
          <a:xfrm>
            <a:off x="12870414" y="2972101"/>
            <a:ext cx="4011851" cy="2781098"/>
          </a:xfrm>
          <a:prstGeom prst="rect">
            <a:avLst/>
          </a:prstGeom>
        </p:spPr>
        <p:txBody>
          <a:bodyPr lIns="0" tIns="0" rIns="0" bIns="0" rtlCol="0" anchor="t">
            <a:spAutoFit/>
          </a:bodyPr>
          <a:lstStyle/>
          <a:p>
            <a:pPr marL="0" lvl="0" indent="0" algn="l">
              <a:lnSpc>
                <a:spcPts val="3161"/>
              </a:lnSpc>
              <a:spcBef>
                <a:spcPct val="0"/>
              </a:spcBef>
            </a:pPr>
            <a:r>
              <a:rPr lang="en-US" sz="2257" u="none" strike="noStrike" spc="11">
                <a:solidFill>
                  <a:srgbClr val="181D2B"/>
                </a:solidFill>
                <a:latin typeface="Open Sauce"/>
                <a:ea typeface="Open Sauce"/>
                <a:cs typeface="Open Sauce"/>
                <a:sym typeface="Open Sauce"/>
              </a:rPr>
              <a:t>Truyền song song các chunk qua nhiều Worker Threads. Mỗi luồng xử lý độc lập, hỗ trợ Pause/Resume/Stop, giới hạn tốc độ và cập nhật ProgressBar theo thời gian thực.</a:t>
            </a: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9FEFF"/>
        </a:solidFill>
        <a:effectLst/>
      </p:bgPr>
    </p:bg>
    <p:spTree>
      <p:nvGrpSpPr>
        <p:cNvPr id="1" name=""/>
        <p:cNvGrpSpPr/>
        <p:nvPr/>
      </p:nvGrpSpPr>
      <p:grpSpPr>
        <a:xfrm>
          <a:off x="0" y="0"/>
          <a:ext cx="0" cy="0"/>
          <a:chOff x="0" y="0"/>
          <a:chExt cx="0" cy="0"/>
        </a:xfrm>
      </p:grpSpPr>
      <p:sp>
        <p:nvSpPr>
          <p:cNvPr id="2" name="Freeform 2"/>
          <p:cNvSpPr/>
          <p:nvPr/>
        </p:nvSpPr>
        <p:spPr>
          <a:xfrm>
            <a:off x="13299025" y="2121870"/>
            <a:ext cx="6095650" cy="6095650"/>
          </a:xfrm>
          <a:custGeom>
            <a:avLst/>
            <a:gdLst/>
            <a:ahLst/>
            <a:cxnLst/>
            <a:rect l="l" t="t" r="r" b="b"/>
            <a:pathLst>
              <a:path w="6095650" h="6095650">
                <a:moveTo>
                  <a:pt x="0" y="0"/>
                </a:moveTo>
                <a:lnTo>
                  <a:pt x="6095649" y="0"/>
                </a:lnTo>
                <a:lnTo>
                  <a:pt x="6095649" y="6095650"/>
                </a:lnTo>
                <a:lnTo>
                  <a:pt x="0" y="6095650"/>
                </a:lnTo>
                <a:lnTo>
                  <a:pt x="0" y="0"/>
                </a:lnTo>
                <a:close/>
              </a:path>
            </a:pathLst>
          </a:custGeom>
          <a:blipFill>
            <a:blip>
              <a:extLst>
                <a:ext uri="{96DAC541-7B7A-43D3-8B79-37D633B846F1}">
                  <asvg:svgBlip xmlns:asvg="http://schemas.microsoft.com/office/drawing/2016/SVG/main" r:embed="rId2"/>
                </a:ext>
              </a:extLst>
            </a:blip>
            <a:stretch>
              <a:fillRect l="-31923" t="-30783" r="-30783" b="-31923"/>
            </a:stretch>
          </a:blipFill>
          <a:ln cap="rnd">
            <a:noFill/>
            <a:prstDash val="solid"/>
            <a:round/>
          </a:ln>
        </p:spPr>
        <p:txBody>
          <a:bodyPr/>
          <a:lstStyle/>
          <a:p>
            <a:endParaRPr lang="en-US"/>
          </a:p>
        </p:txBody>
      </p:sp>
      <p:sp>
        <p:nvSpPr>
          <p:cNvPr id="3" name="Freeform 3"/>
          <p:cNvSpPr/>
          <p:nvPr/>
        </p:nvSpPr>
        <p:spPr>
          <a:xfrm rot="-1431390">
            <a:off x="13093142" y="4136727"/>
            <a:ext cx="4947525" cy="5004722"/>
          </a:xfrm>
          <a:custGeom>
            <a:avLst/>
            <a:gdLst/>
            <a:ahLst/>
            <a:cxnLst/>
            <a:rect l="l" t="t" r="r" b="b"/>
            <a:pathLst>
              <a:path w="4947525" h="5004722">
                <a:moveTo>
                  <a:pt x="0" y="0"/>
                </a:moveTo>
                <a:lnTo>
                  <a:pt x="4947525" y="0"/>
                </a:lnTo>
                <a:lnTo>
                  <a:pt x="4947525" y="5004722"/>
                </a:lnTo>
                <a:lnTo>
                  <a:pt x="0" y="5004722"/>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1786335" y="2669704"/>
            <a:ext cx="11867075" cy="2167257"/>
            <a:chOff x="0" y="0"/>
            <a:chExt cx="3131419" cy="571884"/>
          </a:xfrm>
        </p:grpSpPr>
        <p:sp>
          <p:nvSpPr>
            <p:cNvPr id="5" name="Freeform 5"/>
            <p:cNvSpPr/>
            <p:nvPr/>
          </p:nvSpPr>
          <p:spPr>
            <a:xfrm>
              <a:off x="0" y="0"/>
              <a:ext cx="3131419" cy="571884"/>
            </a:xfrm>
            <a:custGeom>
              <a:avLst/>
              <a:gdLst/>
              <a:ahLst/>
              <a:cxnLst/>
              <a:rect l="l" t="t" r="r" b="b"/>
              <a:pathLst>
                <a:path w="3131419" h="571884">
                  <a:moveTo>
                    <a:pt x="18919" y="0"/>
                  </a:moveTo>
                  <a:lnTo>
                    <a:pt x="3112500" y="0"/>
                  </a:lnTo>
                  <a:cubicBezTo>
                    <a:pt x="3122948" y="0"/>
                    <a:pt x="3131419" y="8470"/>
                    <a:pt x="3131419" y="18919"/>
                  </a:cubicBezTo>
                  <a:lnTo>
                    <a:pt x="3131419" y="552965"/>
                  </a:lnTo>
                  <a:cubicBezTo>
                    <a:pt x="3131419" y="557982"/>
                    <a:pt x="3129425" y="562794"/>
                    <a:pt x="3125877" y="566342"/>
                  </a:cubicBezTo>
                  <a:cubicBezTo>
                    <a:pt x="3122329" y="569891"/>
                    <a:pt x="3117517" y="571884"/>
                    <a:pt x="3112500" y="571884"/>
                  </a:cubicBezTo>
                  <a:lnTo>
                    <a:pt x="18919" y="571884"/>
                  </a:lnTo>
                  <a:cubicBezTo>
                    <a:pt x="13902" y="571884"/>
                    <a:pt x="9089" y="569891"/>
                    <a:pt x="5541" y="566342"/>
                  </a:cubicBezTo>
                  <a:cubicBezTo>
                    <a:pt x="1993" y="562794"/>
                    <a:pt x="0" y="557982"/>
                    <a:pt x="0" y="552965"/>
                  </a:cubicBezTo>
                  <a:lnTo>
                    <a:pt x="0" y="18919"/>
                  </a:lnTo>
                  <a:cubicBezTo>
                    <a:pt x="0" y="13902"/>
                    <a:pt x="1993" y="9089"/>
                    <a:pt x="5541" y="5541"/>
                  </a:cubicBezTo>
                  <a:cubicBezTo>
                    <a:pt x="9089" y="1993"/>
                    <a:pt x="13902" y="0"/>
                    <a:pt x="18919" y="0"/>
                  </a:cubicBezTo>
                  <a:close/>
                </a:path>
              </a:pathLst>
            </a:custGeom>
            <a:solidFill>
              <a:srgbClr val="FFFFFE"/>
            </a:solidFill>
            <a:ln w="19050" cap="rnd">
              <a:solidFill>
                <a:srgbClr val="181D2B"/>
              </a:solidFill>
              <a:prstDash val="solid"/>
              <a:round/>
            </a:ln>
          </p:spPr>
          <p:txBody>
            <a:bodyPr/>
            <a:lstStyle/>
            <a:p>
              <a:endParaRPr lang="en-US"/>
            </a:p>
          </p:txBody>
        </p:sp>
        <p:sp>
          <p:nvSpPr>
            <p:cNvPr id="6" name="TextBox 6"/>
            <p:cNvSpPr txBox="1"/>
            <p:nvPr/>
          </p:nvSpPr>
          <p:spPr>
            <a:xfrm>
              <a:off x="0" y="-38100"/>
              <a:ext cx="3131419" cy="609984"/>
            </a:xfrm>
            <a:prstGeom prst="rect">
              <a:avLst/>
            </a:prstGeom>
          </p:spPr>
          <p:txBody>
            <a:bodyPr lIns="50704" tIns="50704" rIns="50704" bIns="50704" rtlCol="0" anchor="ctr"/>
            <a:lstStyle/>
            <a:p>
              <a:pPr marL="0" lvl="0" indent="0" algn="ctr">
                <a:lnSpc>
                  <a:spcPts val="3135"/>
                </a:lnSpc>
              </a:pPr>
              <a:endParaRPr/>
            </a:p>
          </p:txBody>
        </p:sp>
      </p:grpSp>
      <p:sp>
        <p:nvSpPr>
          <p:cNvPr id="7" name="TextBox 7"/>
          <p:cNvSpPr txBox="1"/>
          <p:nvPr/>
        </p:nvSpPr>
        <p:spPr>
          <a:xfrm>
            <a:off x="2192121" y="3054164"/>
            <a:ext cx="11048426" cy="1106835"/>
          </a:xfrm>
          <a:prstGeom prst="rect">
            <a:avLst/>
          </a:prstGeom>
        </p:spPr>
        <p:txBody>
          <a:bodyPr lIns="0" tIns="0" rIns="0" bIns="0" rtlCol="0" anchor="t">
            <a:spAutoFit/>
          </a:bodyPr>
          <a:lstStyle/>
          <a:p>
            <a:pPr marL="0" lvl="0" indent="0" algn="l">
              <a:lnSpc>
                <a:spcPts val="2926"/>
              </a:lnSpc>
              <a:spcBef>
                <a:spcPct val="0"/>
              </a:spcBef>
            </a:pPr>
            <a:r>
              <a:rPr lang="en-US" sz="2090" u="none" strike="noStrike" spc="10">
                <a:solidFill>
                  <a:srgbClr val="181D2B"/>
                </a:solidFill>
                <a:latin typeface="Open Sauce"/>
                <a:ea typeface="Open Sauce"/>
                <a:cs typeface="Open Sauce"/>
                <a:sym typeface="Open Sauce"/>
              </a:rPr>
              <a:t>Bước 7 – Kiểm tra mã băm (MULTIPART_FINALIZE): Sau khi toàn bộ chunk được truyền, Client gửi lệnh MULTIPART_FINALIZE kèm giá trị SHA-256 đã tính trước. Server tổng hợp file, tính lại SHA-256 và so sánh với giá trị nhận được để xác thực toàn vẹn dữ liệu.</a:t>
            </a:r>
          </a:p>
        </p:txBody>
      </p:sp>
      <p:sp>
        <p:nvSpPr>
          <p:cNvPr id="8" name="Freeform 8"/>
          <p:cNvSpPr/>
          <p:nvPr/>
        </p:nvSpPr>
        <p:spPr>
          <a:xfrm>
            <a:off x="1028700" y="3661953"/>
            <a:ext cx="586747" cy="223355"/>
          </a:xfrm>
          <a:custGeom>
            <a:avLst/>
            <a:gdLst/>
            <a:ahLst/>
            <a:cxnLst/>
            <a:rect l="l" t="t" r="r" b="b"/>
            <a:pathLst>
              <a:path w="586747" h="223355">
                <a:moveTo>
                  <a:pt x="0" y="0"/>
                </a:moveTo>
                <a:lnTo>
                  <a:pt x="586747" y="0"/>
                </a:lnTo>
                <a:lnTo>
                  <a:pt x="586747" y="223356"/>
                </a:lnTo>
                <a:lnTo>
                  <a:pt x="0" y="22335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grpSp>
        <p:nvGrpSpPr>
          <p:cNvPr id="9" name="Group 9"/>
          <p:cNvGrpSpPr/>
          <p:nvPr/>
        </p:nvGrpSpPr>
        <p:grpSpPr>
          <a:xfrm>
            <a:off x="1786335" y="5096134"/>
            <a:ext cx="11867075" cy="2167257"/>
            <a:chOff x="0" y="0"/>
            <a:chExt cx="3131419" cy="571884"/>
          </a:xfrm>
        </p:grpSpPr>
        <p:sp>
          <p:nvSpPr>
            <p:cNvPr id="10" name="Freeform 10"/>
            <p:cNvSpPr/>
            <p:nvPr/>
          </p:nvSpPr>
          <p:spPr>
            <a:xfrm>
              <a:off x="0" y="0"/>
              <a:ext cx="3131419" cy="571884"/>
            </a:xfrm>
            <a:custGeom>
              <a:avLst/>
              <a:gdLst/>
              <a:ahLst/>
              <a:cxnLst/>
              <a:rect l="l" t="t" r="r" b="b"/>
              <a:pathLst>
                <a:path w="3131419" h="571884">
                  <a:moveTo>
                    <a:pt x="18919" y="0"/>
                  </a:moveTo>
                  <a:lnTo>
                    <a:pt x="3112500" y="0"/>
                  </a:lnTo>
                  <a:cubicBezTo>
                    <a:pt x="3122948" y="0"/>
                    <a:pt x="3131419" y="8470"/>
                    <a:pt x="3131419" y="18919"/>
                  </a:cubicBezTo>
                  <a:lnTo>
                    <a:pt x="3131419" y="552965"/>
                  </a:lnTo>
                  <a:cubicBezTo>
                    <a:pt x="3131419" y="557982"/>
                    <a:pt x="3129425" y="562794"/>
                    <a:pt x="3125877" y="566342"/>
                  </a:cubicBezTo>
                  <a:cubicBezTo>
                    <a:pt x="3122329" y="569891"/>
                    <a:pt x="3117517" y="571884"/>
                    <a:pt x="3112500" y="571884"/>
                  </a:cubicBezTo>
                  <a:lnTo>
                    <a:pt x="18919" y="571884"/>
                  </a:lnTo>
                  <a:cubicBezTo>
                    <a:pt x="13902" y="571884"/>
                    <a:pt x="9089" y="569891"/>
                    <a:pt x="5541" y="566342"/>
                  </a:cubicBezTo>
                  <a:cubicBezTo>
                    <a:pt x="1993" y="562794"/>
                    <a:pt x="0" y="557982"/>
                    <a:pt x="0" y="552965"/>
                  </a:cubicBezTo>
                  <a:lnTo>
                    <a:pt x="0" y="18919"/>
                  </a:lnTo>
                  <a:cubicBezTo>
                    <a:pt x="0" y="13902"/>
                    <a:pt x="1993" y="9089"/>
                    <a:pt x="5541" y="5541"/>
                  </a:cubicBezTo>
                  <a:cubicBezTo>
                    <a:pt x="9089" y="1993"/>
                    <a:pt x="13902" y="0"/>
                    <a:pt x="18919" y="0"/>
                  </a:cubicBezTo>
                  <a:close/>
                </a:path>
              </a:pathLst>
            </a:custGeom>
            <a:solidFill>
              <a:srgbClr val="FFFFFE"/>
            </a:solidFill>
            <a:ln w="19050" cap="rnd">
              <a:solidFill>
                <a:srgbClr val="181D2B"/>
              </a:solidFill>
              <a:prstDash val="solid"/>
              <a:round/>
            </a:ln>
          </p:spPr>
          <p:txBody>
            <a:bodyPr/>
            <a:lstStyle/>
            <a:p>
              <a:endParaRPr lang="en-US"/>
            </a:p>
          </p:txBody>
        </p:sp>
        <p:sp>
          <p:nvSpPr>
            <p:cNvPr id="11" name="TextBox 11"/>
            <p:cNvSpPr txBox="1"/>
            <p:nvPr/>
          </p:nvSpPr>
          <p:spPr>
            <a:xfrm>
              <a:off x="0" y="-38100"/>
              <a:ext cx="3131419" cy="609984"/>
            </a:xfrm>
            <a:prstGeom prst="rect">
              <a:avLst/>
            </a:prstGeom>
          </p:spPr>
          <p:txBody>
            <a:bodyPr lIns="50704" tIns="50704" rIns="50704" bIns="50704" rtlCol="0" anchor="ctr"/>
            <a:lstStyle/>
            <a:p>
              <a:pPr marL="0" lvl="0" indent="0" algn="ctr">
                <a:lnSpc>
                  <a:spcPts val="3135"/>
                </a:lnSpc>
              </a:pPr>
              <a:endParaRPr/>
            </a:p>
          </p:txBody>
        </p:sp>
      </p:grpSp>
      <p:sp>
        <p:nvSpPr>
          <p:cNvPr id="12" name="TextBox 12"/>
          <p:cNvSpPr txBox="1"/>
          <p:nvPr/>
        </p:nvSpPr>
        <p:spPr>
          <a:xfrm>
            <a:off x="2192121" y="5480595"/>
            <a:ext cx="11048426" cy="1106835"/>
          </a:xfrm>
          <a:prstGeom prst="rect">
            <a:avLst/>
          </a:prstGeom>
        </p:spPr>
        <p:txBody>
          <a:bodyPr lIns="0" tIns="0" rIns="0" bIns="0" rtlCol="0" anchor="t">
            <a:spAutoFit/>
          </a:bodyPr>
          <a:lstStyle/>
          <a:p>
            <a:pPr marL="0" lvl="0" indent="0" algn="l">
              <a:lnSpc>
                <a:spcPts val="2926"/>
              </a:lnSpc>
              <a:spcBef>
                <a:spcPct val="0"/>
              </a:spcBef>
            </a:pPr>
            <a:r>
              <a:rPr lang="en-US" sz="2090" u="none" strike="noStrike" spc="10">
                <a:solidFill>
                  <a:srgbClr val="181D2B"/>
                </a:solidFill>
                <a:latin typeface="Open Sauce"/>
                <a:ea typeface="Open Sauce"/>
                <a:cs typeface="Open Sauce"/>
                <a:sym typeface="Open Sauce"/>
              </a:rPr>
              <a:t>Bước 8 – Hoàn tất phiên truyền: Server xác nhận kết quả kiểm tra, lưu lịch sử upload vào SQLite/SQL Server. Client cập nhật trạng thái giao diện, giải phóng Worker Threads và đóng kết nối TCP Socket một cách an toàn.</a:t>
            </a:r>
          </a:p>
        </p:txBody>
      </p:sp>
      <p:sp>
        <p:nvSpPr>
          <p:cNvPr id="13" name="Freeform 13"/>
          <p:cNvSpPr/>
          <p:nvPr/>
        </p:nvSpPr>
        <p:spPr>
          <a:xfrm>
            <a:off x="1028700" y="6088384"/>
            <a:ext cx="586747" cy="223355"/>
          </a:xfrm>
          <a:custGeom>
            <a:avLst/>
            <a:gdLst/>
            <a:ahLst/>
            <a:cxnLst/>
            <a:rect l="l" t="t" r="r" b="b"/>
            <a:pathLst>
              <a:path w="586747" h="223355">
                <a:moveTo>
                  <a:pt x="0" y="0"/>
                </a:moveTo>
                <a:lnTo>
                  <a:pt x="586747" y="0"/>
                </a:lnTo>
                <a:lnTo>
                  <a:pt x="586747" y="223355"/>
                </a:lnTo>
                <a:lnTo>
                  <a:pt x="0" y="223355"/>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4" name="Freeform 14"/>
          <p:cNvSpPr/>
          <p:nvPr/>
        </p:nvSpPr>
        <p:spPr>
          <a:xfrm>
            <a:off x="925746" y="8589127"/>
            <a:ext cx="905477" cy="775870"/>
          </a:xfrm>
          <a:custGeom>
            <a:avLst/>
            <a:gdLst/>
            <a:ahLst/>
            <a:cxnLst/>
            <a:rect l="l" t="t" r="r" b="b"/>
            <a:pathLst>
              <a:path w="905477" h="775870">
                <a:moveTo>
                  <a:pt x="0" y="0"/>
                </a:moveTo>
                <a:lnTo>
                  <a:pt x="905478" y="0"/>
                </a:lnTo>
                <a:lnTo>
                  <a:pt x="905478" y="775869"/>
                </a:lnTo>
                <a:lnTo>
                  <a:pt x="0" y="775869"/>
                </a:lnTo>
                <a:lnTo>
                  <a:pt x="0" y="0"/>
                </a:lnTo>
                <a:close/>
              </a:path>
            </a:pathLst>
          </a:custGeom>
          <a:blipFill>
            <a:blip r:embed="rId5"/>
            <a:stretch>
              <a:fillRect/>
            </a:stretch>
          </a:blipFill>
          <a:ln cap="sq">
            <a:noFill/>
            <a:prstDash val="solid"/>
            <a:miter/>
          </a:ln>
        </p:spPr>
        <p:txBody>
          <a:bodyPr/>
          <a:lstStyle/>
          <a:p>
            <a:endParaRPr lang="en-US"/>
          </a:p>
        </p:txBody>
      </p:sp>
      <p:sp>
        <p:nvSpPr>
          <p:cNvPr id="15" name="TextBox 15"/>
          <p:cNvSpPr txBox="1"/>
          <p:nvPr/>
        </p:nvSpPr>
        <p:spPr>
          <a:xfrm>
            <a:off x="1028700" y="723900"/>
            <a:ext cx="12270325" cy="1300816"/>
          </a:xfrm>
          <a:prstGeom prst="rect">
            <a:avLst/>
          </a:prstGeom>
        </p:spPr>
        <p:txBody>
          <a:bodyPr lIns="0" tIns="0" rIns="0" bIns="0" rtlCol="0" anchor="t">
            <a:spAutoFit/>
          </a:bodyPr>
          <a:lstStyle/>
          <a:p>
            <a:pPr marL="0" lvl="0" indent="0" algn="l">
              <a:lnSpc>
                <a:spcPts val="9151"/>
              </a:lnSpc>
              <a:spcBef>
                <a:spcPct val="0"/>
              </a:spcBef>
            </a:pPr>
            <a:r>
              <a:rPr lang="en-US" sz="6536" b="1" u="none" strike="noStrike">
                <a:solidFill>
                  <a:srgbClr val="2B598F"/>
                </a:solidFill>
                <a:latin typeface="Agrandir Bold"/>
                <a:ea typeface="Agrandir Bold"/>
                <a:cs typeface="Agrandir Bold"/>
                <a:sym typeface="Agrandir Bold"/>
              </a:rPr>
              <a:t>Luồng hoạt động chương trình</a:t>
            </a: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9FEFF"/>
        </a:solidFill>
        <a:effectLst/>
      </p:bgPr>
    </p:bg>
    <p:spTree>
      <p:nvGrpSpPr>
        <p:cNvPr id="1" name=""/>
        <p:cNvGrpSpPr/>
        <p:nvPr/>
      </p:nvGrpSpPr>
      <p:grpSpPr>
        <a:xfrm>
          <a:off x="0" y="0"/>
          <a:ext cx="0" cy="0"/>
          <a:chOff x="0" y="0"/>
          <a:chExt cx="0" cy="0"/>
        </a:xfrm>
      </p:grpSpPr>
      <p:sp>
        <p:nvSpPr>
          <p:cNvPr id="2" name="Freeform 2"/>
          <p:cNvSpPr/>
          <p:nvPr/>
        </p:nvSpPr>
        <p:spPr>
          <a:xfrm rot="-10800000">
            <a:off x="-2101772" y="5584771"/>
            <a:ext cx="5894744" cy="6562974"/>
          </a:xfrm>
          <a:custGeom>
            <a:avLst/>
            <a:gdLst/>
            <a:ahLst/>
            <a:cxnLst/>
            <a:rect l="l" t="t" r="r" b="b"/>
            <a:pathLst>
              <a:path w="5894744" h="6562974">
                <a:moveTo>
                  <a:pt x="0" y="0"/>
                </a:moveTo>
                <a:lnTo>
                  <a:pt x="5894744" y="0"/>
                </a:lnTo>
                <a:lnTo>
                  <a:pt x="5894744" y="6562975"/>
                </a:lnTo>
                <a:lnTo>
                  <a:pt x="0" y="6562975"/>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txBody>
          <a:bodyPr/>
          <a:lstStyle/>
          <a:p>
            <a:endParaRPr lang="en-US"/>
          </a:p>
        </p:txBody>
      </p:sp>
      <p:sp>
        <p:nvSpPr>
          <p:cNvPr id="3" name="Freeform 3"/>
          <p:cNvSpPr/>
          <p:nvPr/>
        </p:nvSpPr>
        <p:spPr>
          <a:xfrm>
            <a:off x="1016958" y="2909464"/>
            <a:ext cx="7437959" cy="5513387"/>
          </a:xfrm>
          <a:custGeom>
            <a:avLst/>
            <a:gdLst/>
            <a:ahLst/>
            <a:cxnLst/>
            <a:rect l="l" t="t" r="r" b="b"/>
            <a:pathLst>
              <a:path w="7437959" h="5513387">
                <a:moveTo>
                  <a:pt x="0" y="0"/>
                </a:moveTo>
                <a:lnTo>
                  <a:pt x="7437959" y="0"/>
                </a:lnTo>
                <a:lnTo>
                  <a:pt x="7437959" y="5513387"/>
                </a:lnTo>
                <a:lnTo>
                  <a:pt x="0" y="5513387"/>
                </a:lnTo>
                <a:lnTo>
                  <a:pt x="0" y="0"/>
                </a:lnTo>
                <a:close/>
              </a:path>
            </a:pathLst>
          </a:custGeom>
          <a:blipFill>
            <a:blip r:embed="rId3"/>
            <a:stretch>
              <a:fillRect/>
            </a:stretch>
          </a:blipFill>
          <a:ln cap="sq">
            <a:noFill/>
            <a:prstDash val="solid"/>
            <a:miter/>
          </a:ln>
        </p:spPr>
        <p:txBody>
          <a:bodyPr/>
          <a:lstStyle/>
          <a:p>
            <a:endParaRPr lang="en-US"/>
          </a:p>
        </p:txBody>
      </p:sp>
      <p:sp>
        <p:nvSpPr>
          <p:cNvPr id="4" name="Freeform 4"/>
          <p:cNvSpPr/>
          <p:nvPr/>
        </p:nvSpPr>
        <p:spPr>
          <a:xfrm>
            <a:off x="16501719" y="8593507"/>
            <a:ext cx="818474" cy="770691"/>
          </a:xfrm>
          <a:custGeom>
            <a:avLst/>
            <a:gdLst/>
            <a:ahLst/>
            <a:cxnLst/>
            <a:rect l="l" t="t" r="r" b="b"/>
            <a:pathLst>
              <a:path w="818474" h="770691">
                <a:moveTo>
                  <a:pt x="0" y="0"/>
                </a:moveTo>
                <a:lnTo>
                  <a:pt x="818474" y="0"/>
                </a:lnTo>
                <a:lnTo>
                  <a:pt x="818474" y="770691"/>
                </a:lnTo>
                <a:lnTo>
                  <a:pt x="0" y="770691"/>
                </a:lnTo>
                <a:lnTo>
                  <a:pt x="0" y="0"/>
                </a:lnTo>
                <a:close/>
              </a:path>
            </a:pathLst>
          </a:custGeom>
          <a:blipFill>
            <a:blip r:embed="rId4"/>
            <a:stretch>
              <a:fillRect/>
            </a:stretch>
          </a:blipFill>
          <a:ln cap="sq">
            <a:noFill/>
            <a:prstDash val="solid"/>
            <a:miter/>
          </a:ln>
        </p:spPr>
        <p:txBody>
          <a:bodyPr/>
          <a:lstStyle/>
          <a:p>
            <a:endParaRPr lang="en-US"/>
          </a:p>
        </p:txBody>
      </p:sp>
      <p:grpSp>
        <p:nvGrpSpPr>
          <p:cNvPr id="5" name="Group 5"/>
          <p:cNvGrpSpPr/>
          <p:nvPr/>
        </p:nvGrpSpPr>
        <p:grpSpPr>
          <a:xfrm>
            <a:off x="8746855" y="2438444"/>
            <a:ext cx="8871993" cy="2279527"/>
            <a:chOff x="0" y="0"/>
            <a:chExt cx="2341093" cy="601509"/>
          </a:xfrm>
        </p:grpSpPr>
        <p:sp>
          <p:nvSpPr>
            <p:cNvPr id="6" name="Freeform 6"/>
            <p:cNvSpPr/>
            <p:nvPr/>
          </p:nvSpPr>
          <p:spPr>
            <a:xfrm>
              <a:off x="0" y="0"/>
              <a:ext cx="2341093" cy="601509"/>
            </a:xfrm>
            <a:custGeom>
              <a:avLst/>
              <a:gdLst/>
              <a:ahLst/>
              <a:cxnLst/>
              <a:rect l="l" t="t" r="r" b="b"/>
              <a:pathLst>
                <a:path w="2341093" h="601509">
                  <a:moveTo>
                    <a:pt x="25306" y="0"/>
                  </a:moveTo>
                  <a:lnTo>
                    <a:pt x="2315787" y="0"/>
                  </a:lnTo>
                  <a:cubicBezTo>
                    <a:pt x="2322498" y="0"/>
                    <a:pt x="2328935" y="2666"/>
                    <a:pt x="2333681" y="7412"/>
                  </a:cubicBezTo>
                  <a:cubicBezTo>
                    <a:pt x="2338427" y="12158"/>
                    <a:pt x="2341093" y="18595"/>
                    <a:pt x="2341093" y="25306"/>
                  </a:cubicBezTo>
                  <a:lnTo>
                    <a:pt x="2341093" y="576203"/>
                  </a:lnTo>
                  <a:cubicBezTo>
                    <a:pt x="2341093" y="582914"/>
                    <a:pt x="2338427" y="589351"/>
                    <a:pt x="2333681" y="594097"/>
                  </a:cubicBezTo>
                  <a:cubicBezTo>
                    <a:pt x="2328935" y="598843"/>
                    <a:pt x="2322498" y="601509"/>
                    <a:pt x="2315787" y="601509"/>
                  </a:cubicBezTo>
                  <a:lnTo>
                    <a:pt x="25306" y="601509"/>
                  </a:lnTo>
                  <a:cubicBezTo>
                    <a:pt x="18595" y="601509"/>
                    <a:pt x="12158" y="598843"/>
                    <a:pt x="7412" y="594097"/>
                  </a:cubicBezTo>
                  <a:cubicBezTo>
                    <a:pt x="2666" y="589351"/>
                    <a:pt x="0" y="582914"/>
                    <a:pt x="0" y="576203"/>
                  </a:cubicBezTo>
                  <a:lnTo>
                    <a:pt x="0" y="25306"/>
                  </a:lnTo>
                  <a:cubicBezTo>
                    <a:pt x="0" y="18595"/>
                    <a:pt x="2666" y="12158"/>
                    <a:pt x="7412" y="7412"/>
                  </a:cubicBezTo>
                  <a:cubicBezTo>
                    <a:pt x="12158" y="2666"/>
                    <a:pt x="18595" y="0"/>
                    <a:pt x="25306" y="0"/>
                  </a:cubicBezTo>
                  <a:close/>
                </a:path>
              </a:pathLst>
            </a:custGeom>
            <a:solidFill>
              <a:srgbClr val="FFFFFE"/>
            </a:solidFill>
            <a:ln w="19050" cap="rnd">
              <a:solidFill>
                <a:srgbClr val="181D2B"/>
              </a:solidFill>
              <a:prstDash val="solid"/>
              <a:round/>
            </a:ln>
          </p:spPr>
          <p:txBody>
            <a:bodyPr/>
            <a:lstStyle/>
            <a:p>
              <a:endParaRPr lang="en-US"/>
            </a:p>
          </p:txBody>
        </p:sp>
        <p:sp>
          <p:nvSpPr>
            <p:cNvPr id="7" name="TextBox 7"/>
            <p:cNvSpPr txBox="1"/>
            <p:nvPr/>
          </p:nvSpPr>
          <p:spPr>
            <a:xfrm>
              <a:off x="0" y="-38100"/>
              <a:ext cx="2341093" cy="639609"/>
            </a:xfrm>
            <a:prstGeom prst="rect">
              <a:avLst/>
            </a:prstGeom>
          </p:spPr>
          <p:txBody>
            <a:bodyPr lIns="50704" tIns="50704" rIns="50704" bIns="50704" rtlCol="0" anchor="ctr"/>
            <a:lstStyle/>
            <a:p>
              <a:pPr marL="0" lvl="0" indent="0" algn="ctr">
                <a:lnSpc>
                  <a:spcPts val="3135"/>
                </a:lnSpc>
              </a:pPr>
              <a:endParaRPr/>
            </a:p>
          </p:txBody>
        </p:sp>
      </p:grpSp>
      <p:grpSp>
        <p:nvGrpSpPr>
          <p:cNvPr id="8" name="Group 8"/>
          <p:cNvGrpSpPr/>
          <p:nvPr/>
        </p:nvGrpSpPr>
        <p:grpSpPr>
          <a:xfrm>
            <a:off x="8746855" y="4887152"/>
            <a:ext cx="8871993" cy="2458051"/>
            <a:chOff x="0" y="0"/>
            <a:chExt cx="2341093" cy="648617"/>
          </a:xfrm>
        </p:grpSpPr>
        <p:sp>
          <p:nvSpPr>
            <p:cNvPr id="9" name="Freeform 9"/>
            <p:cNvSpPr/>
            <p:nvPr/>
          </p:nvSpPr>
          <p:spPr>
            <a:xfrm>
              <a:off x="0" y="0"/>
              <a:ext cx="2341093" cy="648617"/>
            </a:xfrm>
            <a:custGeom>
              <a:avLst/>
              <a:gdLst/>
              <a:ahLst/>
              <a:cxnLst/>
              <a:rect l="l" t="t" r="r" b="b"/>
              <a:pathLst>
                <a:path w="2341093" h="648617">
                  <a:moveTo>
                    <a:pt x="25306" y="0"/>
                  </a:moveTo>
                  <a:lnTo>
                    <a:pt x="2315787" y="0"/>
                  </a:lnTo>
                  <a:cubicBezTo>
                    <a:pt x="2322498" y="0"/>
                    <a:pt x="2328935" y="2666"/>
                    <a:pt x="2333681" y="7412"/>
                  </a:cubicBezTo>
                  <a:cubicBezTo>
                    <a:pt x="2338427" y="12158"/>
                    <a:pt x="2341093" y="18595"/>
                    <a:pt x="2341093" y="25306"/>
                  </a:cubicBezTo>
                  <a:lnTo>
                    <a:pt x="2341093" y="623311"/>
                  </a:lnTo>
                  <a:cubicBezTo>
                    <a:pt x="2341093" y="630022"/>
                    <a:pt x="2338427" y="636459"/>
                    <a:pt x="2333681" y="641205"/>
                  </a:cubicBezTo>
                  <a:cubicBezTo>
                    <a:pt x="2328935" y="645951"/>
                    <a:pt x="2322498" y="648617"/>
                    <a:pt x="2315787" y="648617"/>
                  </a:cubicBezTo>
                  <a:lnTo>
                    <a:pt x="25306" y="648617"/>
                  </a:lnTo>
                  <a:cubicBezTo>
                    <a:pt x="18595" y="648617"/>
                    <a:pt x="12158" y="645951"/>
                    <a:pt x="7412" y="641205"/>
                  </a:cubicBezTo>
                  <a:cubicBezTo>
                    <a:pt x="2666" y="636459"/>
                    <a:pt x="0" y="630022"/>
                    <a:pt x="0" y="623311"/>
                  </a:cubicBezTo>
                  <a:lnTo>
                    <a:pt x="0" y="25306"/>
                  </a:lnTo>
                  <a:cubicBezTo>
                    <a:pt x="0" y="18595"/>
                    <a:pt x="2666" y="12158"/>
                    <a:pt x="7412" y="7412"/>
                  </a:cubicBezTo>
                  <a:cubicBezTo>
                    <a:pt x="12158" y="2666"/>
                    <a:pt x="18595" y="0"/>
                    <a:pt x="25306" y="0"/>
                  </a:cubicBezTo>
                  <a:close/>
                </a:path>
              </a:pathLst>
            </a:custGeom>
            <a:solidFill>
              <a:srgbClr val="FFFFFE"/>
            </a:solidFill>
            <a:ln w="19050" cap="rnd">
              <a:solidFill>
                <a:srgbClr val="181D2B"/>
              </a:solidFill>
              <a:prstDash val="solid"/>
              <a:round/>
            </a:ln>
          </p:spPr>
          <p:txBody>
            <a:bodyPr/>
            <a:lstStyle/>
            <a:p>
              <a:endParaRPr lang="en-US"/>
            </a:p>
          </p:txBody>
        </p:sp>
        <p:sp>
          <p:nvSpPr>
            <p:cNvPr id="10" name="TextBox 10"/>
            <p:cNvSpPr txBox="1"/>
            <p:nvPr/>
          </p:nvSpPr>
          <p:spPr>
            <a:xfrm>
              <a:off x="0" y="-38100"/>
              <a:ext cx="2341093" cy="686717"/>
            </a:xfrm>
            <a:prstGeom prst="rect">
              <a:avLst/>
            </a:prstGeom>
          </p:spPr>
          <p:txBody>
            <a:bodyPr lIns="50704" tIns="50704" rIns="50704" bIns="50704" rtlCol="0" anchor="ctr"/>
            <a:lstStyle/>
            <a:p>
              <a:pPr marL="0" lvl="0" indent="0" algn="ctr">
                <a:lnSpc>
                  <a:spcPts val="3135"/>
                </a:lnSpc>
              </a:pPr>
              <a:endParaRPr/>
            </a:p>
          </p:txBody>
        </p:sp>
      </p:grpSp>
      <p:sp>
        <p:nvSpPr>
          <p:cNvPr id="11" name="Freeform 11"/>
          <p:cNvSpPr/>
          <p:nvPr/>
        </p:nvSpPr>
        <p:spPr>
          <a:xfrm>
            <a:off x="1187317" y="4009050"/>
            <a:ext cx="7097241" cy="4214256"/>
          </a:xfrm>
          <a:custGeom>
            <a:avLst/>
            <a:gdLst/>
            <a:ahLst/>
            <a:cxnLst/>
            <a:rect l="l" t="t" r="r" b="b"/>
            <a:pathLst>
              <a:path w="7097241" h="4214256">
                <a:moveTo>
                  <a:pt x="0" y="0"/>
                </a:moveTo>
                <a:lnTo>
                  <a:pt x="7097240" y="0"/>
                </a:lnTo>
                <a:lnTo>
                  <a:pt x="7097240" y="4214255"/>
                </a:lnTo>
                <a:lnTo>
                  <a:pt x="0" y="4214255"/>
                </a:lnTo>
                <a:lnTo>
                  <a:pt x="0" y="0"/>
                </a:lnTo>
                <a:close/>
              </a:path>
            </a:pathLst>
          </a:custGeom>
          <a:blipFill>
            <a:blip r:embed="rId5"/>
            <a:stretch>
              <a:fillRect l="-15770" t="-6105" r="-15917" b="-18643"/>
            </a:stretch>
          </a:blipFill>
        </p:spPr>
        <p:txBody>
          <a:bodyPr/>
          <a:lstStyle/>
          <a:p>
            <a:endParaRPr lang="en-US"/>
          </a:p>
        </p:txBody>
      </p:sp>
      <p:sp>
        <p:nvSpPr>
          <p:cNvPr id="12" name="TextBox 12"/>
          <p:cNvSpPr txBox="1"/>
          <p:nvPr/>
        </p:nvSpPr>
        <p:spPr>
          <a:xfrm>
            <a:off x="2862005" y="752475"/>
            <a:ext cx="12563989" cy="1164795"/>
          </a:xfrm>
          <a:prstGeom prst="rect">
            <a:avLst/>
          </a:prstGeom>
        </p:spPr>
        <p:txBody>
          <a:bodyPr lIns="0" tIns="0" rIns="0" bIns="0" rtlCol="0" anchor="t">
            <a:spAutoFit/>
          </a:bodyPr>
          <a:lstStyle/>
          <a:p>
            <a:pPr marL="0" lvl="0" indent="0" algn="ctr">
              <a:lnSpc>
                <a:spcPts val="8248"/>
              </a:lnSpc>
              <a:spcBef>
                <a:spcPct val="0"/>
              </a:spcBef>
            </a:pPr>
            <a:r>
              <a:rPr lang="en-US" sz="5891" b="1" u="none" strike="noStrike">
                <a:solidFill>
                  <a:srgbClr val="2B598F"/>
                </a:solidFill>
                <a:latin typeface="Agrandir Bold"/>
                <a:ea typeface="Agrandir Bold"/>
                <a:cs typeface="Agrandir Bold"/>
                <a:sym typeface="Agrandir Bold"/>
              </a:rPr>
              <a:t>Thiết kế giao diện Client</a:t>
            </a:r>
          </a:p>
        </p:txBody>
      </p:sp>
      <p:sp>
        <p:nvSpPr>
          <p:cNvPr id="13" name="TextBox 13"/>
          <p:cNvSpPr txBox="1"/>
          <p:nvPr/>
        </p:nvSpPr>
        <p:spPr>
          <a:xfrm>
            <a:off x="8852102" y="2651839"/>
            <a:ext cx="8315557" cy="1457018"/>
          </a:xfrm>
          <a:prstGeom prst="rect">
            <a:avLst/>
          </a:prstGeom>
        </p:spPr>
        <p:txBody>
          <a:bodyPr lIns="0" tIns="0" rIns="0" bIns="0" rtlCol="0" anchor="t">
            <a:spAutoFit/>
          </a:bodyPr>
          <a:lstStyle/>
          <a:p>
            <a:pPr algn="just">
              <a:lnSpc>
                <a:spcPts val="2943"/>
              </a:lnSpc>
            </a:pPr>
            <a:r>
              <a:rPr lang="en-US" sz="2102" u="none" strike="noStrike" spc="10">
                <a:solidFill>
                  <a:srgbClr val="181D2B"/>
                </a:solidFill>
                <a:latin typeface="Open Sauce"/>
                <a:ea typeface="Open Sauce"/>
                <a:cs typeface="Open Sauce"/>
                <a:sym typeface="Open Sauce"/>
              </a:rPr>
              <a:t>• Khu vực Chọn tệp: Drag &amp; Drop + Browse, hiển thị tên file, kích thước, định dạng</a:t>
            </a:r>
          </a:p>
          <a:p>
            <a:pPr algn="just">
              <a:lnSpc>
                <a:spcPts val="2943"/>
              </a:lnSpc>
            </a:pPr>
            <a:r>
              <a:rPr lang="en-US" sz="2102" u="none" strike="noStrike" spc="10">
                <a:solidFill>
                  <a:srgbClr val="181D2B"/>
                </a:solidFill>
                <a:latin typeface="Open Sauce"/>
                <a:ea typeface="Open Sauce"/>
                <a:cs typeface="Open Sauce"/>
                <a:sym typeface="Open Sauce"/>
              </a:rPr>
              <a:t>• Thanh tiến trình: ProgressBar trực quan, hiển thị tốc độ truyền (MB/s) và thời gian còn lại</a:t>
            </a:r>
          </a:p>
        </p:txBody>
      </p:sp>
      <p:sp>
        <p:nvSpPr>
          <p:cNvPr id="14" name="TextBox 14"/>
          <p:cNvSpPr txBox="1"/>
          <p:nvPr/>
        </p:nvSpPr>
        <p:spPr>
          <a:xfrm>
            <a:off x="13818772" y="8462152"/>
            <a:ext cx="2432042" cy="256161"/>
          </a:xfrm>
          <a:prstGeom prst="rect">
            <a:avLst/>
          </a:prstGeom>
        </p:spPr>
        <p:txBody>
          <a:bodyPr lIns="0" tIns="0" rIns="0" bIns="0" rtlCol="0" anchor="t">
            <a:spAutoFit/>
          </a:bodyPr>
          <a:lstStyle/>
          <a:p>
            <a:pPr marL="0" lvl="0" indent="0" algn="r">
              <a:lnSpc>
                <a:spcPts val="2155"/>
              </a:lnSpc>
            </a:pPr>
            <a:r>
              <a:rPr lang="en-US" sz="1539" spc="7">
                <a:solidFill>
                  <a:srgbClr val="181D2B"/>
                </a:solidFill>
                <a:latin typeface="Open Sauce"/>
                <a:ea typeface="Open Sauce"/>
                <a:cs typeface="Open Sauce"/>
                <a:sym typeface="Open Sauce"/>
              </a:rPr>
              <a:t>Công nghệ</a:t>
            </a:r>
          </a:p>
        </p:txBody>
      </p:sp>
      <p:sp>
        <p:nvSpPr>
          <p:cNvPr id="15" name="TextBox 15"/>
          <p:cNvSpPr txBox="1"/>
          <p:nvPr/>
        </p:nvSpPr>
        <p:spPr>
          <a:xfrm>
            <a:off x="13818772" y="8751606"/>
            <a:ext cx="2432042" cy="314333"/>
          </a:xfrm>
          <a:prstGeom prst="rect">
            <a:avLst/>
          </a:prstGeom>
        </p:spPr>
        <p:txBody>
          <a:bodyPr lIns="0" tIns="0" rIns="0" bIns="0" rtlCol="0" anchor="t">
            <a:spAutoFit/>
          </a:bodyPr>
          <a:lstStyle/>
          <a:p>
            <a:pPr marL="0" lvl="0" indent="0" algn="r">
              <a:lnSpc>
                <a:spcPts val="2624"/>
              </a:lnSpc>
            </a:pPr>
            <a:r>
              <a:rPr lang="en-US" sz="1874" b="1" spc="9">
                <a:solidFill>
                  <a:srgbClr val="181D2B"/>
                </a:solidFill>
                <a:latin typeface="Open Sauce Bold"/>
                <a:ea typeface="Open Sauce Bold"/>
                <a:cs typeface="Open Sauce Bold"/>
                <a:sym typeface="Open Sauce Bold"/>
              </a:rPr>
              <a:t>PyQt5 + TCP Socket</a:t>
            </a:r>
          </a:p>
        </p:txBody>
      </p:sp>
      <p:sp>
        <p:nvSpPr>
          <p:cNvPr id="16" name="TextBox 16"/>
          <p:cNvSpPr txBox="1"/>
          <p:nvPr/>
        </p:nvSpPr>
        <p:spPr>
          <a:xfrm>
            <a:off x="8852102" y="5000540"/>
            <a:ext cx="8315557" cy="2193175"/>
          </a:xfrm>
          <a:prstGeom prst="rect">
            <a:avLst/>
          </a:prstGeom>
        </p:spPr>
        <p:txBody>
          <a:bodyPr lIns="0" tIns="0" rIns="0" bIns="0" rtlCol="0" anchor="t">
            <a:spAutoFit/>
          </a:bodyPr>
          <a:lstStyle/>
          <a:p>
            <a:pPr marL="0" lvl="0" indent="0" algn="just">
              <a:lnSpc>
                <a:spcPts val="2943"/>
              </a:lnSpc>
              <a:spcBef>
                <a:spcPct val="0"/>
              </a:spcBef>
            </a:pPr>
            <a:r>
              <a:rPr lang="en-US" sz="2102" u="none" strike="noStrike" spc="10">
                <a:solidFill>
                  <a:srgbClr val="181D2B"/>
                </a:solidFill>
                <a:latin typeface="Open Sauce"/>
                <a:ea typeface="Open Sauce"/>
                <a:cs typeface="Open Sauce"/>
                <a:sym typeface="Open Sauce"/>
              </a:rPr>
              <a:t>• Nút điều khiển: Start, Pause, Resume, Stop – thay đổi trạng thái linh hoạt theo luồng</a:t>
            </a:r>
          </a:p>
          <a:p>
            <a:pPr marL="0" lvl="0" indent="0" algn="just">
              <a:lnSpc>
                <a:spcPts val="2943"/>
              </a:lnSpc>
              <a:spcBef>
                <a:spcPct val="0"/>
              </a:spcBef>
            </a:pPr>
            <a:r>
              <a:rPr lang="en-US" sz="2102" u="none" strike="noStrike" spc="10">
                <a:solidFill>
                  <a:srgbClr val="181D2B"/>
                </a:solidFill>
                <a:latin typeface="Open Sauce"/>
                <a:ea typeface="Open Sauce"/>
                <a:cs typeface="Open Sauce"/>
                <a:sym typeface="Open Sauce"/>
              </a:rPr>
              <a:t>• Cấu hình nâng cao: chunk size, số luồng song song, giới hạn tốc độ upload</a:t>
            </a:r>
          </a:p>
          <a:p>
            <a:pPr marL="0" lvl="0" indent="0" algn="just">
              <a:lnSpc>
                <a:spcPts val="2943"/>
              </a:lnSpc>
              <a:spcBef>
                <a:spcPct val="0"/>
              </a:spcBef>
            </a:pPr>
            <a:r>
              <a:rPr lang="en-US" sz="2102" u="none" strike="noStrike" spc="10">
                <a:solidFill>
                  <a:srgbClr val="181D2B"/>
                </a:solidFill>
                <a:latin typeface="Open Sauce"/>
                <a:ea typeface="Open Sauce"/>
                <a:cs typeface="Open Sauce"/>
                <a:sym typeface="Open Sauce"/>
              </a:rPr>
              <a:t>• Bảng trạng thái chunk: theo dõi từng chunk (Waiting / Uploading / Complete / Failed)</a:t>
            </a: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9FEFF"/>
        </a:solidFill>
        <a:effectLst/>
      </p:bgPr>
    </p:bg>
    <p:spTree>
      <p:nvGrpSpPr>
        <p:cNvPr id="1" name=""/>
        <p:cNvGrpSpPr/>
        <p:nvPr/>
      </p:nvGrpSpPr>
      <p:grpSpPr>
        <a:xfrm>
          <a:off x="0" y="0"/>
          <a:ext cx="0" cy="0"/>
          <a:chOff x="0" y="0"/>
          <a:chExt cx="0" cy="0"/>
        </a:xfrm>
      </p:grpSpPr>
      <p:sp>
        <p:nvSpPr>
          <p:cNvPr id="2" name="Freeform 2"/>
          <p:cNvSpPr/>
          <p:nvPr/>
        </p:nvSpPr>
        <p:spPr>
          <a:xfrm rot="-10800000">
            <a:off x="-2101772" y="5584771"/>
            <a:ext cx="5894744" cy="6562974"/>
          </a:xfrm>
          <a:custGeom>
            <a:avLst/>
            <a:gdLst/>
            <a:ahLst/>
            <a:cxnLst/>
            <a:rect l="l" t="t" r="r" b="b"/>
            <a:pathLst>
              <a:path w="5894744" h="6562974">
                <a:moveTo>
                  <a:pt x="0" y="0"/>
                </a:moveTo>
                <a:lnTo>
                  <a:pt x="5894744" y="0"/>
                </a:lnTo>
                <a:lnTo>
                  <a:pt x="5894744" y="6562975"/>
                </a:lnTo>
                <a:lnTo>
                  <a:pt x="0" y="6562975"/>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txBody>
          <a:bodyPr/>
          <a:lstStyle/>
          <a:p>
            <a:endParaRPr lang="en-US"/>
          </a:p>
        </p:txBody>
      </p:sp>
      <p:sp>
        <p:nvSpPr>
          <p:cNvPr id="3" name="Freeform 3"/>
          <p:cNvSpPr/>
          <p:nvPr/>
        </p:nvSpPr>
        <p:spPr>
          <a:xfrm>
            <a:off x="284502" y="2143901"/>
            <a:ext cx="9181304" cy="6358053"/>
          </a:xfrm>
          <a:custGeom>
            <a:avLst/>
            <a:gdLst/>
            <a:ahLst/>
            <a:cxnLst/>
            <a:rect l="l" t="t" r="r" b="b"/>
            <a:pathLst>
              <a:path w="9181304" h="6358053">
                <a:moveTo>
                  <a:pt x="0" y="0"/>
                </a:moveTo>
                <a:lnTo>
                  <a:pt x="9181304" y="0"/>
                </a:lnTo>
                <a:lnTo>
                  <a:pt x="9181304" y="6358053"/>
                </a:lnTo>
                <a:lnTo>
                  <a:pt x="0" y="6358053"/>
                </a:lnTo>
                <a:lnTo>
                  <a:pt x="0" y="0"/>
                </a:lnTo>
                <a:close/>
              </a:path>
            </a:pathLst>
          </a:custGeom>
          <a:blipFill>
            <a:blip r:embed="rId3"/>
            <a:stretch>
              <a:fillRect/>
            </a:stretch>
          </a:blipFill>
          <a:ln cap="sq">
            <a:noFill/>
            <a:prstDash val="solid"/>
            <a:miter/>
          </a:ln>
        </p:spPr>
        <p:txBody>
          <a:bodyPr/>
          <a:lstStyle/>
          <a:p>
            <a:endParaRPr lang="en-US"/>
          </a:p>
        </p:txBody>
      </p:sp>
      <p:sp>
        <p:nvSpPr>
          <p:cNvPr id="4" name="Freeform 4"/>
          <p:cNvSpPr/>
          <p:nvPr/>
        </p:nvSpPr>
        <p:spPr>
          <a:xfrm>
            <a:off x="16610377" y="8561556"/>
            <a:ext cx="600287" cy="767704"/>
          </a:xfrm>
          <a:custGeom>
            <a:avLst/>
            <a:gdLst/>
            <a:ahLst/>
            <a:cxnLst/>
            <a:rect l="l" t="t" r="r" b="b"/>
            <a:pathLst>
              <a:path w="600287" h="767704">
                <a:moveTo>
                  <a:pt x="0" y="0"/>
                </a:moveTo>
                <a:lnTo>
                  <a:pt x="600287" y="0"/>
                </a:lnTo>
                <a:lnTo>
                  <a:pt x="600287" y="767703"/>
                </a:lnTo>
                <a:lnTo>
                  <a:pt x="0" y="767703"/>
                </a:lnTo>
                <a:lnTo>
                  <a:pt x="0" y="0"/>
                </a:lnTo>
                <a:close/>
              </a:path>
            </a:pathLst>
          </a:custGeom>
          <a:blipFill>
            <a:blip r:embed="rId4"/>
            <a:stretch>
              <a:fillRect/>
            </a:stretch>
          </a:blipFill>
          <a:ln cap="sq">
            <a:noFill/>
            <a:prstDash val="solid"/>
            <a:miter/>
          </a:ln>
        </p:spPr>
        <p:txBody>
          <a:bodyPr/>
          <a:lstStyle/>
          <a:p>
            <a:endParaRPr lang="en-US"/>
          </a:p>
        </p:txBody>
      </p:sp>
      <p:grpSp>
        <p:nvGrpSpPr>
          <p:cNvPr id="5" name="Group 5"/>
          <p:cNvGrpSpPr/>
          <p:nvPr/>
        </p:nvGrpSpPr>
        <p:grpSpPr>
          <a:xfrm>
            <a:off x="9685852" y="2685449"/>
            <a:ext cx="7733760" cy="2458051"/>
            <a:chOff x="0" y="0"/>
            <a:chExt cx="2040742" cy="648617"/>
          </a:xfrm>
        </p:grpSpPr>
        <p:sp>
          <p:nvSpPr>
            <p:cNvPr id="6" name="Freeform 6"/>
            <p:cNvSpPr/>
            <p:nvPr/>
          </p:nvSpPr>
          <p:spPr>
            <a:xfrm>
              <a:off x="0" y="0"/>
              <a:ext cx="2040742" cy="648617"/>
            </a:xfrm>
            <a:custGeom>
              <a:avLst/>
              <a:gdLst/>
              <a:ahLst/>
              <a:cxnLst/>
              <a:rect l="l" t="t" r="r" b="b"/>
              <a:pathLst>
                <a:path w="2040742" h="648617">
                  <a:moveTo>
                    <a:pt x="29031" y="0"/>
                  </a:moveTo>
                  <a:lnTo>
                    <a:pt x="2011712" y="0"/>
                  </a:lnTo>
                  <a:cubicBezTo>
                    <a:pt x="2027745" y="0"/>
                    <a:pt x="2040742" y="12997"/>
                    <a:pt x="2040742" y="29031"/>
                  </a:cubicBezTo>
                  <a:lnTo>
                    <a:pt x="2040742" y="619586"/>
                  </a:lnTo>
                  <a:cubicBezTo>
                    <a:pt x="2040742" y="627286"/>
                    <a:pt x="2037684" y="634670"/>
                    <a:pt x="2032239" y="640114"/>
                  </a:cubicBezTo>
                  <a:cubicBezTo>
                    <a:pt x="2026795" y="645558"/>
                    <a:pt x="2019411" y="648617"/>
                    <a:pt x="2011712" y="648617"/>
                  </a:cubicBezTo>
                  <a:lnTo>
                    <a:pt x="29031" y="648617"/>
                  </a:lnTo>
                  <a:cubicBezTo>
                    <a:pt x="21331" y="648617"/>
                    <a:pt x="13947" y="645558"/>
                    <a:pt x="8503" y="640114"/>
                  </a:cubicBezTo>
                  <a:cubicBezTo>
                    <a:pt x="3059" y="634670"/>
                    <a:pt x="0" y="627286"/>
                    <a:pt x="0" y="619586"/>
                  </a:cubicBezTo>
                  <a:lnTo>
                    <a:pt x="0" y="29031"/>
                  </a:lnTo>
                  <a:cubicBezTo>
                    <a:pt x="0" y="21331"/>
                    <a:pt x="3059" y="13947"/>
                    <a:pt x="8503" y="8503"/>
                  </a:cubicBezTo>
                  <a:cubicBezTo>
                    <a:pt x="13947" y="3059"/>
                    <a:pt x="21331" y="0"/>
                    <a:pt x="29031" y="0"/>
                  </a:cubicBezTo>
                  <a:close/>
                </a:path>
              </a:pathLst>
            </a:custGeom>
            <a:solidFill>
              <a:srgbClr val="FFFFFE"/>
            </a:solidFill>
            <a:ln w="19050" cap="rnd">
              <a:solidFill>
                <a:srgbClr val="181D2B"/>
              </a:solidFill>
              <a:prstDash val="solid"/>
              <a:round/>
            </a:ln>
          </p:spPr>
          <p:txBody>
            <a:bodyPr/>
            <a:lstStyle/>
            <a:p>
              <a:endParaRPr lang="en-US"/>
            </a:p>
          </p:txBody>
        </p:sp>
        <p:sp>
          <p:nvSpPr>
            <p:cNvPr id="7" name="TextBox 7"/>
            <p:cNvSpPr txBox="1"/>
            <p:nvPr/>
          </p:nvSpPr>
          <p:spPr>
            <a:xfrm>
              <a:off x="0" y="-38100"/>
              <a:ext cx="2040742" cy="686717"/>
            </a:xfrm>
            <a:prstGeom prst="rect">
              <a:avLst/>
            </a:prstGeom>
          </p:spPr>
          <p:txBody>
            <a:bodyPr lIns="50704" tIns="50704" rIns="50704" bIns="50704" rtlCol="0" anchor="ctr"/>
            <a:lstStyle/>
            <a:p>
              <a:pPr marL="0" lvl="0" indent="0" algn="ctr">
                <a:lnSpc>
                  <a:spcPts val="3135"/>
                </a:lnSpc>
              </a:pPr>
              <a:endParaRPr/>
            </a:p>
          </p:txBody>
        </p:sp>
      </p:grpSp>
      <p:grpSp>
        <p:nvGrpSpPr>
          <p:cNvPr id="8" name="Group 8"/>
          <p:cNvGrpSpPr/>
          <p:nvPr/>
        </p:nvGrpSpPr>
        <p:grpSpPr>
          <a:xfrm>
            <a:off x="9685852" y="5584771"/>
            <a:ext cx="7733760" cy="2458051"/>
            <a:chOff x="0" y="0"/>
            <a:chExt cx="2040742" cy="648617"/>
          </a:xfrm>
        </p:grpSpPr>
        <p:sp>
          <p:nvSpPr>
            <p:cNvPr id="9" name="Freeform 9"/>
            <p:cNvSpPr/>
            <p:nvPr/>
          </p:nvSpPr>
          <p:spPr>
            <a:xfrm>
              <a:off x="0" y="0"/>
              <a:ext cx="2040742" cy="648617"/>
            </a:xfrm>
            <a:custGeom>
              <a:avLst/>
              <a:gdLst/>
              <a:ahLst/>
              <a:cxnLst/>
              <a:rect l="l" t="t" r="r" b="b"/>
              <a:pathLst>
                <a:path w="2040742" h="648617">
                  <a:moveTo>
                    <a:pt x="29031" y="0"/>
                  </a:moveTo>
                  <a:lnTo>
                    <a:pt x="2011712" y="0"/>
                  </a:lnTo>
                  <a:cubicBezTo>
                    <a:pt x="2027745" y="0"/>
                    <a:pt x="2040742" y="12997"/>
                    <a:pt x="2040742" y="29031"/>
                  </a:cubicBezTo>
                  <a:lnTo>
                    <a:pt x="2040742" y="619586"/>
                  </a:lnTo>
                  <a:cubicBezTo>
                    <a:pt x="2040742" y="627286"/>
                    <a:pt x="2037684" y="634670"/>
                    <a:pt x="2032239" y="640114"/>
                  </a:cubicBezTo>
                  <a:cubicBezTo>
                    <a:pt x="2026795" y="645558"/>
                    <a:pt x="2019411" y="648617"/>
                    <a:pt x="2011712" y="648617"/>
                  </a:cubicBezTo>
                  <a:lnTo>
                    <a:pt x="29031" y="648617"/>
                  </a:lnTo>
                  <a:cubicBezTo>
                    <a:pt x="21331" y="648617"/>
                    <a:pt x="13947" y="645558"/>
                    <a:pt x="8503" y="640114"/>
                  </a:cubicBezTo>
                  <a:cubicBezTo>
                    <a:pt x="3059" y="634670"/>
                    <a:pt x="0" y="627286"/>
                    <a:pt x="0" y="619586"/>
                  </a:cubicBezTo>
                  <a:lnTo>
                    <a:pt x="0" y="29031"/>
                  </a:lnTo>
                  <a:cubicBezTo>
                    <a:pt x="0" y="21331"/>
                    <a:pt x="3059" y="13947"/>
                    <a:pt x="8503" y="8503"/>
                  </a:cubicBezTo>
                  <a:cubicBezTo>
                    <a:pt x="13947" y="3059"/>
                    <a:pt x="21331" y="0"/>
                    <a:pt x="29031" y="0"/>
                  </a:cubicBezTo>
                  <a:close/>
                </a:path>
              </a:pathLst>
            </a:custGeom>
            <a:solidFill>
              <a:srgbClr val="FFFFFE"/>
            </a:solidFill>
            <a:ln w="19050" cap="rnd">
              <a:solidFill>
                <a:srgbClr val="181D2B"/>
              </a:solidFill>
              <a:prstDash val="solid"/>
              <a:round/>
            </a:ln>
          </p:spPr>
          <p:txBody>
            <a:bodyPr/>
            <a:lstStyle/>
            <a:p>
              <a:endParaRPr lang="en-US"/>
            </a:p>
          </p:txBody>
        </p:sp>
        <p:sp>
          <p:nvSpPr>
            <p:cNvPr id="10" name="TextBox 10"/>
            <p:cNvSpPr txBox="1"/>
            <p:nvPr/>
          </p:nvSpPr>
          <p:spPr>
            <a:xfrm>
              <a:off x="0" y="-38100"/>
              <a:ext cx="2040742" cy="686717"/>
            </a:xfrm>
            <a:prstGeom prst="rect">
              <a:avLst/>
            </a:prstGeom>
          </p:spPr>
          <p:txBody>
            <a:bodyPr lIns="50704" tIns="50704" rIns="50704" bIns="50704" rtlCol="0" anchor="ctr"/>
            <a:lstStyle/>
            <a:p>
              <a:pPr marL="0" lvl="0" indent="0" algn="ctr">
                <a:lnSpc>
                  <a:spcPts val="3135"/>
                </a:lnSpc>
              </a:pPr>
              <a:endParaRPr/>
            </a:p>
          </p:txBody>
        </p:sp>
      </p:grpSp>
      <p:sp>
        <p:nvSpPr>
          <p:cNvPr id="11" name="Freeform 11"/>
          <p:cNvSpPr/>
          <p:nvPr/>
        </p:nvSpPr>
        <p:spPr>
          <a:xfrm>
            <a:off x="1434136" y="3067628"/>
            <a:ext cx="6882035" cy="3832549"/>
          </a:xfrm>
          <a:custGeom>
            <a:avLst/>
            <a:gdLst/>
            <a:ahLst/>
            <a:cxnLst/>
            <a:rect l="l" t="t" r="r" b="b"/>
            <a:pathLst>
              <a:path w="6882035" h="3832549">
                <a:moveTo>
                  <a:pt x="0" y="0"/>
                </a:moveTo>
                <a:lnTo>
                  <a:pt x="6882035" y="0"/>
                </a:lnTo>
                <a:lnTo>
                  <a:pt x="6882035" y="3832550"/>
                </a:lnTo>
                <a:lnTo>
                  <a:pt x="0" y="3832550"/>
                </a:lnTo>
                <a:lnTo>
                  <a:pt x="0" y="0"/>
                </a:lnTo>
                <a:close/>
              </a:path>
            </a:pathLst>
          </a:custGeom>
          <a:blipFill>
            <a:blip r:embed="rId5"/>
            <a:stretch>
              <a:fillRect l="-439" t="-1895" r="-439"/>
            </a:stretch>
          </a:blipFill>
        </p:spPr>
        <p:txBody>
          <a:bodyPr/>
          <a:lstStyle/>
          <a:p>
            <a:endParaRPr lang="en-US"/>
          </a:p>
        </p:txBody>
      </p:sp>
      <p:sp>
        <p:nvSpPr>
          <p:cNvPr id="12" name="TextBox 12"/>
          <p:cNvSpPr txBox="1"/>
          <p:nvPr/>
        </p:nvSpPr>
        <p:spPr>
          <a:xfrm>
            <a:off x="2862005" y="781050"/>
            <a:ext cx="12563989" cy="1022760"/>
          </a:xfrm>
          <a:prstGeom prst="rect">
            <a:avLst/>
          </a:prstGeom>
        </p:spPr>
        <p:txBody>
          <a:bodyPr lIns="0" tIns="0" rIns="0" bIns="0" rtlCol="0" anchor="t">
            <a:spAutoFit/>
          </a:bodyPr>
          <a:lstStyle/>
          <a:p>
            <a:pPr marL="0" lvl="0" indent="0" algn="ctr">
              <a:lnSpc>
                <a:spcPts val="7152"/>
              </a:lnSpc>
              <a:spcBef>
                <a:spcPct val="0"/>
              </a:spcBef>
            </a:pPr>
            <a:r>
              <a:rPr lang="en-US" sz="5108" b="1" u="none" strike="noStrike">
                <a:solidFill>
                  <a:srgbClr val="2B598F"/>
                </a:solidFill>
                <a:latin typeface="Agrandir Bold"/>
                <a:ea typeface="Agrandir Bold"/>
                <a:cs typeface="Agrandir Bold"/>
                <a:sym typeface="Agrandir Bold"/>
              </a:rPr>
              <a:t>Thiết kế giao diện Server &amp; Admin Panel</a:t>
            </a:r>
          </a:p>
        </p:txBody>
      </p:sp>
      <p:sp>
        <p:nvSpPr>
          <p:cNvPr id="13" name="TextBox 13"/>
          <p:cNvSpPr txBox="1"/>
          <p:nvPr/>
        </p:nvSpPr>
        <p:spPr>
          <a:xfrm>
            <a:off x="9846163" y="2804221"/>
            <a:ext cx="7413137" cy="2029799"/>
          </a:xfrm>
          <a:prstGeom prst="rect">
            <a:avLst/>
          </a:prstGeom>
        </p:spPr>
        <p:txBody>
          <a:bodyPr lIns="0" tIns="0" rIns="0" bIns="0" rtlCol="0" anchor="t">
            <a:spAutoFit/>
          </a:bodyPr>
          <a:lstStyle/>
          <a:p>
            <a:pPr marL="0" lvl="0" indent="0" algn="just">
              <a:lnSpc>
                <a:spcPts val="3259"/>
              </a:lnSpc>
              <a:spcBef>
                <a:spcPct val="0"/>
              </a:spcBef>
            </a:pPr>
            <a:r>
              <a:rPr lang="en-US" sz="2328" u="none" strike="noStrike" spc="11">
                <a:solidFill>
                  <a:srgbClr val="181D2B"/>
                </a:solidFill>
                <a:latin typeface="Open Sauce"/>
                <a:ea typeface="Open Sauce"/>
                <a:cs typeface="Open Sauce"/>
                <a:sym typeface="Open Sauce"/>
              </a:rPr>
              <a:t>Server Monitor</a:t>
            </a:r>
          </a:p>
          <a:p>
            <a:pPr marL="0" lvl="0" indent="0" algn="just">
              <a:lnSpc>
                <a:spcPts val="3259"/>
              </a:lnSpc>
              <a:spcBef>
                <a:spcPct val="0"/>
              </a:spcBef>
            </a:pPr>
            <a:r>
              <a:rPr lang="en-US" sz="2328" u="none" strike="noStrike" spc="11">
                <a:solidFill>
                  <a:srgbClr val="181D2B"/>
                </a:solidFill>
                <a:latin typeface="Open Sauce"/>
                <a:ea typeface="Open Sauce"/>
                <a:cs typeface="Open Sauce"/>
                <a:sym typeface="Open Sauce"/>
              </a:rPr>
              <a:t>• Số thiết bị đang kết nối theo thời gian thực</a:t>
            </a:r>
          </a:p>
          <a:p>
            <a:pPr marL="0" lvl="0" indent="0" algn="just">
              <a:lnSpc>
                <a:spcPts val="3259"/>
              </a:lnSpc>
              <a:spcBef>
                <a:spcPct val="0"/>
              </a:spcBef>
            </a:pPr>
            <a:r>
              <a:rPr lang="en-US" sz="2328" u="none" strike="noStrike" spc="11">
                <a:solidFill>
                  <a:srgbClr val="181D2B"/>
                </a:solidFill>
                <a:latin typeface="Open Sauce"/>
                <a:ea typeface="Open Sauce"/>
                <a:cs typeface="Open Sauce"/>
                <a:sym typeface="Open Sauce"/>
              </a:rPr>
              <a:t>• Phiên truyền tệp đang hoạt động</a:t>
            </a:r>
          </a:p>
          <a:p>
            <a:pPr marL="0" lvl="0" indent="0" algn="just">
              <a:lnSpc>
                <a:spcPts val="3259"/>
              </a:lnSpc>
              <a:spcBef>
                <a:spcPct val="0"/>
              </a:spcBef>
            </a:pPr>
            <a:r>
              <a:rPr lang="en-US" sz="2328" u="none" strike="noStrike" spc="11">
                <a:solidFill>
                  <a:srgbClr val="181D2B"/>
                </a:solidFill>
                <a:latin typeface="Open Sauce"/>
                <a:ea typeface="Open Sauce"/>
                <a:cs typeface="Open Sauce"/>
                <a:sym typeface="Open Sauce"/>
              </a:rPr>
              <a:t>• Tổng dung lượng đã truyền (MB/GB)</a:t>
            </a:r>
          </a:p>
          <a:p>
            <a:pPr marL="0" lvl="0" indent="0" algn="just">
              <a:lnSpc>
                <a:spcPts val="3259"/>
              </a:lnSpc>
              <a:spcBef>
                <a:spcPct val="0"/>
              </a:spcBef>
            </a:pPr>
            <a:r>
              <a:rPr lang="en-US" sz="2328" u="none" strike="noStrike" spc="11">
                <a:solidFill>
                  <a:srgbClr val="181D2B"/>
                </a:solidFill>
                <a:latin typeface="Open Sauce"/>
                <a:ea typeface="Open Sauce"/>
                <a:cs typeface="Open Sauce"/>
                <a:sym typeface="Open Sauce"/>
              </a:rPr>
              <a:t>• Nhật ký log sự kiện kết nối và lỗi</a:t>
            </a:r>
          </a:p>
        </p:txBody>
      </p:sp>
      <p:sp>
        <p:nvSpPr>
          <p:cNvPr id="14" name="TextBox 14"/>
          <p:cNvSpPr txBox="1"/>
          <p:nvPr/>
        </p:nvSpPr>
        <p:spPr>
          <a:xfrm>
            <a:off x="9943812" y="5683275"/>
            <a:ext cx="7744994" cy="2128485"/>
          </a:xfrm>
          <a:prstGeom prst="rect">
            <a:avLst/>
          </a:prstGeom>
        </p:spPr>
        <p:txBody>
          <a:bodyPr lIns="0" tIns="0" rIns="0" bIns="0" rtlCol="0" anchor="t">
            <a:spAutoFit/>
          </a:bodyPr>
          <a:lstStyle/>
          <a:p>
            <a:pPr marL="0" lvl="0" indent="0" algn="just">
              <a:lnSpc>
                <a:spcPts val="3405"/>
              </a:lnSpc>
              <a:spcBef>
                <a:spcPct val="0"/>
              </a:spcBef>
            </a:pPr>
            <a:r>
              <a:rPr lang="en-US" sz="2432" u="none" strike="noStrike" spc="12">
                <a:solidFill>
                  <a:srgbClr val="181D2B"/>
                </a:solidFill>
                <a:latin typeface="Open Sauce"/>
                <a:ea typeface="Open Sauce"/>
                <a:cs typeface="Open Sauce"/>
                <a:sym typeface="Open Sauce"/>
              </a:rPr>
              <a:t>Admin Panel</a:t>
            </a:r>
          </a:p>
          <a:p>
            <a:pPr marL="0" lvl="0" indent="0" algn="just">
              <a:lnSpc>
                <a:spcPts val="3405"/>
              </a:lnSpc>
              <a:spcBef>
                <a:spcPct val="0"/>
              </a:spcBef>
            </a:pPr>
            <a:r>
              <a:rPr lang="en-US" sz="2432" u="none" strike="noStrike" spc="12">
                <a:solidFill>
                  <a:srgbClr val="181D2B"/>
                </a:solidFill>
                <a:latin typeface="Open Sauce"/>
                <a:ea typeface="Open Sauce"/>
                <a:cs typeface="Open Sauce"/>
                <a:sym typeface="Open Sauce"/>
              </a:rPr>
              <a:t>• Quản lý tài khoản người dùng (thêm, sửa, xóa)</a:t>
            </a:r>
          </a:p>
          <a:p>
            <a:pPr marL="0" lvl="0" indent="0" algn="just">
              <a:lnSpc>
                <a:spcPts val="3405"/>
              </a:lnSpc>
              <a:spcBef>
                <a:spcPct val="0"/>
              </a:spcBef>
            </a:pPr>
            <a:r>
              <a:rPr lang="en-US" sz="2432" u="none" strike="noStrike" spc="12">
                <a:solidFill>
                  <a:srgbClr val="181D2B"/>
                </a:solidFill>
                <a:latin typeface="Open Sauce"/>
                <a:ea typeface="Open Sauce"/>
                <a:cs typeface="Open Sauce"/>
                <a:sym typeface="Open Sauce"/>
              </a:rPr>
              <a:t>• Danh sách tệp đã upload với metadata</a:t>
            </a:r>
          </a:p>
          <a:p>
            <a:pPr marL="0" lvl="0" indent="0" algn="just">
              <a:lnSpc>
                <a:spcPts val="3405"/>
              </a:lnSpc>
              <a:spcBef>
                <a:spcPct val="0"/>
              </a:spcBef>
            </a:pPr>
            <a:r>
              <a:rPr lang="en-US" sz="2432" u="none" strike="noStrike" spc="12">
                <a:solidFill>
                  <a:srgbClr val="181D2B"/>
                </a:solidFill>
                <a:latin typeface="Open Sauce"/>
                <a:ea typeface="Open Sauce"/>
                <a:cs typeface="Open Sauce"/>
                <a:sym typeface="Open Sauce"/>
              </a:rPr>
              <a:t>• Lịch sử upload: thời gian, kích thước, trạng thái</a:t>
            </a:r>
          </a:p>
          <a:p>
            <a:pPr marL="0" lvl="0" indent="0" algn="just">
              <a:lnSpc>
                <a:spcPts val="3405"/>
              </a:lnSpc>
              <a:spcBef>
                <a:spcPct val="0"/>
              </a:spcBef>
            </a:pPr>
            <a:r>
              <a:rPr lang="en-US" sz="2432" u="none" strike="noStrike" spc="12">
                <a:solidFill>
                  <a:srgbClr val="181D2B"/>
                </a:solidFill>
                <a:latin typeface="Open Sauce"/>
                <a:ea typeface="Open Sauce"/>
                <a:cs typeface="Open Sauce"/>
                <a:sym typeface="Open Sauce"/>
              </a:rPr>
              <a:t>• Xác thực SHA-256 và kiểm soát quyền truy cập</a:t>
            </a: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9FEFF"/>
        </a:solidFill>
        <a:effectLst/>
      </p:bgPr>
    </p:bg>
    <p:spTree>
      <p:nvGrpSpPr>
        <p:cNvPr id="1" name=""/>
        <p:cNvGrpSpPr/>
        <p:nvPr/>
      </p:nvGrpSpPr>
      <p:grpSpPr>
        <a:xfrm>
          <a:off x="0" y="0"/>
          <a:ext cx="0" cy="0"/>
          <a:chOff x="0" y="0"/>
          <a:chExt cx="0" cy="0"/>
        </a:xfrm>
      </p:grpSpPr>
      <p:sp>
        <p:nvSpPr>
          <p:cNvPr id="2" name="Freeform 2"/>
          <p:cNvSpPr/>
          <p:nvPr/>
        </p:nvSpPr>
        <p:spPr>
          <a:xfrm rot="-5400000">
            <a:off x="-2524664" y="1886340"/>
            <a:ext cx="12568167" cy="5461440"/>
          </a:xfrm>
          <a:custGeom>
            <a:avLst/>
            <a:gdLst/>
            <a:ahLst/>
            <a:cxnLst/>
            <a:rect l="l" t="t" r="r" b="b"/>
            <a:pathLst>
              <a:path w="12568167" h="5461440">
                <a:moveTo>
                  <a:pt x="0" y="0"/>
                </a:moveTo>
                <a:lnTo>
                  <a:pt x="12568167" y="0"/>
                </a:lnTo>
                <a:lnTo>
                  <a:pt x="12568167" y="5461439"/>
                </a:lnTo>
                <a:lnTo>
                  <a:pt x="0" y="5461439"/>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txBody>
          <a:bodyPr/>
          <a:lstStyle/>
          <a:p>
            <a:endParaRPr lang="en-US"/>
          </a:p>
        </p:txBody>
      </p:sp>
      <p:sp>
        <p:nvSpPr>
          <p:cNvPr id="3" name="Freeform 3"/>
          <p:cNvSpPr/>
          <p:nvPr/>
        </p:nvSpPr>
        <p:spPr>
          <a:xfrm>
            <a:off x="16579368" y="8573624"/>
            <a:ext cx="670058" cy="722160"/>
          </a:xfrm>
          <a:custGeom>
            <a:avLst/>
            <a:gdLst/>
            <a:ahLst/>
            <a:cxnLst/>
            <a:rect l="l" t="t" r="r" b="b"/>
            <a:pathLst>
              <a:path w="670058" h="722160">
                <a:moveTo>
                  <a:pt x="0" y="0"/>
                </a:moveTo>
                <a:lnTo>
                  <a:pt x="670058" y="0"/>
                </a:lnTo>
                <a:lnTo>
                  <a:pt x="670058" y="722159"/>
                </a:lnTo>
                <a:lnTo>
                  <a:pt x="0" y="722159"/>
                </a:lnTo>
                <a:lnTo>
                  <a:pt x="0" y="0"/>
                </a:lnTo>
                <a:close/>
              </a:path>
            </a:pathLst>
          </a:custGeom>
          <a:blipFill>
            <a:blip r:embed="rId3"/>
            <a:stretch>
              <a:fillRect/>
            </a:stretch>
          </a:blipFill>
          <a:ln cap="sq">
            <a:noFill/>
            <a:prstDash val="solid"/>
            <a:miter/>
          </a:ln>
        </p:spPr>
        <p:txBody>
          <a:bodyPr/>
          <a:lstStyle/>
          <a:p>
            <a:endParaRPr lang="en-US"/>
          </a:p>
        </p:txBody>
      </p:sp>
      <p:sp>
        <p:nvSpPr>
          <p:cNvPr id="4" name="Freeform 4"/>
          <p:cNvSpPr/>
          <p:nvPr/>
        </p:nvSpPr>
        <p:spPr>
          <a:xfrm>
            <a:off x="1637110" y="1392523"/>
            <a:ext cx="4196973" cy="8093144"/>
          </a:xfrm>
          <a:custGeom>
            <a:avLst/>
            <a:gdLst/>
            <a:ahLst/>
            <a:cxnLst/>
            <a:rect l="l" t="t" r="r" b="b"/>
            <a:pathLst>
              <a:path w="4196973" h="8093144">
                <a:moveTo>
                  <a:pt x="0" y="0"/>
                </a:moveTo>
                <a:lnTo>
                  <a:pt x="4196973" y="0"/>
                </a:lnTo>
                <a:lnTo>
                  <a:pt x="4196973" y="8093144"/>
                </a:lnTo>
                <a:lnTo>
                  <a:pt x="0" y="8093144"/>
                </a:lnTo>
                <a:lnTo>
                  <a:pt x="0" y="0"/>
                </a:lnTo>
                <a:close/>
              </a:path>
            </a:pathLst>
          </a:custGeom>
          <a:blipFill>
            <a:blip r:embed="rId4"/>
            <a:stretch>
              <a:fillRect r="-1438"/>
            </a:stretch>
          </a:blipFill>
        </p:spPr>
        <p:txBody>
          <a:bodyPr/>
          <a:lstStyle/>
          <a:p>
            <a:endParaRPr lang="en-US"/>
          </a:p>
        </p:txBody>
      </p:sp>
      <p:grpSp>
        <p:nvGrpSpPr>
          <p:cNvPr id="5" name="Group 5"/>
          <p:cNvGrpSpPr/>
          <p:nvPr/>
        </p:nvGrpSpPr>
        <p:grpSpPr>
          <a:xfrm>
            <a:off x="6773115" y="2515070"/>
            <a:ext cx="4802016" cy="5669057"/>
            <a:chOff x="0" y="0"/>
            <a:chExt cx="1267130" cy="1495920"/>
          </a:xfrm>
        </p:grpSpPr>
        <p:sp>
          <p:nvSpPr>
            <p:cNvPr id="6" name="Freeform 6"/>
            <p:cNvSpPr/>
            <p:nvPr/>
          </p:nvSpPr>
          <p:spPr>
            <a:xfrm>
              <a:off x="0" y="0"/>
              <a:ext cx="1267130" cy="1495920"/>
            </a:xfrm>
            <a:custGeom>
              <a:avLst/>
              <a:gdLst/>
              <a:ahLst/>
              <a:cxnLst/>
              <a:rect l="l" t="t" r="r" b="b"/>
              <a:pathLst>
                <a:path w="1267130" h="1495920">
                  <a:moveTo>
                    <a:pt x="46754" y="0"/>
                  </a:moveTo>
                  <a:lnTo>
                    <a:pt x="1220375" y="0"/>
                  </a:lnTo>
                  <a:cubicBezTo>
                    <a:pt x="1232775" y="0"/>
                    <a:pt x="1244667" y="4926"/>
                    <a:pt x="1253436" y="13694"/>
                  </a:cubicBezTo>
                  <a:cubicBezTo>
                    <a:pt x="1262204" y="22462"/>
                    <a:pt x="1267130" y="34354"/>
                    <a:pt x="1267130" y="46754"/>
                  </a:cubicBezTo>
                  <a:lnTo>
                    <a:pt x="1267130" y="1449165"/>
                  </a:lnTo>
                  <a:cubicBezTo>
                    <a:pt x="1267130" y="1461565"/>
                    <a:pt x="1262204" y="1473458"/>
                    <a:pt x="1253436" y="1482226"/>
                  </a:cubicBezTo>
                  <a:cubicBezTo>
                    <a:pt x="1244667" y="1490994"/>
                    <a:pt x="1232775" y="1495920"/>
                    <a:pt x="1220375" y="1495920"/>
                  </a:cubicBezTo>
                  <a:lnTo>
                    <a:pt x="46754" y="1495920"/>
                  </a:lnTo>
                  <a:cubicBezTo>
                    <a:pt x="34354" y="1495920"/>
                    <a:pt x="22462" y="1490994"/>
                    <a:pt x="13694" y="1482226"/>
                  </a:cubicBezTo>
                  <a:cubicBezTo>
                    <a:pt x="4926" y="1473458"/>
                    <a:pt x="0" y="1461565"/>
                    <a:pt x="0" y="1449165"/>
                  </a:cubicBezTo>
                  <a:lnTo>
                    <a:pt x="0" y="46754"/>
                  </a:lnTo>
                  <a:cubicBezTo>
                    <a:pt x="0" y="34354"/>
                    <a:pt x="4926" y="22462"/>
                    <a:pt x="13694" y="13694"/>
                  </a:cubicBezTo>
                  <a:cubicBezTo>
                    <a:pt x="22462" y="4926"/>
                    <a:pt x="34354" y="0"/>
                    <a:pt x="46754" y="0"/>
                  </a:cubicBezTo>
                  <a:close/>
                </a:path>
              </a:pathLst>
            </a:custGeom>
            <a:solidFill>
              <a:srgbClr val="FFFFFE"/>
            </a:solidFill>
            <a:ln w="19050" cap="rnd">
              <a:solidFill>
                <a:srgbClr val="181D2B"/>
              </a:solidFill>
              <a:prstDash val="solid"/>
              <a:round/>
            </a:ln>
          </p:spPr>
          <p:txBody>
            <a:bodyPr/>
            <a:lstStyle/>
            <a:p>
              <a:endParaRPr lang="en-US"/>
            </a:p>
          </p:txBody>
        </p:sp>
        <p:sp>
          <p:nvSpPr>
            <p:cNvPr id="7" name="TextBox 7"/>
            <p:cNvSpPr txBox="1"/>
            <p:nvPr/>
          </p:nvSpPr>
          <p:spPr>
            <a:xfrm>
              <a:off x="0" y="-38100"/>
              <a:ext cx="1267130" cy="1534020"/>
            </a:xfrm>
            <a:prstGeom prst="rect">
              <a:avLst/>
            </a:prstGeom>
          </p:spPr>
          <p:txBody>
            <a:bodyPr lIns="50704" tIns="50704" rIns="50704" bIns="50704" rtlCol="0" anchor="ctr"/>
            <a:lstStyle/>
            <a:p>
              <a:pPr marL="0" lvl="0" indent="0" algn="ctr">
                <a:lnSpc>
                  <a:spcPts val="3135"/>
                </a:lnSpc>
              </a:pPr>
              <a:endParaRPr/>
            </a:p>
          </p:txBody>
        </p:sp>
      </p:grpSp>
      <p:sp>
        <p:nvSpPr>
          <p:cNvPr id="8" name="TextBox 8"/>
          <p:cNvSpPr txBox="1"/>
          <p:nvPr/>
        </p:nvSpPr>
        <p:spPr>
          <a:xfrm>
            <a:off x="6631371" y="2470959"/>
            <a:ext cx="5085504" cy="5029871"/>
          </a:xfrm>
          <a:prstGeom prst="rect">
            <a:avLst/>
          </a:prstGeom>
        </p:spPr>
        <p:txBody>
          <a:bodyPr lIns="0" tIns="0" rIns="0" bIns="0" rtlCol="0" anchor="t">
            <a:spAutoFit/>
          </a:bodyPr>
          <a:lstStyle/>
          <a:p>
            <a:pPr marL="604367" lvl="1" indent="-302184" algn="l">
              <a:lnSpc>
                <a:spcPts val="4478"/>
              </a:lnSpc>
              <a:buFont typeface="Arial"/>
              <a:buChar char="•"/>
            </a:pPr>
            <a:r>
              <a:rPr lang="en-US" sz="2799" spc="13">
                <a:solidFill>
                  <a:srgbClr val="181D2B"/>
                </a:solidFill>
                <a:latin typeface="Open Sauce"/>
                <a:ea typeface="Open Sauce"/>
                <a:cs typeface="Open Sauce"/>
                <a:sym typeface="Open Sauce"/>
              </a:rPr>
              <a:t>Chọn tệp</a:t>
            </a:r>
          </a:p>
          <a:p>
            <a:pPr marL="604367" lvl="1" indent="-302184" algn="l">
              <a:lnSpc>
                <a:spcPts val="4478"/>
              </a:lnSpc>
              <a:buFont typeface="Arial"/>
              <a:buChar char="•"/>
            </a:pPr>
            <a:r>
              <a:rPr lang="en-US" sz="2799" spc="13">
                <a:solidFill>
                  <a:srgbClr val="181D2B"/>
                </a:solidFill>
                <a:latin typeface="Open Sauce"/>
                <a:ea typeface="Open Sauce"/>
                <a:cs typeface="Open Sauce"/>
                <a:sym typeface="Open Sauce"/>
              </a:rPr>
              <a:t>Duyệt file hoặc kéo thả (Drag &amp; Drop)</a:t>
            </a:r>
          </a:p>
          <a:p>
            <a:pPr marL="604367" lvl="1" indent="-302184" algn="l">
              <a:lnSpc>
                <a:spcPts val="4478"/>
              </a:lnSpc>
              <a:buFont typeface="Arial"/>
              <a:buChar char="•"/>
            </a:pPr>
            <a:r>
              <a:rPr lang="en-US" sz="2799" spc="13">
                <a:solidFill>
                  <a:srgbClr val="181D2B"/>
                </a:solidFill>
                <a:latin typeface="Open Sauce"/>
                <a:ea typeface="Open Sauce"/>
                <a:cs typeface="Open Sauce"/>
                <a:sym typeface="Open Sauce"/>
              </a:rPr>
              <a:t>Upload đa luồng</a:t>
            </a:r>
          </a:p>
          <a:p>
            <a:pPr marL="604367" lvl="1" indent="-302184" algn="l">
              <a:lnSpc>
                <a:spcPts val="4478"/>
              </a:lnSpc>
              <a:buFont typeface="Arial"/>
              <a:buChar char="•"/>
            </a:pPr>
            <a:r>
              <a:rPr lang="en-US" sz="2799" spc="13">
                <a:solidFill>
                  <a:srgbClr val="181D2B"/>
                </a:solidFill>
                <a:latin typeface="Open Sauce"/>
                <a:ea typeface="Open Sauce"/>
                <a:cs typeface="Open Sauce"/>
                <a:sym typeface="Open Sauce"/>
              </a:rPr>
              <a:t>Chunking nhị phân, song song Worker Threads</a:t>
            </a:r>
          </a:p>
          <a:p>
            <a:pPr marL="604367" lvl="1" indent="-302184" algn="l">
              <a:lnSpc>
                <a:spcPts val="4478"/>
              </a:lnSpc>
              <a:buFont typeface="Arial"/>
              <a:buChar char="•"/>
            </a:pPr>
            <a:r>
              <a:rPr lang="en-US" sz="2799" spc="13">
                <a:solidFill>
                  <a:srgbClr val="181D2B"/>
                </a:solidFill>
                <a:latin typeface="Open Sauce"/>
                <a:ea typeface="Open Sauce"/>
                <a:cs typeface="Open Sauce"/>
                <a:sym typeface="Open Sauce"/>
              </a:rPr>
              <a:t>Kiểm tra tệp</a:t>
            </a:r>
          </a:p>
          <a:p>
            <a:pPr marL="604367" lvl="1" indent="-302184" algn="l">
              <a:lnSpc>
                <a:spcPts val="4478"/>
              </a:lnSpc>
              <a:buFont typeface="Arial"/>
              <a:buChar char="•"/>
            </a:pPr>
            <a:r>
              <a:rPr lang="en-US" sz="2799" spc="13">
                <a:solidFill>
                  <a:srgbClr val="181D2B"/>
                </a:solidFill>
                <a:latin typeface="Open Sauce"/>
                <a:ea typeface="Open Sauce"/>
                <a:cs typeface="Open Sauce"/>
                <a:sym typeface="Open Sauce"/>
              </a:rPr>
              <a:t>Xác thực kích thước và định dạng trước khi gửi</a:t>
            </a:r>
          </a:p>
        </p:txBody>
      </p:sp>
      <p:sp>
        <p:nvSpPr>
          <p:cNvPr id="9" name="TextBox 9"/>
          <p:cNvSpPr txBox="1"/>
          <p:nvPr/>
        </p:nvSpPr>
        <p:spPr>
          <a:xfrm>
            <a:off x="7296100" y="1229448"/>
            <a:ext cx="6801827" cy="911805"/>
          </a:xfrm>
          <a:prstGeom prst="rect">
            <a:avLst/>
          </a:prstGeom>
        </p:spPr>
        <p:txBody>
          <a:bodyPr lIns="0" tIns="0" rIns="0" bIns="0" rtlCol="0" anchor="t">
            <a:spAutoFit/>
          </a:bodyPr>
          <a:lstStyle/>
          <a:p>
            <a:pPr marL="0" lvl="0" indent="0" algn="l">
              <a:lnSpc>
                <a:spcPts val="6443"/>
              </a:lnSpc>
            </a:pPr>
            <a:r>
              <a:rPr lang="en-US" sz="4602" b="1">
                <a:solidFill>
                  <a:srgbClr val="2B598F"/>
                </a:solidFill>
                <a:latin typeface="Agrandir Bold"/>
                <a:ea typeface="Agrandir Bold"/>
                <a:cs typeface="Agrandir Bold"/>
                <a:sym typeface="Agrandir Bold"/>
              </a:rPr>
              <a:t>Chức năng đã xây dựng</a:t>
            </a:r>
          </a:p>
        </p:txBody>
      </p:sp>
      <p:grpSp>
        <p:nvGrpSpPr>
          <p:cNvPr id="10" name="Group 10"/>
          <p:cNvGrpSpPr/>
          <p:nvPr/>
        </p:nvGrpSpPr>
        <p:grpSpPr>
          <a:xfrm>
            <a:off x="12457284" y="2515070"/>
            <a:ext cx="4802016" cy="4479196"/>
            <a:chOff x="0" y="0"/>
            <a:chExt cx="1267130" cy="1181946"/>
          </a:xfrm>
        </p:grpSpPr>
        <p:sp>
          <p:nvSpPr>
            <p:cNvPr id="11" name="Freeform 11"/>
            <p:cNvSpPr/>
            <p:nvPr/>
          </p:nvSpPr>
          <p:spPr>
            <a:xfrm>
              <a:off x="0" y="0"/>
              <a:ext cx="1267130" cy="1181946"/>
            </a:xfrm>
            <a:custGeom>
              <a:avLst/>
              <a:gdLst/>
              <a:ahLst/>
              <a:cxnLst/>
              <a:rect l="l" t="t" r="r" b="b"/>
              <a:pathLst>
                <a:path w="1267130" h="1181946">
                  <a:moveTo>
                    <a:pt x="46754" y="0"/>
                  </a:moveTo>
                  <a:lnTo>
                    <a:pt x="1220375" y="0"/>
                  </a:lnTo>
                  <a:cubicBezTo>
                    <a:pt x="1232775" y="0"/>
                    <a:pt x="1244667" y="4926"/>
                    <a:pt x="1253436" y="13694"/>
                  </a:cubicBezTo>
                  <a:cubicBezTo>
                    <a:pt x="1262204" y="22462"/>
                    <a:pt x="1267130" y="34354"/>
                    <a:pt x="1267130" y="46754"/>
                  </a:cubicBezTo>
                  <a:lnTo>
                    <a:pt x="1267130" y="1135191"/>
                  </a:lnTo>
                  <a:cubicBezTo>
                    <a:pt x="1267130" y="1147591"/>
                    <a:pt x="1262204" y="1159483"/>
                    <a:pt x="1253436" y="1168252"/>
                  </a:cubicBezTo>
                  <a:cubicBezTo>
                    <a:pt x="1244667" y="1177020"/>
                    <a:pt x="1232775" y="1181946"/>
                    <a:pt x="1220375" y="1181946"/>
                  </a:cubicBezTo>
                  <a:lnTo>
                    <a:pt x="46754" y="1181946"/>
                  </a:lnTo>
                  <a:cubicBezTo>
                    <a:pt x="34354" y="1181946"/>
                    <a:pt x="22462" y="1177020"/>
                    <a:pt x="13694" y="1168252"/>
                  </a:cubicBezTo>
                  <a:cubicBezTo>
                    <a:pt x="4926" y="1159483"/>
                    <a:pt x="0" y="1147591"/>
                    <a:pt x="0" y="1135191"/>
                  </a:cubicBezTo>
                  <a:lnTo>
                    <a:pt x="0" y="46754"/>
                  </a:lnTo>
                  <a:cubicBezTo>
                    <a:pt x="0" y="34354"/>
                    <a:pt x="4926" y="22462"/>
                    <a:pt x="13694" y="13694"/>
                  </a:cubicBezTo>
                  <a:cubicBezTo>
                    <a:pt x="22462" y="4926"/>
                    <a:pt x="34354" y="0"/>
                    <a:pt x="46754" y="0"/>
                  </a:cubicBezTo>
                  <a:close/>
                </a:path>
              </a:pathLst>
            </a:custGeom>
            <a:solidFill>
              <a:srgbClr val="FFFFFE"/>
            </a:solidFill>
            <a:ln w="19050" cap="rnd">
              <a:solidFill>
                <a:srgbClr val="181D2B"/>
              </a:solidFill>
              <a:prstDash val="solid"/>
              <a:round/>
            </a:ln>
          </p:spPr>
          <p:txBody>
            <a:bodyPr/>
            <a:lstStyle/>
            <a:p>
              <a:endParaRPr lang="en-US"/>
            </a:p>
          </p:txBody>
        </p:sp>
        <p:sp>
          <p:nvSpPr>
            <p:cNvPr id="12" name="TextBox 12"/>
            <p:cNvSpPr txBox="1"/>
            <p:nvPr/>
          </p:nvSpPr>
          <p:spPr>
            <a:xfrm>
              <a:off x="0" y="-38100"/>
              <a:ext cx="1267130" cy="1220046"/>
            </a:xfrm>
            <a:prstGeom prst="rect">
              <a:avLst/>
            </a:prstGeom>
          </p:spPr>
          <p:txBody>
            <a:bodyPr lIns="50704" tIns="50704" rIns="50704" bIns="50704" rtlCol="0" anchor="ctr"/>
            <a:lstStyle/>
            <a:p>
              <a:pPr marL="0" lvl="0" indent="0" algn="ctr">
                <a:lnSpc>
                  <a:spcPts val="3135"/>
                </a:lnSpc>
              </a:pPr>
              <a:endParaRPr/>
            </a:p>
          </p:txBody>
        </p:sp>
      </p:grpSp>
      <p:sp>
        <p:nvSpPr>
          <p:cNvPr id="13" name="TextBox 13"/>
          <p:cNvSpPr txBox="1"/>
          <p:nvPr/>
        </p:nvSpPr>
        <p:spPr>
          <a:xfrm>
            <a:off x="12437909" y="2544719"/>
            <a:ext cx="4720759" cy="4334174"/>
          </a:xfrm>
          <a:prstGeom prst="rect">
            <a:avLst/>
          </a:prstGeom>
        </p:spPr>
        <p:txBody>
          <a:bodyPr lIns="0" tIns="0" rIns="0" bIns="0" rtlCol="0" anchor="t">
            <a:spAutoFit/>
          </a:bodyPr>
          <a:lstStyle/>
          <a:p>
            <a:pPr marL="524987" lvl="1" indent="-262493" algn="l">
              <a:lnSpc>
                <a:spcPts val="3890"/>
              </a:lnSpc>
              <a:buFont typeface="Arial"/>
              <a:buChar char="•"/>
            </a:pPr>
            <a:r>
              <a:rPr lang="en-US" sz="2431" spc="12">
                <a:solidFill>
                  <a:srgbClr val="181D2B"/>
                </a:solidFill>
                <a:latin typeface="Open Sauce"/>
                <a:ea typeface="Open Sauce"/>
                <a:cs typeface="Open Sauce"/>
                <a:sym typeface="Open Sauce"/>
              </a:rPr>
              <a:t>Điều khiển dòng truyền</a:t>
            </a:r>
          </a:p>
          <a:p>
            <a:pPr marL="524987" lvl="1" indent="-262493" algn="l">
              <a:lnSpc>
                <a:spcPts val="3890"/>
              </a:lnSpc>
              <a:buFont typeface="Arial"/>
              <a:buChar char="•"/>
            </a:pPr>
            <a:r>
              <a:rPr lang="en-US" sz="2431" spc="12">
                <a:solidFill>
                  <a:srgbClr val="181D2B"/>
                </a:solidFill>
                <a:latin typeface="Open Sauce"/>
                <a:ea typeface="Open Sauce"/>
                <a:cs typeface="Open Sauce"/>
                <a:sym typeface="Open Sauce"/>
              </a:rPr>
              <a:t>Pause, Resume, Stop linh hoạt</a:t>
            </a:r>
          </a:p>
          <a:p>
            <a:pPr marL="524987" lvl="1" indent="-262493" algn="l">
              <a:lnSpc>
                <a:spcPts val="3890"/>
              </a:lnSpc>
              <a:buFont typeface="Arial"/>
              <a:buChar char="•"/>
            </a:pPr>
            <a:r>
              <a:rPr lang="en-US" sz="2431" spc="12">
                <a:solidFill>
                  <a:srgbClr val="181D2B"/>
                </a:solidFill>
                <a:latin typeface="Open Sauce"/>
                <a:ea typeface="Open Sauce"/>
                <a:cs typeface="Open Sauce"/>
                <a:sym typeface="Open Sauce"/>
              </a:rPr>
              <a:t>Giới hạn tốc độ</a:t>
            </a:r>
          </a:p>
          <a:p>
            <a:pPr marL="524987" lvl="1" indent="-262493" algn="l">
              <a:lnSpc>
                <a:spcPts val="3890"/>
              </a:lnSpc>
              <a:buFont typeface="Arial"/>
              <a:buChar char="•"/>
            </a:pPr>
            <a:r>
              <a:rPr lang="en-US" sz="2431" spc="12">
                <a:solidFill>
                  <a:srgbClr val="181D2B"/>
                </a:solidFill>
                <a:latin typeface="Open Sauce"/>
                <a:ea typeface="Open Sauce"/>
                <a:cs typeface="Open Sauce"/>
                <a:sym typeface="Open Sauce"/>
              </a:rPr>
              <a:t>Thuật toán throttling kiểm soát băng thông</a:t>
            </a:r>
          </a:p>
          <a:p>
            <a:pPr marL="524987" lvl="1" indent="-262493" algn="l">
              <a:lnSpc>
                <a:spcPts val="3890"/>
              </a:lnSpc>
              <a:buFont typeface="Arial"/>
              <a:buChar char="•"/>
            </a:pPr>
            <a:r>
              <a:rPr lang="en-US" sz="2431" spc="12">
                <a:solidFill>
                  <a:srgbClr val="181D2B"/>
                </a:solidFill>
                <a:latin typeface="Open Sauce"/>
                <a:ea typeface="Open Sauce"/>
                <a:cs typeface="Open Sauce"/>
                <a:sym typeface="Open Sauce"/>
              </a:rPr>
              <a:t>Xác thực toàn vẹn</a:t>
            </a:r>
          </a:p>
          <a:p>
            <a:pPr marL="524987" lvl="1" indent="-262493" algn="l">
              <a:lnSpc>
                <a:spcPts val="3890"/>
              </a:lnSpc>
              <a:buFont typeface="Arial"/>
              <a:buChar char="•"/>
            </a:pPr>
            <a:r>
              <a:rPr lang="en-US" sz="2431" spc="12">
                <a:solidFill>
                  <a:srgbClr val="181D2B"/>
                </a:solidFill>
                <a:latin typeface="Open Sauce"/>
                <a:ea typeface="Open Sauce"/>
                <a:cs typeface="Open Sauce"/>
                <a:sym typeface="Open Sauce"/>
              </a:rPr>
              <a:t>So khớp SHA-256 hai đầu Client - Server</a:t>
            </a: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9FEFF"/>
        </a:solidFill>
        <a:effectLst/>
      </p:bgPr>
    </p:bg>
    <p:spTree>
      <p:nvGrpSpPr>
        <p:cNvPr id="1" name=""/>
        <p:cNvGrpSpPr/>
        <p:nvPr/>
      </p:nvGrpSpPr>
      <p:grpSpPr>
        <a:xfrm>
          <a:off x="0" y="0"/>
          <a:ext cx="0" cy="0"/>
          <a:chOff x="0" y="0"/>
          <a:chExt cx="0" cy="0"/>
        </a:xfrm>
      </p:grpSpPr>
      <p:sp>
        <p:nvSpPr>
          <p:cNvPr id="2" name="Freeform 2"/>
          <p:cNvSpPr/>
          <p:nvPr/>
        </p:nvSpPr>
        <p:spPr>
          <a:xfrm rot="-10800000">
            <a:off x="-24337" y="2416213"/>
            <a:ext cx="9673524" cy="14331147"/>
          </a:xfrm>
          <a:custGeom>
            <a:avLst/>
            <a:gdLst/>
            <a:ahLst/>
            <a:cxnLst/>
            <a:rect l="l" t="t" r="r" b="b"/>
            <a:pathLst>
              <a:path w="9673524" h="14331147">
                <a:moveTo>
                  <a:pt x="0" y="0"/>
                </a:moveTo>
                <a:lnTo>
                  <a:pt x="9673524" y="0"/>
                </a:lnTo>
                <a:lnTo>
                  <a:pt x="9673524" y="14331147"/>
                </a:lnTo>
                <a:lnTo>
                  <a:pt x="0" y="14331147"/>
                </a:lnTo>
                <a:lnTo>
                  <a:pt x="0" y="0"/>
                </a:lnTo>
                <a:close/>
              </a:path>
            </a:pathLst>
          </a:custGeom>
          <a:blipFill>
            <a:blip r:embed="rId2"/>
            <a:stretch>
              <a:fillRect/>
            </a:stretch>
          </a:blipFill>
        </p:spPr>
        <p:txBody>
          <a:bodyPr/>
          <a:lstStyle/>
          <a:p>
            <a:endParaRPr lang="en-US"/>
          </a:p>
        </p:txBody>
      </p:sp>
      <p:sp>
        <p:nvSpPr>
          <p:cNvPr id="3" name="Freeform 3"/>
          <p:cNvSpPr/>
          <p:nvPr/>
        </p:nvSpPr>
        <p:spPr>
          <a:xfrm>
            <a:off x="699065" y="873167"/>
            <a:ext cx="7581464" cy="6636168"/>
          </a:xfrm>
          <a:custGeom>
            <a:avLst/>
            <a:gdLst/>
            <a:ahLst/>
            <a:cxnLst/>
            <a:rect l="l" t="t" r="r" b="b"/>
            <a:pathLst>
              <a:path w="7581464" h="6636168">
                <a:moveTo>
                  <a:pt x="0" y="0"/>
                </a:moveTo>
                <a:lnTo>
                  <a:pt x="7581465" y="0"/>
                </a:lnTo>
                <a:lnTo>
                  <a:pt x="7581465" y="6636168"/>
                </a:lnTo>
                <a:lnTo>
                  <a:pt x="0" y="6636168"/>
                </a:lnTo>
                <a:lnTo>
                  <a:pt x="0" y="0"/>
                </a:lnTo>
                <a:close/>
              </a:path>
            </a:pathLst>
          </a:custGeom>
          <a:blipFill>
            <a:blip r:embed="rId3"/>
            <a:stretch>
              <a:fillRect/>
            </a:stretch>
          </a:blipFill>
        </p:spPr>
        <p:txBody>
          <a:bodyPr/>
          <a:lstStyle/>
          <a:p>
            <a:endParaRPr lang="en-US"/>
          </a:p>
        </p:txBody>
      </p:sp>
      <p:sp>
        <p:nvSpPr>
          <p:cNvPr id="4" name="Freeform 4"/>
          <p:cNvSpPr/>
          <p:nvPr/>
        </p:nvSpPr>
        <p:spPr>
          <a:xfrm>
            <a:off x="16304280" y="8565196"/>
            <a:ext cx="1135769" cy="753019"/>
          </a:xfrm>
          <a:custGeom>
            <a:avLst/>
            <a:gdLst/>
            <a:ahLst/>
            <a:cxnLst/>
            <a:rect l="l" t="t" r="r" b="b"/>
            <a:pathLst>
              <a:path w="1135769" h="753019">
                <a:moveTo>
                  <a:pt x="0" y="0"/>
                </a:moveTo>
                <a:lnTo>
                  <a:pt x="1135769" y="0"/>
                </a:lnTo>
                <a:lnTo>
                  <a:pt x="1135769" y="753019"/>
                </a:lnTo>
                <a:lnTo>
                  <a:pt x="0" y="753019"/>
                </a:lnTo>
                <a:lnTo>
                  <a:pt x="0" y="0"/>
                </a:lnTo>
                <a:close/>
              </a:path>
            </a:pathLst>
          </a:custGeom>
          <a:blipFill>
            <a:blip r:embed="rId4"/>
            <a:stretch>
              <a:fillRect/>
            </a:stretch>
          </a:blipFill>
          <a:ln cap="sq">
            <a:noFill/>
            <a:prstDash val="solid"/>
            <a:miter/>
          </a:ln>
        </p:spPr>
        <p:txBody>
          <a:bodyPr/>
          <a:lstStyle/>
          <a:p>
            <a:endParaRPr lang="en-US"/>
          </a:p>
        </p:txBody>
      </p:sp>
      <p:sp>
        <p:nvSpPr>
          <p:cNvPr id="5" name="TextBox 5"/>
          <p:cNvSpPr txBox="1"/>
          <p:nvPr/>
        </p:nvSpPr>
        <p:spPr>
          <a:xfrm>
            <a:off x="9198174" y="871903"/>
            <a:ext cx="8061126" cy="1251856"/>
          </a:xfrm>
          <a:prstGeom prst="rect">
            <a:avLst/>
          </a:prstGeom>
        </p:spPr>
        <p:txBody>
          <a:bodyPr lIns="0" tIns="0" rIns="0" bIns="0" rtlCol="0" anchor="t">
            <a:spAutoFit/>
          </a:bodyPr>
          <a:lstStyle/>
          <a:p>
            <a:pPr marL="0" lvl="0" indent="0" algn="r">
              <a:lnSpc>
                <a:spcPts val="8700"/>
              </a:lnSpc>
              <a:spcBef>
                <a:spcPct val="0"/>
              </a:spcBef>
            </a:pPr>
            <a:r>
              <a:rPr lang="en-US" sz="6214" b="1" u="none" strike="noStrike">
                <a:solidFill>
                  <a:srgbClr val="2B598F"/>
                </a:solidFill>
                <a:latin typeface="Agrandir Bold"/>
                <a:ea typeface="Agrandir Bold"/>
                <a:cs typeface="Agrandir Bold"/>
                <a:sym typeface="Agrandir Bold"/>
              </a:rPr>
              <a:t>Kết quả thực nghiệm</a:t>
            </a:r>
          </a:p>
        </p:txBody>
      </p:sp>
      <p:grpSp>
        <p:nvGrpSpPr>
          <p:cNvPr id="6" name="Group 6"/>
          <p:cNvGrpSpPr/>
          <p:nvPr/>
        </p:nvGrpSpPr>
        <p:grpSpPr>
          <a:xfrm>
            <a:off x="9649187" y="2416213"/>
            <a:ext cx="8446908" cy="4553287"/>
            <a:chOff x="0" y="0"/>
            <a:chExt cx="2228924" cy="1201496"/>
          </a:xfrm>
        </p:grpSpPr>
        <p:sp>
          <p:nvSpPr>
            <p:cNvPr id="7" name="Freeform 7"/>
            <p:cNvSpPr/>
            <p:nvPr/>
          </p:nvSpPr>
          <p:spPr>
            <a:xfrm>
              <a:off x="0" y="0"/>
              <a:ext cx="2228924" cy="1201496"/>
            </a:xfrm>
            <a:custGeom>
              <a:avLst/>
              <a:gdLst/>
              <a:ahLst/>
              <a:cxnLst/>
              <a:rect l="l" t="t" r="r" b="b"/>
              <a:pathLst>
                <a:path w="2228924" h="1201496">
                  <a:moveTo>
                    <a:pt x="26580" y="0"/>
                  </a:moveTo>
                  <a:lnTo>
                    <a:pt x="2202344" y="0"/>
                  </a:lnTo>
                  <a:cubicBezTo>
                    <a:pt x="2209393" y="0"/>
                    <a:pt x="2216154" y="2800"/>
                    <a:pt x="2221139" y="7785"/>
                  </a:cubicBezTo>
                  <a:cubicBezTo>
                    <a:pt x="2226123" y="12770"/>
                    <a:pt x="2228924" y="19530"/>
                    <a:pt x="2228924" y="26580"/>
                  </a:cubicBezTo>
                  <a:lnTo>
                    <a:pt x="2228924" y="1174917"/>
                  </a:lnTo>
                  <a:cubicBezTo>
                    <a:pt x="2228924" y="1181966"/>
                    <a:pt x="2226123" y="1188727"/>
                    <a:pt x="2221139" y="1193711"/>
                  </a:cubicBezTo>
                  <a:cubicBezTo>
                    <a:pt x="2216154" y="1198696"/>
                    <a:pt x="2209393" y="1201496"/>
                    <a:pt x="2202344" y="1201496"/>
                  </a:cubicBezTo>
                  <a:lnTo>
                    <a:pt x="26580" y="1201496"/>
                  </a:lnTo>
                  <a:cubicBezTo>
                    <a:pt x="11900" y="1201496"/>
                    <a:pt x="0" y="1189596"/>
                    <a:pt x="0" y="1174917"/>
                  </a:cubicBezTo>
                  <a:lnTo>
                    <a:pt x="0" y="26580"/>
                  </a:lnTo>
                  <a:cubicBezTo>
                    <a:pt x="0" y="19530"/>
                    <a:pt x="2800" y="12770"/>
                    <a:pt x="7785" y="7785"/>
                  </a:cubicBezTo>
                  <a:cubicBezTo>
                    <a:pt x="12770" y="2800"/>
                    <a:pt x="19530" y="0"/>
                    <a:pt x="26580" y="0"/>
                  </a:cubicBezTo>
                  <a:close/>
                </a:path>
              </a:pathLst>
            </a:custGeom>
            <a:solidFill>
              <a:srgbClr val="FFFFFE"/>
            </a:solidFill>
            <a:ln w="19050" cap="rnd">
              <a:solidFill>
                <a:srgbClr val="181D2B"/>
              </a:solidFill>
              <a:prstDash val="solid"/>
              <a:round/>
            </a:ln>
          </p:spPr>
          <p:txBody>
            <a:bodyPr/>
            <a:lstStyle/>
            <a:p>
              <a:endParaRPr lang="en-US"/>
            </a:p>
          </p:txBody>
        </p:sp>
        <p:sp>
          <p:nvSpPr>
            <p:cNvPr id="8" name="TextBox 8"/>
            <p:cNvSpPr txBox="1"/>
            <p:nvPr/>
          </p:nvSpPr>
          <p:spPr>
            <a:xfrm>
              <a:off x="0" y="-38100"/>
              <a:ext cx="2228924" cy="1239596"/>
            </a:xfrm>
            <a:prstGeom prst="rect">
              <a:avLst/>
            </a:prstGeom>
          </p:spPr>
          <p:txBody>
            <a:bodyPr lIns="50704" tIns="50704" rIns="50704" bIns="50704" rtlCol="0" anchor="ctr"/>
            <a:lstStyle/>
            <a:p>
              <a:pPr marL="0" lvl="0" indent="0" algn="ctr">
                <a:lnSpc>
                  <a:spcPts val="3135"/>
                </a:lnSpc>
              </a:pPr>
              <a:endParaRPr/>
            </a:p>
          </p:txBody>
        </p:sp>
      </p:grpSp>
      <p:sp>
        <p:nvSpPr>
          <p:cNvPr id="9" name="TextBox 9"/>
          <p:cNvSpPr txBox="1"/>
          <p:nvPr/>
        </p:nvSpPr>
        <p:spPr>
          <a:xfrm>
            <a:off x="9831970" y="2838741"/>
            <a:ext cx="7427330" cy="3868139"/>
          </a:xfrm>
          <a:prstGeom prst="rect">
            <a:avLst/>
          </a:prstGeom>
        </p:spPr>
        <p:txBody>
          <a:bodyPr lIns="0" tIns="0" rIns="0" bIns="0" rtlCol="0" anchor="t">
            <a:spAutoFit/>
          </a:bodyPr>
          <a:lstStyle/>
          <a:p>
            <a:pPr marL="0" lvl="0" indent="0" algn="just">
              <a:lnSpc>
                <a:spcPts val="2570"/>
              </a:lnSpc>
              <a:spcBef>
                <a:spcPct val="0"/>
              </a:spcBef>
            </a:pPr>
            <a:r>
              <a:rPr lang="en-US" sz="1836" u="none" strike="noStrike" spc="9">
                <a:solidFill>
                  <a:srgbClr val="181D2B"/>
                </a:solidFill>
                <a:latin typeface="Open Sauce"/>
                <a:ea typeface="Open Sauce"/>
                <a:cs typeface="Open Sauce"/>
                <a:sym typeface="Open Sauce"/>
              </a:rPr>
              <a:t>✅ Hoàn thành 100% tính năng upload đa luồng ổn định với file từ 100MB đến 1GB.</a:t>
            </a:r>
          </a:p>
          <a:p>
            <a:pPr marL="0" lvl="0" indent="0" algn="just">
              <a:lnSpc>
                <a:spcPts val="2570"/>
              </a:lnSpc>
              <a:spcBef>
                <a:spcPct val="0"/>
              </a:spcBef>
            </a:pPr>
            <a:r>
              <a:rPr lang="en-US" sz="1836" u="none" strike="noStrike" spc="9">
                <a:solidFill>
                  <a:srgbClr val="181D2B"/>
                </a:solidFill>
                <a:latin typeface="Open Sauce"/>
                <a:ea typeface="Open Sauce"/>
                <a:cs typeface="Open Sauce"/>
                <a:sym typeface="Open Sauce"/>
              </a:rPr>
              <a:t>✅ Chức năng Pause/Resume hoạt động tin cậy, không bị treo giữa chừng.</a:t>
            </a:r>
          </a:p>
          <a:p>
            <a:pPr marL="0" lvl="0" indent="0" algn="just">
              <a:lnSpc>
                <a:spcPts val="2570"/>
              </a:lnSpc>
              <a:spcBef>
                <a:spcPct val="0"/>
              </a:spcBef>
            </a:pPr>
            <a:r>
              <a:rPr lang="en-US" sz="1836" u="none" strike="noStrike" spc="9">
                <a:solidFill>
                  <a:srgbClr val="181D2B"/>
                </a:solidFill>
                <a:latin typeface="Open Sauce"/>
                <a:ea typeface="Open Sauce"/>
                <a:cs typeface="Open Sauce"/>
                <a:sym typeface="Open Sauce"/>
              </a:rPr>
              <a:t>✅ Không gây quá tải RAM trong suốt quá trình truyền tải song song.</a:t>
            </a:r>
          </a:p>
          <a:p>
            <a:pPr marL="0" lvl="0" indent="0" algn="just">
              <a:lnSpc>
                <a:spcPts val="2570"/>
              </a:lnSpc>
              <a:spcBef>
                <a:spcPct val="0"/>
              </a:spcBef>
            </a:pPr>
            <a:r>
              <a:rPr lang="en-US" sz="1836" u="none" strike="noStrike" spc="9">
                <a:solidFill>
                  <a:srgbClr val="181D2B"/>
                </a:solidFill>
                <a:latin typeface="Open Sauce"/>
                <a:ea typeface="Open Sauce"/>
                <a:cs typeface="Open Sauce"/>
                <a:sym typeface="Open Sauce"/>
              </a:rPr>
              <a:t>✅ Kiểm thử thành công trên môi trường LAN, hệ điều hành Windows 11.</a:t>
            </a:r>
          </a:p>
          <a:p>
            <a:pPr marL="0" lvl="0" indent="0" algn="just">
              <a:lnSpc>
                <a:spcPts val="2570"/>
              </a:lnSpc>
              <a:spcBef>
                <a:spcPct val="0"/>
              </a:spcBef>
            </a:pPr>
            <a:r>
              <a:rPr lang="en-US" sz="1836" u="none" strike="noStrike" spc="9">
                <a:solidFill>
                  <a:srgbClr val="181D2B"/>
                </a:solidFill>
                <a:latin typeface="Open Sauce"/>
                <a:ea typeface="Open Sauce"/>
                <a:cs typeface="Open Sauce"/>
                <a:sym typeface="Open Sauce"/>
              </a:rPr>
              <a:t>✅ Xác thực toàn vẹn dữ liệu SHA-256 khớp 100% ở cả hai đầu Client–Server.</a:t>
            </a:r>
          </a:p>
          <a:p>
            <a:pPr marL="0" lvl="0" indent="0" algn="just">
              <a:lnSpc>
                <a:spcPts val="2570"/>
              </a:lnSpc>
              <a:spcBef>
                <a:spcPct val="0"/>
              </a:spcBef>
            </a:pPr>
            <a:r>
              <a:rPr lang="en-US" sz="1836" u="none" strike="noStrike" spc="9">
                <a:solidFill>
                  <a:srgbClr val="181D2B"/>
                </a:solidFill>
                <a:latin typeface="Open Sauce"/>
                <a:ea typeface="Open Sauce"/>
                <a:cs typeface="Open Sauce"/>
                <a:sym typeface="Open Sauce"/>
              </a:rPr>
              <a:t>✅ Tốc độ truyền ổn định, thuật toán throttling hoạt động đúng giới hạn cấu hình.</a:t>
            </a:r>
          </a:p>
        </p:txBody>
      </p:sp>
      <p:sp>
        <p:nvSpPr>
          <p:cNvPr id="10" name="Freeform 10"/>
          <p:cNvSpPr/>
          <p:nvPr/>
        </p:nvSpPr>
        <p:spPr>
          <a:xfrm>
            <a:off x="9558817" y="6564039"/>
            <a:ext cx="6373294" cy="4755331"/>
          </a:xfrm>
          <a:custGeom>
            <a:avLst/>
            <a:gdLst/>
            <a:ahLst/>
            <a:cxnLst/>
            <a:rect l="l" t="t" r="r" b="b"/>
            <a:pathLst>
              <a:path w="6373294" h="4755331">
                <a:moveTo>
                  <a:pt x="0" y="0"/>
                </a:moveTo>
                <a:lnTo>
                  <a:pt x="6373294" y="0"/>
                </a:lnTo>
                <a:lnTo>
                  <a:pt x="6373294" y="4755332"/>
                </a:lnTo>
                <a:lnTo>
                  <a:pt x="0" y="4755332"/>
                </a:lnTo>
                <a:lnTo>
                  <a:pt x="0" y="0"/>
                </a:lnTo>
                <a:close/>
              </a:path>
            </a:pathLst>
          </a:custGeom>
          <a:blipFill>
            <a:blip r:embed="rId5"/>
            <a:stretch>
              <a:fillRect/>
            </a:stretch>
          </a:blipFill>
        </p:spPr>
        <p:txBody>
          <a:bodyPr/>
          <a:lstStyle/>
          <a:p>
            <a:endParaRPr lang="en-US"/>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9FEFF"/>
        </a:solidFill>
        <a:effectLst/>
      </p:bgPr>
    </p:bg>
    <p:spTree>
      <p:nvGrpSpPr>
        <p:cNvPr id="1" name=""/>
        <p:cNvGrpSpPr/>
        <p:nvPr/>
      </p:nvGrpSpPr>
      <p:grpSpPr>
        <a:xfrm>
          <a:off x="0" y="0"/>
          <a:ext cx="0" cy="0"/>
          <a:chOff x="0" y="0"/>
          <a:chExt cx="0" cy="0"/>
        </a:xfrm>
      </p:grpSpPr>
      <p:sp>
        <p:nvSpPr>
          <p:cNvPr id="2" name="Freeform 2"/>
          <p:cNvSpPr/>
          <p:nvPr/>
        </p:nvSpPr>
        <p:spPr>
          <a:xfrm>
            <a:off x="13143014" y="1878517"/>
            <a:ext cx="6461556" cy="6601845"/>
          </a:xfrm>
          <a:custGeom>
            <a:avLst/>
            <a:gdLst/>
            <a:ahLst/>
            <a:cxnLst/>
            <a:rect l="l" t="t" r="r" b="b"/>
            <a:pathLst>
              <a:path w="6461556" h="6601845">
                <a:moveTo>
                  <a:pt x="0" y="0"/>
                </a:moveTo>
                <a:lnTo>
                  <a:pt x="6461556" y="0"/>
                </a:lnTo>
                <a:lnTo>
                  <a:pt x="6461556" y="6601845"/>
                </a:lnTo>
                <a:lnTo>
                  <a:pt x="0" y="6601845"/>
                </a:lnTo>
                <a:lnTo>
                  <a:pt x="0" y="0"/>
                </a:lnTo>
                <a:close/>
              </a:path>
            </a:pathLst>
          </a:custGeom>
          <a:blipFill>
            <a:blip r:embed="rId2"/>
            <a:stretch>
              <a:fillRect/>
            </a:stretch>
          </a:blipFill>
          <a:ln cap="rnd">
            <a:noFill/>
            <a:prstDash val="solid"/>
            <a:round/>
          </a:ln>
        </p:spPr>
        <p:txBody>
          <a:bodyPr/>
          <a:lstStyle/>
          <a:p>
            <a:endParaRPr lang="en-US"/>
          </a:p>
        </p:txBody>
      </p:sp>
      <p:sp>
        <p:nvSpPr>
          <p:cNvPr id="3" name="Freeform 3"/>
          <p:cNvSpPr/>
          <p:nvPr/>
        </p:nvSpPr>
        <p:spPr>
          <a:xfrm rot="-1431390">
            <a:off x="13646045" y="4253919"/>
            <a:ext cx="4167561" cy="5458024"/>
          </a:xfrm>
          <a:custGeom>
            <a:avLst/>
            <a:gdLst/>
            <a:ahLst/>
            <a:cxnLst/>
            <a:rect l="l" t="t" r="r" b="b"/>
            <a:pathLst>
              <a:path w="4167561" h="5458024">
                <a:moveTo>
                  <a:pt x="0" y="0"/>
                </a:moveTo>
                <a:lnTo>
                  <a:pt x="4167561" y="0"/>
                </a:lnTo>
                <a:lnTo>
                  <a:pt x="4167561" y="5458025"/>
                </a:lnTo>
                <a:lnTo>
                  <a:pt x="0" y="5458025"/>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1786335" y="2669704"/>
            <a:ext cx="11867075" cy="2167257"/>
            <a:chOff x="0" y="0"/>
            <a:chExt cx="3131419" cy="571884"/>
          </a:xfrm>
        </p:grpSpPr>
        <p:sp>
          <p:nvSpPr>
            <p:cNvPr id="5" name="Freeform 5"/>
            <p:cNvSpPr/>
            <p:nvPr/>
          </p:nvSpPr>
          <p:spPr>
            <a:xfrm>
              <a:off x="0" y="0"/>
              <a:ext cx="3131419" cy="571884"/>
            </a:xfrm>
            <a:custGeom>
              <a:avLst/>
              <a:gdLst/>
              <a:ahLst/>
              <a:cxnLst/>
              <a:rect l="l" t="t" r="r" b="b"/>
              <a:pathLst>
                <a:path w="3131419" h="571884">
                  <a:moveTo>
                    <a:pt x="18919" y="0"/>
                  </a:moveTo>
                  <a:lnTo>
                    <a:pt x="3112500" y="0"/>
                  </a:lnTo>
                  <a:cubicBezTo>
                    <a:pt x="3122948" y="0"/>
                    <a:pt x="3131419" y="8470"/>
                    <a:pt x="3131419" y="18919"/>
                  </a:cubicBezTo>
                  <a:lnTo>
                    <a:pt x="3131419" y="552965"/>
                  </a:lnTo>
                  <a:cubicBezTo>
                    <a:pt x="3131419" y="557982"/>
                    <a:pt x="3129425" y="562794"/>
                    <a:pt x="3125877" y="566342"/>
                  </a:cubicBezTo>
                  <a:cubicBezTo>
                    <a:pt x="3122329" y="569891"/>
                    <a:pt x="3117517" y="571884"/>
                    <a:pt x="3112500" y="571884"/>
                  </a:cubicBezTo>
                  <a:lnTo>
                    <a:pt x="18919" y="571884"/>
                  </a:lnTo>
                  <a:cubicBezTo>
                    <a:pt x="13902" y="571884"/>
                    <a:pt x="9089" y="569891"/>
                    <a:pt x="5541" y="566342"/>
                  </a:cubicBezTo>
                  <a:cubicBezTo>
                    <a:pt x="1993" y="562794"/>
                    <a:pt x="0" y="557982"/>
                    <a:pt x="0" y="552965"/>
                  </a:cubicBezTo>
                  <a:lnTo>
                    <a:pt x="0" y="18919"/>
                  </a:lnTo>
                  <a:cubicBezTo>
                    <a:pt x="0" y="13902"/>
                    <a:pt x="1993" y="9089"/>
                    <a:pt x="5541" y="5541"/>
                  </a:cubicBezTo>
                  <a:cubicBezTo>
                    <a:pt x="9089" y="1993"/>
                    <a:pt x="13902" y="0"/>
                    <a:pt x="18919" y="0"/>
                  </a:cubicBezTo>
                  <a:close/>
                </a:path>
              </a:pathLst>
            </a:custGeom>
            <a:solidFill>
              <a:srgbClr val="FFFFFE"/>
            </a:solidFill>
            <a:ln w="19050" cap="rnd">
              <a:solidFill>
                <a:srgbClr val="181D2B"/>
              </a:solidFill>
              <a:prstDash val="solid"/>
              <a:round/>
            </a:ln>
          </p:spPr>
          <p:txBody>
            <a:bodyPr/>
            <a:lstStyle/>
            <a:p>
              <a:endParaRPr lang="en-US"/>
            </a:p>
          </p:txBody>
        </p:sp>
        <p:sp>
          <p:nvSpPr>
            <p:cNvPr id="6" name="TextBox 6"/>
            <p:cNvSpPr txBox="1"/>
            <p:nvPr/>
          </p:nvSpPr>
          <p:spPr>
            <a:xfrm>
              <a:off x="0" y="-38100"/>
              <a:ext cx="3131419" cy="609984"/>
            </a:xfrm>
            <a:prstGeom prst="rect">
              <a:avLst/>
            </a:prstGeom>
          </p:spPr>
          <p:txBody>
            <a:bodyPr lIns="50704" tIns="50704" rIns="50704" bIns="50704" rtlCol="0" anchor="ctr"/>
            <a:lstStyle/>
            <a:p>
              <a:pPr marL="0" lvl="0" indent="0" algn="ctr">
                <a:lnSpc>
                  <a:spcPts val="3135"/>
                </a:lnSpc>
              </a:pPr>
              <a:endParaRPr/>
            </a:p>
          </p:txBody>
        </p:sp>
      </p:grpSp>
      <p:sp>
        <p:nvSpPr>
          <p:cNvPr id="7" name="TextBox 7"/>
          <p:cNvSpPr txBox="1"/>
          <p:nvPr/>
        </p:nvSpPr>
        <p:spPr>
          <a:xfrm>
            <a:off x="2192121" y="3063689"/>
            <a:ext cx="11048426" cy="1150902"/>
          </a:xfrm>
          <a:prstGeom prst="rect">
            <a:avLst/>
          </a:prstGeom>
        </p:spPr>
        <p:txBody>
          <a:bodyPr lIns="0" tIns="0" rIns="0" bIns="0" rtlCol="0" anchor="t">
            <a:spAutoFit/>
          </a:bodyPr>
          <a:lstStyle/>
          <a:p>
            <a:pPr marL="0" lvl="0" indent="0" algn="l">
              <a:lnSpc>
                <a:spcPts val="3117"/>
              </a:lnSpc>
              <a:spcBef>
                <a:spcPct val="0"/>
              </a:spcBef>
            </a:pPr>
            <a:r>
              <a:rPr lang="en-US" sz="2226" u="none" strike="noStrike" spc="11">
                <a:solidFill>
                  <a:srgbClr val="181D2B"/>
                </a:solidFill>
                <a:latin typeface="Open Sauce"/>
                <a:ea typeface="Open Sauce"/>
                <a:cs typeface="Open Sauce"/>
                <a:sym typeface="Open Sauce"/>
              </a:rPr>
              <a:t>Khó khăn gặp phải: Định nghĩa cấu trúc Header nhị phân phức tạp, sử dụng threading.Lock để tránh xung đột ghi file đồng thời, xác định offset chính xác khi Resume, cấu hình pyodbc kết nối SQL Server trên nhiều môi trường khác nhau.</a:t>
            </a:r>
          </a:p>
        </p:txBody>
      </p:sp>
      <p:sp>
        <p:nvSpPr>
          <p:cNvPr id="8" name="Freeform 8"/>
          <p:cNvSpPr/>
          <p:nvPr/>
        </p:nvSpPr>
        <p:spPr>
          <a:xfrm>
            <a:off x="1028700" y="3661953"/>
            <a:ext cx="586747" cy="223355"/>
          </a:xfrm>
          <a:custGeom>
            <a:avLst/>
            <a:gdLst/>
            <a:ahLst/>
            <a:cxnLst/>
            <a:rect l="l" t="t" r="r" b="b"/>
            <a:pathLst>
              <a:path w="586747" h="223355">
                <a:moveTo>
                  <a:pt x="0" y="0"/>
                </a:moveTo>
                <a:lnTo>
                  <a:pt x="586747" y="0"/>
                </a:lnTo>
                <a:lnTo>
                  <a:pt x="586747" y="223356"/>
                </a:lnTo>
                <a:lnTo>
                  <a:pt x="0" y="22335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grpSp>
        <p:nvGrpSpPr>
          <p:cNvPr id="9" name="Group 9"/>
          <p:cNvGrpSpPr/>
          <p:nvPr/>
        </p:nvGrpSpPr>
        <p:grpSpPr>
          <a:xfrm>
            <a:off x="1786335" y="5096134"/>
            <a:ext cx="11867075" cy="2167257"/>
            <a:chOff x="0" y="0"/>
            <a:chExt cx="3131419" cy="571884"/>
          </a:xfrm>
        </p:grpSpPr>
        <p:sp>
          <p:nvSpPr>
            <p:cNvPr id="10" name="Freeform 10"/>
            <p:cNvSpPr/>
            <p:nvPr/>
          </p:nvSpPr>
          <p:spPr>
            <a:xfrm>
              <a:off x="0" y="0"/>
              <a:ext cx="3131419" cy="571884"/>
            </a:xfrm>
            <a:custGeom>
              <a:avLst/>
              <a:gdLst/>
              <a:ahLst/>
              <a:cxnLst/>
              <a:rect l="l" t="t" r="r" b="b"/>
              <a:pathLst>
                <a:path w="3131419" h="571884">
                  <a:moveTo>
                    <a:pt x="18919" y="0"/>
                  </a:moveTo>
                  <a:lnTo>
                    <a:pt x="3112500" y="0"/>
                  </a:lnTo>
                  <a:cubicBezTo>
                    <a:pt x="3122948" y="0"/>
                    <a:pt x="3131419" y="8470"/>
                    <a:pt x="3131419" y="18919"/>
                  </a:cubicBezTo>
                  <a:lnTo>
                    <a:pt x="3131419" y="552965"/>
                  </a:lnTo>
                  <a:cubicBezTo>
                    <a:pt x="3131419" y="557982"/>
                    <a:pt x="3129425" y="562794"/>
                    <a:pt x="3125877" y="566342"/>
                  </a:cubicBezTo>
                  <a:cubicBezTo>
                    <a:pt x="3122329" y="569891"/>
                    <a:pt x="3117517" y="571884"/>
                    <a:pt x="3112500" y="571884"/>
                  </a:cubicBezTo>
                  <a:lnTo>
                    <a:pt x="18919" y="571884"/>
                  </a:lnTo>
                  <a:cubicBezTo>
                    <a:pt x="13902" y="571884"/>
                    <a:pt x="9089" y="569891"/>
                    <a:pt x="5541" y="566342"/>
                  </a:cubicBezTo>
                  <a:cubicBezTo>
                    <a:pt x="1993" y="562794"/>
                    <a:pt x="0" y="557982"/>
                    <a:pt x="0" y="552965"/>
                  </a:cubicBezTo>
                  <a:lnTo>
                    <a:pt x="0" y="18919"/>
                  </a:lnTo>
                  <a:cubicBezTo>
                    <a:pt x="0" y="13902"/>
                    <a:pt x="1993" y="9089"/>
                    <a:pt x="5541" y="5541"/>
                  </a:cubicBezTo>
                  <a:cubicBezTo>
                    <a:pt x="9089" y="1993"/>
                    <a:pt x="13902" y="0"/>
                    <a:pt x="18919" y="0"/>
                  </a:cubicBezTo>
                  <a:close/>
                </a:path>
              </a:pathLst>
            </a:custGeom>
            <a:solidFill>
              <a:srgbClr val="FFFFFE"/>
            </a:solidFill>
            <a:ln w="19050" cap="rnd">
              <a:solidFill>
                <a:srgbClr val="181D2B"/>
              </a:solidFill>
              <a:prstDash val="solid"/>
              <a:round/>
            </a:ln>
          </p:spPr>
          <p:txBody>
            <a:bodyPr/>
            <a:lstStyle/>
            <a:p>
              <a:endParaRPr lang="en-US"/>
            </a:p>
          </p:txBody>
        </p:sp>
        <p:sp>
          <p:nvSpPr>
            <p:cNvPr id="11" name="TextBox 11"/>
            <p:cNvSpPr txBox="1"/>
            <p:nvPr/>
          </p:nvSpPr>
          <p:spPr>
            <a:xfrm>
              <a:off x="0" y="-38100"/>
              <a:ext cx="3131419" cy="609984"/>
            </a:xfrm>
            <a:prstGeom prst="rect">
              <a:avLst/>
            </a:prstGeom>
          </p:spPr>
          <p:txBody>
            <a:bodyPr lIns="50704" tIns="50704" rIns="50704" bIns="50704" rtlCol="0" anchor="ctr"/>
            <a:lstStyle/>
            <a:p>
              <a:pPr marL="0" lvl="0" indent="0" algn="ctr">
                <a:lnSpc>
                  <a:spcPts val="3135"/>
                </a:lnSpc>
              </a:pPr>
              <a:endParaRPr/>
            </a:p>
          </p:txBody>
        </p:sp>
      </p:grpSp>
      <p:sp>
        <p:nvSpPr>
          <p:cNvPr id="12" name="TextBox 12"/>
          <p:cNvSpPr txBox="1"/>
          <p:nvPr/>
        </p:nvSpPr>
        <p:spPr>
          <a:xfrm>
            <a:off x="2192121" y="5490120"/>
            <a:ext cx="11048426" cy="1150902"/>
          </a:xfrm>
          <a:prstGeom prst="rect">
            <a:avLst/>
          </a:prstGeom>
        </p:spPr>
        <p:txBody>
          <a:bodyPr lIns="0" tIns="0" rIns="0" bIns="0" rtlCol="0" anchor="t">
            <a:spAutoFit/>
          </a:bodyPr>
          <a:lstStyle/>
          <a:p>
            <a:pPr marL="0" lvl="0" indent="0" algn="l">
              <a:lnSpc>
                <a:spcPts val="3117"/>
              </a:lnSpc>
              <a:spcBef>
                <a:spcPct val="0"/>
              </a:spcBef>
            </a:pPr>
            <a:r>
              <a:rPr lang="en-US" sz="2226" u="none" strike="noStrike" spc="11">
                <a:solidFill>
                  <a:srgbClr val="181D2B"/>
                </a:solidFill>
                <a:latin typeface="Open Sauce"/>
                <a:ea typeface="Open Sauce"/>
                <a:cs typeface="Open Sauce"/>
                <a:sym typeface="Open Sauce"/>
              </a:rPr>
              <a:t>Bài học kinh nghiệm: Nắm vững TCP/IP truyền dữ liệu nhị phân, lập trình đa luồng an toàn, xử lý bất đồng bộ với PyQt5 (pyqtSignal/Slot), triển khai SHA-256 và PBKDF2 xác thực toàn vẹn, quản lý mã nguồn nhóm hiệu quả với Git.</a:t>
            </a:r>
          </a:p>
        </p:txBody>
      </p:sp>
      <p:sp>
        <p:nvSpPr>
          <p:cNvPr id="13" name="Freeform 13"/>
          <p:cNvSpPr/>
          <p:nvPr/>
        </p:nvSpPr>
        <p:spPr>
          <a:xfrm>
            <a:off x="1028700" y="6088384"/>
            <a:ext cx="586747" cy="223355"/>
          </a:xfrm>
          <a:custGeom>
            <a:avLst/>
            <a:gdLst/>
            <a:ahLst/>
            <a:cxnLst/>
            <a:rect l="l" t="t" r="r" b="b"/>
            <a:pathLst>
              <a:path w="586747" h="223355">
                <a:moveTo>
                  <a:pt x="0" y="0"/>
                </a:moveTo>
                <a:lnTo>
                  <a:pt x="586747" y="0"/>
                </a:lnTo>
                <a:lnTo>
                  <a:pt x="586747" y="223355"/>
                </a:lnTo>
                <a:lnTo>
                  <a:pt x="0" y="223355"/>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4" name="Freeform 14"/>
          <p:cNvSpPr/>
          <p:nvPr/>
        </p:nvSpPr>
        <p:spPr>
          <a:xfrm>
            <a:off x="1028700" y="8474217"/>
            <a:ext cx="697121" cy="784083"/>
          </a:xfrm>
          <a:custGeom>
            <a:avLst/>
            <a:gdLst/>
            <a:ahLst/>
            <a:cxnLst/>
            <a:rect l="l" t="t" r="r" b="b"/>
            <a:pathLst>
              <a:path w="697121" h="784083">
                <a:moveTo>
                  <a:pt x="0" y="0"/>
                </a:moveTo>
                <a:lnTo>
                  <a:pt x="697121" y="0"/>
                </a:lnTo>
                <a:lnTo>
                  <a:pt x="697121" y="784083"/>
                </a:lnTo>
                <a:lnTo>
                  <a:pt x="0" y="784083"/>
                </a:lnTo>
                <a:lnTo>
                  <a:pt x="0" y="0"/>
                </a:lnTo>
                <a:close/>
              </a:path>
            </a:pathLst>
          </a:custGeom>
          <a:blipFill>
            <a:blip>
              <a:extLst>
                <a:ext uri="{96DAC541-7B7A-43D3-8B79-37D633B846F1}">
                  <asvg:svgBlip xmlns:asvg="http://schemas.microsoft.com/office/drawing/2016/SVG/main" r:embed="rId5"/>
                </a:ext>
              </a:extLst>
            </a:blip>
            <a:stretch>
              <a:fillRect/>
            </a:stretch>
          </a:blipFill>
          <a:ln cap="sq">
            <a:noFill/>
            <a:prstDash val="solid"/>
            <a:miter/>
          </a:ln>
        </p:spPr>
        <p:txBody>
          <a:bodyPr/>
          <a:lstStyle/>
          <a:p>
            <a:endParaRPr lang="en-US"/>
          </a:p>
        </p:txBody>
      </p:sp>
      <p:sp>
        <p:nvSpPr>
          <p:cNvPr id="15" name="TextBox 15"/>
          <p:cNvSpPr txBox="1"/>
          <p:nvPr/>
        </p:nvSpPr>
        <p:spPr>
          <a:xfrm>
            <a:off x="1028700" y="723900"/>
            <a:ext cx="12270325" cy="1250686"/>
          </a:xfrm>
          <a:prstGeom prst="rect">
            <a:avLst/>
          </a:prstGeom>
        </p:spPr>
        <p:txBody>
          <a:bodyPr lIns="0" tIns="0" rIns="0" bIns="0" rtlCol="0" anchor="t">
            <a:spAutoFit/>
          </a:bodyPr>
          <a:lstStyle/>
          <a:p>
            <a:pPr marL="0" lvl="0" indent="0" algn="l">
              <a:lnSpc>
                <a:spcPts val="8764"/>
              </a:lnSpc>
              <a:spcBef>
                <a:spcPct val="0"/>
              </a:spcBef>
            </a:pPr>
            <a:r>
              <a:rPr lang="en-US" sz="6260" b="1" u="none" strike="noStrike">
                <a:solidFill>
                  <a:srgbClr val="2B598F"/>
                </a:solidFill>
                <a:latin typeface="Agrandir Bold"/>
                <a:ea typeface="Agrandir Bold"/>
                <a:cs typeface="Agrandir Bold"/>
                <a:sym typeface="Agrandir Bold"/>
              </a:rPr>
              <a:t>Khó khăn &amp; Bài học Kinh nghiệm</a:t>
            </a: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9FEFF"/>
        </a:solidFill>
        <a:effectLst/>
      </p:bgPr>
    </p:bg>
    <p:spTree>
      <p:nvGrpSpPr>
        <p:cNvPr id="1" name=""/>
        <p:cNvGrpSpPr/>
        <p:nvPr/>
      </p:nvGrpSpPr>
      <p:grpSpPr>
        <a:xfrm>
          <a:off x="0" y="0"/>
          <a:ext cx="0" cy="0"/>
          <a:chOff x="0" y="0"/>
          <a:chExt cx="0" cy="0"/>
        </a:xfrm>
      </p:grpSpPr>
      <p:sp>
        <p:nvSpPr>
          <p:cNvPr id="2" name="Freeform 2"/>
          <p:cNvSpPr/>
          <p:nvPr/>
        </p:nvSpPr>
        <p:spPr>
          <a:xfrm>
            <a:off x="9144000" y="3964245"/>
            <a:ext cx="8115300" cy="8115300"/>
          </a:xfrm>
          <a:custGeom>
            <a:avLst/>
            <a:gdLst/>
            <a:ahLst/>
            <a:cxnLst/>
            <a:rect l="l" t="t" r="r" b="b"/>
            <a:pathLst>
              <a:path w="8115300" h="8115300">
                <a:moveTo>
                  <a:pt x="0" y="0"/>
                </a:moveTo>
                <a:lnTo>
                  <a:pt x="8115300" y="0"/>
                </a:lnTo>
                <a:lnTo>
                  <a:pt x="8115300" y="8115300"/>
                </a:lnTo>
                <a:lnTo>
                  <a:pt x="0" y="8115300"/>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txBody>
          <a:bodyPr/>
          <a:lstStyle/>
          <a:p>
            <a:endParaRPr lang="en-US"/>
          </a:p>
        </p:txBody>
      </p:sp>
      <p:grpSp>
        <p:nvGrpSpPr>
          <p:cNvPr id="3" name="Group 3"/>
          <p:cNvGrpSpPr/>
          <p:nvPr/>
        </p:nvGrpSpPr>
        <p:grpSpPr>
          <a:xfrm>
            <a:off x="2340699" y="3553614"/>
            <a:ext cx="13606603" cy="1509466"/>
            <a:chOff x="0" y="0"/>
            <a:chExt cx="3590436" cy="398309"/>
          </a:xfrm>
        </p:grpSpPr>
        <p:sp>
          <p:nvSpPr>
            <p:cNvPr id="4" name="Freeform 4"/>
            <p:cNvSpPr/>
            <p:nvPr/>
          </p:nvSpPr>
          <p:spPr>
            <a:xfrm>
              <a:off x="0" y="0"/>
              <a:ext cx="3590435" cy="398310"/>
            </a:xfrm>
            <a:custGeom>
              <a:avLst/>
              <a:gdLst/>
              <a:ahLst/>
              <a:cxnLst/>
              <a:rect l="l" t="t" r="r" b="b"/>
              <a:pathLst>
                <a:path w="3590435" h="398310">
                  <a:moveTo>
                    <a:pt x="16500" y="0"/>
                  </a:moveTo>
                  <a:lnTo>
                    <a:pt x="3573935" y="0"/>
                  </a:lnTo>
                  <a:cubicBezTo>
                    <a:pt x="3578311" y="0"/>
                    <a:pt x="3582508" y="1738"/>
                    <a:pt x="3585602" y="4833"/>
                  </a:cubicBezTo>
                  <a:cubicBezTo>
                    <a:pt x="3588697" y="7927"/>
                    <a:pt x="3590435" y="12124"/>
                    <a:pt x="3590435" y="16500"/>
                  </a:cubicBezTo>
                  <a:lnTo>
                    <a:pt x="3590435" y="381809"/>
                  </a:lnTo>
                  <a:cubicBezTo>
                    <a:pt x="3590435" y="386185"/>
                    <a:pt x="3588697" y="390382"/>
                    <a:pt x="3585602" y="393477"/>
                  </a:cubicBezTo>
                  <a:cubicBezTo>
                    <a:pt x="3582508" y="396571"/>
                    <a:pt x="3578311" y="398310"/>
                    <a:pt x="3573935" y="398310"/>
                  </a:cubicBezTo>
                  <a:lnTo>
                    <a:pt x="16500" y="398310"/>
                  </a:lnTo>
                  <a:cubicBezTo>
                    <a:pt x="12124" y="398310"/>
                    <a:pt x="7927" y="396571"/>
                    <a:pt x="4833" y="393477"/>
                  </a:cubicBezTo>
                  <a:cubicBezTo>
                    <a:pt x="1738" y="390382"/>
                    <a:pt x="0" y="386185"/>
                    <a:pt x="0" y="381809"/>
                  </a:cubicBezTo>
                  <a:lnTo>
                    <a:pt x="0" y="16500"/>
                  </a:lnTo>
                  <a:cubicBezTo>
                    <a:pt x="0" y="12124"/>
                    <a:pt x="1738" y="7927"/>
                    <a:pt x="4833" y="4833"/>
                  </a:cubicBezTo>
                  <a:cubicBezTo>
                    <a:pt x="7927" y="1738"/>
                    <a:pt x="12124" y="0"/>
                    <a:pt x="16500" y="0"/>
                  </a:cubicBezTo>
                  <a:close/>
                </a:path>
              </a:pathLst>
            </a:custGeom>
            <a:solidFill>
              <a:srgbClr val="FFFFFE"/>
            </a:solidFill>
            <a:ln w="19050" cap="rnd">
              <a:solidFill>
                <a:srgbClr val="181D2B"/>
              </a:solidFill>
              <a:prstDash val="solid"/>
              <a:round/>
            </a:ln>
          </p:spPr>
          <p:txBody>
            <a:bodyPr/>
            <a:lstStyle/>
            <a:p>
              <a:endParaRPr lang="en-US"/>
            </a:p>
          </p:txBody>
        </p:sp>
        <p:sp>
          <p:nvSpPr>
            <p:cNvPr id="5" name="TextBox 5"/>
            <p:cNvSpPr txBox="1"/>
            <p:nvPr/>
          </p:nvSpPr>
          <p:spPr>
            <a:xfrm>
              <a:off x="0" y="-38100"/>
              <a:ext cx="3590436" cy="436409"/>
            </a:xfrm>
            <a:prstGeom prst="rect">
              <a:avLst/>
            </a:prstGeom>
          </p:spPr>
          <p:txBody>
            <a:bodyPr lIns="50704" tIns="50704" rIns="50704" bIns="50704" rtlCol="0" anchor="ctr"/>
            <a:lstStyle/>
            <a:p>
              <a:pPr marL="0" lvl="0" indent="0" algn="ctr">
                <a:lnSpc>
                  <a:spcPts val="3135"/>
                </a:lnSpc>
              </a:pPr>
              <a:endParaRPr/>
            </a:p>
          </p:txBody>
        </p:sp>
      </p:grpSp>
      <p:sp>
        <p:nvSpPr>
          <p:cNvPr id="6" name="TextBox 6"/>
          <p:cNvSpPr txBox="1"/>
          <p:nvPr/>
        </p:nvSpPr>
        <p:spPr>
          <a:xfrm>
            <a:off x="2810024" y="3823427"/>
            <a:ext cx="12667952" cy="881173"/>
          </a:xfrm>
          <a:prstGeom prst="rect">
            <a:avLst/>
          </a:prstGeom>
        </p:spPr>
        <p:txBody>
          <a:bodyPr lIns="0" tIns="0" rIns="0" bIns="0" rtlCol="0" anchor="t">
            <a:spAutoFit/>
          </a:bodyPr>
          <a:lstStyle/>
          <a:p>
            <a:pPr marL="0" lvl="0" indent="0" algn="ctr">
              <a:lnSpc>
                <a:spcPts val="2356"/>
              </a:lnSpc>
              <a:spcBef>
                <a:spcPct val="0"/>
              </a:spcBef>
            </a:pPr>
            <a:r>
              <a:rPr lang="en-US" sz="1683" u="none" strike="noStrike" spc="8">
                <a:solidFill>
                  <a:srgbClr val="181D2B"/>
                </a:solidFill>
                <a:latin typeface="Open Sauce"/>
                <a:ea typeface="Open Sauce"/>
                <a:cs typeface="Open Sauce"/>
                <a:sym typeface="Open Sauce"/>
              </a:rPr>
              <a:t>✅ Đánh giá kết quả: Hệ thống đạt toàn bộ yêu cầu đề ra — chức năng Pause/Resume hoạt động chính xác, upload đa luồng ổn định với file 100MB–1GB. Đề tài chứng minh thành công mô hình Client-Server TCP Socket nhị phân, đa luồng với xác thực SHA-256 và kiểm soát toàn diện.</a:t>
            </a:r>
          </a:p>
        </p:txBody>
      </p:sp>
      <p:sp>
        <p:nvSpPr>
          <p:cNvPr id="7" name="Freeform 7"/>
          <p:cNvSpPr/>
          <p:nvPr/>
        </p:nvSpPr>
        <p:spPr>
          <a:xfrm>
            <a:off x="936937" y="8547102"/>
            <a:ext cx="820701" cy="781061"/>
          </a:xfrm>
          <a:custGeom>
            <a:avLst/>
            <a:gdLst/>
            <a:ahLst/>
            <a:cxnLst/>
            <a:rect l="l" t="t" r="r" b="b"/>
            <a:pathLst>
              <a:path w="820701" h="781061">
                <a:moveTo>
                  <a:pt x="0" y="0"/>
                </a:moveTo>
                <a:lnTo>
                  <a:pt x="820702" y="0"/>
                </a:lnTo>
                <a:lnTo>
                  <a:pt x="820702" y="781062"/>
                </a:lnTo>
                <a:lnTo>
                  <a:pt x="0" y="781062"/>
                </a:lnTo>
                <a:lnTo>
                  <a:pt x="0" y="0"/>
                </a:lnTo>
                <a:close/>
              </a:path>
            </a:pathLst>
          </a:custGeom>
          <a:blipFill>
            <a:blip r:embed="rId3"/>
            <a:stretch>
              <a:fillRect/>
            </a:stretch>
          </a:blipFill>
          <a:ln cap="sq">
            <a:noFill/>
            <a:prstDash val="solid"/>
            <a:miter/>
          </a:ln>
        </p:spPr>
        <p:txBody>
          <a:bodyPr/>
          <a:lstStyle/>
          <a:p>
            <a:endParaRPr lang="en-US"/>
          </a:p>
        </p:txBody>
      </p:sp>
      <p:grpSp>
        <p:nvGrpSpPr>
          <p:cNvPr id="8" name="Group 8"/>
          <p:cNvGrpSpPr/>
          <p:nvPr/>
        </p:nvGrpSpPr>
        <p:grpSpPr>
          <a:xfrm>
            <a:off x="2340699" y="5454367"/>
            <a:ext cx="13606603" cy="1509466"/>
            <a:chOff x="0" y="0"/>
            <a:chExt cx="3590436" cy="398309"/>
          </a:xfrm>
        </p:grpSpPr>
        <p:sp>
          <p:nvSpPr>
            <p:cNvPr id="9" name="Freeform 9"/>
            <p:cNvSpPr/>
            <p:nvPr/>
          </p:nvSpPr>
          <p:spPr>
            <a:xfrm>
              <a:off x="0" y="0"/>
              <a:ext cx="3590435" cy="398310"/>
            </a:xfrm>
            <a:custGeom>
              <a:avLst/>
              <a:gdLst/>
              <a:ahLst/>
              <a:cxnLst/>
              <a:rect l="l" t="t" r="r" b="b"/>
              <a:pathLst>
                <a:path w="3590435" h="398310">
                  <a:moveTo>
                    <a:pt x="16500" y="0"/>
                  </a:moveTo>
                  <a:lnTo>
                    <a:pt x="3573935" y="0"/>
                  </a:lnTo>
                  <a:cubicBezTo>
                    <a:pt x="3578311" y="0"/>
                    <a:pt x="3582508" y="1738"/>
                    <a:pt x="3585602" y="4833"/>
                  </a:cubicBezTo>
                  <a:cubicBezTo>
                    <a:pt x="3588697" y="7927"/>
                    <a:pt x="3590435" y="12124"/>
                    <a:pt x="3590435" y="16500"/>
                  </a:cubicBezTo>
                  <a:lnTo>
                    <a:pt x="3590435" y="381809"/>
                  </a:lnTo>
                  <a:cubicBezTo>
                    <a:pt x="3590435" y="386185"/>
                    <a:pt x="3588697" y="390382"/>
                    <a:pt x="3585602" y="393477"/>
                  </a:cubicBezTo>
                  <a:cubicBezTo>
                    <a:pt x="3582508" y="396571"/>
                    <a:pt x="3578311" y="398310"/>
                    <a:pt x="3573935" y="398310"/>
                  </a:cubicBezTo>
                  <a:lnTo>
                    <a:pt x="16500" y="398310"/>
                  </a:lnTo>
                  <a:cubicBezTo>
                    <a:pt x="12124" y="398310"/>
                    <a:pt x="7927" y="396571"/>
                    <a:pt x="4833" y="393477"/>
                  </a:cubicBezTo>
                  <a:cubicBezTo>
                    <a:pt x="1738" y="390382"/>
                    <a:pt x="0" y="386185"/>
                    <a:pt x="0" y="381809"/>
                  </a:cubicBezTo>
                  <a:lnTo>
                    <a:pt x="0" y="16500"/>
                  </a:lnTo>
                  <a:cubicBezTo>
                    <a:pt x="0" y="12124"/>
                    <a:pt x="1738" y="7927"/>
                    <a:pt x="4833" y="4833"/>
                  </a:cubicBezTo>
                  <a:cubicBezTo>
                    <a:pt x="7927" y="1738"/>
                    <a:pt x="12124" y="0"/>
                    <a:pt x="16500" y="0"/>
                  </a:cubicBezTo>
                  <a:close/>
                </a:path>
              </a:pathLst>
            </a:custGeom>
            <a:solidFill>
              <a:srgbClr val="FFFFFE"/>
            </a:solidFill>
            <a:ln w="19050" cap="rnd">
              <a:solidFill>
                <a:srgbClr val="181D2B"/>
              </a:solidFill>
              <a:prstDash val="solid"/>
              <a:round/>
            </a:ln>
          </p:spPr>
          <p:txBody>
            <a:bodyPr/>
            <a:lstStyle/>
            <a:p>
              <a:endParaRPr lang="en-US"/>
            </a:p>
          </p:txBody>
        </p:sp>
        <p:sp>
          <p:nvSpPr>
            <p:cNvPr id="10" name="TextBox 10"/>
            <p:cNvSpPr txBox="1"/>
            <p:nvPr/>
          </p:nvSpPr>
          <p:spPr>
            <a:xfrm>
              <a:off x="0" y="-38100"/>
              <a:ext cx="3590436" cy="436409"/>
            </a:xfrm>
            <a:prstGeom prst="rect">
              <a:avLst/>
            </a:prstGeom>
          </p:spPr>
          <p:txBody>
            <a:bodyPr lIns="50704" tIns="50704" rIns="50704" bIns="50704" rtlCol="0" anchor="ctr"/>
            <a:lstStyle/>
            <a:p>
              <a:pPr marL="0" lvl="0" indent="0" algn="ctr">
                <a:lnSpc>
                  <a:spcPts val="3135"/>
                </a:lnSpc>
              </a:pPr>
              <a:endParaRPr/>
            </a:p>
          </p:txBody>
        </p:sp>
      </p:grpSp>
      <p:sp>
        <p:nvSpPr>
          <p:cNvPr id="11" name="TextBox 11"/>
          <p:cNvSpPr txBox="1"/>
          <p:nvPr/>
        </p:nvSpPr>
        <p:spPr>
          <a:xfrm>
            <a:off x="2810024" y="5724181"/>
            <a:ext cx="12667952" cy="585898"/>
          </a:xfrm>
          <a:prstGeom prst="rect">
            <a:avLst/>
          </a:prstGeom>
        </p:spPr>
        <p:txBody>
          <a:bodyPr lIns="0" tIns="0" rIns="0" bIns="0" rtlCol="0" anchor="t">
            <a:spAutoFit/>
          </a:bodyPr>
          <a:lstStyle/>
          <a:p>
            <a:pPr marL="0" lvl="0" indent="0" algn="ctr">
              <a:lnSpc>
                <a:spcPts val="2356"/>
              </a:lnSpc>
              <a:spcBef>
                <a:spcPct val="0"/>
              </a:spcBef>
            </a:pPr>
            <a:r>
              <a:rPr lang="en-US" sz="1683" u="none" strike="noStrike" spc="8">
                <a:solidFill>
                  <a:srgbClr val="181D2B"/>
                </a:solidFill>
                <a:latin typeface="Open Sauce"/>
                <a:ea typeface="Open Sauce"/>
                <a:cs typeface="Open Sauce"/>
                <a:sym typeface="Open Sauce"/>
              </a:rPr>
              <a:t>🚀 Hướng phát triển: Tích hợp SSL/TLS bảo mật kênh truyền; Upload Queue hỗ trợ nhiều file đồng thời; Nén dữ liệu trước khi truyền; Mở rộng giao diện Web/Mobile; Triển khai Distributed Storage và hỗ trợ đám mây.</a:t>
            </a:r>
          </a:p>
        </p:txBody>
      </p:sp>
      <p:sp>
        <p:nvSpPr>
          <p:cNvPr id="12" name="TextBox 12"/>
          <p:cNvSpPr txBox="1"/>
          <p:nvPr/>
        </p:nvSpPr>
        <p:spPr>
          <a:xfrm>
            <a:off x="2067772" y="1200863"/>
            <a:ext cx="14152457" cy="1622986"/>
          </a:xfrm>
          <a:prstGeom prst="rect">
            <a:avLst/>
          </a:prstGeom>
        </p:spPr>
        <p:txBody>
          <a:bodyPr lIns="0" tIns="0" rIns="0" bIns="0" rtlCol="0" anchor="t">
            <a:spAutoFit/>
          </a:bodyPr>
          <a:lstStyle/>
          <a:p>
            <a:pPr marL="0" lvl="0" indent="0" algn="ctr">
              <a:lnSpc>
                <a:spcPts val="11344"/>
              </a:lnSpc>
              <a:spcBef>
                <a:spcPct val="0"/>
              </a:spcBef>
            </a:pPr>
            <a:r>
              <a:rPr lang="en-US" sz="8102" b="1" u="none" strike="noStrike">
                <a:solidFill>
                  <a:srgbClr val="2B598F"/>
                </a:solidFill>
                <a:latin typeface="Agrandir Bold"/>
                <a:ea typeface="Agrandir Bold"/>
                <a:cs typeface="Agrandir Bold"/>
                <a:sym typeface="Agrandir Bold"/>
              </a:rPr>
              <a:t>Kết luận &amp; Hướng phát triển</a:t>
            </a: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9FEFF"/>
        </a:solidFill>
        <a:effectLst/>
      </p:bgPr>
    </p:bg>
    <p:spTree>
      <p:nvGrpSpPr>
        <p:cNvPr id="1" name=""/>
        <p:cNvGrpSpPr/>
        <p:nvPr/>
      </p:nvGrpSpPr>
      <p:grpSpPr>
        <a:xfrm>
          <a:off x="0" y="0"/>
          <a:ext cx="0" cy="0"/>
          <a:chOff x="0" y="0"/>
          <a:chExt cx="0" cy="0"/>
        </a:xfrm>
      </p:grpSpPr>
      <p:sp>
        <p:nvSpPr>
          <p:cNvPr id="2" name="Freeform 2"/>
          <p:cNvSpPr/>
          <p:nvPr/>
        </p:nvSpPr>
        <p:spPr>
          <a:xfrm>
            <a:off x="11859442" y="8121257"/>
            <a:ext cx="429652" cy="429652"/>
          </a:xfrm>
          <a:custGeom>
            <a:avLst/>
            <a:gdLst/>
            <a:ahLst/>
            <a:cxnLst/>
            <a:rect l="l" t="t" r="r" b="b"/>
            <a:pathLst>
              <a:path w="429652" h="429652">
                <a:moveTo>
                  <a:pt x="0" y="0"/>
                </a:moveTo>
                <a:lnTo>
                  <a:pt x="429652" y="0"/>
                </a:lnTo>
                <a:lnTo>
                  <a:pt x="429652" y="429653"/>
                </a:lnTo>
                <a:lnTo>
                  <a:pt x="0" y="429653"/>
                </a:lnTo>
                <a:lnTo>
                  <a:pt x="0" y="0"/>
                </a:lnTo>
                <a:close/>
              </a:path>
            </a:pathLst>
          </a:custGeom>
          <a:blipFill>
            <a:blip>
              <a:extLst>
                <a:ext uri="{96DAC541-7B7A-43D3-8B79-37D633B846F1}">
                  <asvg:svgBlip xmlns:asvg="http://schemas.microsoft.com/office/drawing/2016/SVG/main" r:embed="rId2"/>
                </a:ext>
              </a:extLst>
            </a:blip>
            <a:stretch>
              <a:fillRect l="-139655" r="-139655"/>
            </a:stretch>
          </a:blipFill>
        </p:spPr>
        <p:txBody>
          <a:bodyPr/>
          <a:lstStyle/>
          <a:p>
            <a:endParaRPr lang="en-US"/>
          </a:p>
        </p:txBody>
      </p:sp>
      <p:sp>
        <p:nvSpPr>
          <p:cNvPr id="3" name="Freeform 3"/>
          <p:cNvSpPr/>
          <p:nvPr/>
        </p:nvSpPr>
        <p:spPr>
          <a:xfrm>
            <a:off x="12073752" y="8152505"/>
            <a:ext cx="537066" cy="367158"/>
          </a:xfrm>
          <a:custGeom>
            <a:avLst/>
            <a:gdLst/>
            <a:ahLst/>
            <a:cxnLst/>
            <a:rect l="l" t="t" r="r" b="b"/>
            <a:pathLst>
              <a:path w="537066" h="367158">
                <a:moveTo>
                  <a:pt x="0" y="0"/>
                </a:moveTo>
                <a:lnTo>
                  <a:pt x="537065" y="0"/>
                </a:lnTo>
                <a:lnTo>
                  <a:pt x="537065" y="367158"/>
                </a:lnTo>
                <a:lnTo>
                  <a:pt x="0" y="367158"/>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4" name="Freeform 4"/>
          <p:cNvSpPr/>
          <p:nvPr/>
        </p:nvSpPr>
        <p:spPr>
          <a:xfrm>
            <a:off x="11859442" y="8774941"/>
            <a:ext cx="429652" cy="429652"/>
          </a:xfrm>
          <a:custGeom>
            <a:avLst/>
            <a:gdLst/>
            <a:ahLst/>
            <a:cxnLst/>
            <a:rect l="l" t="t" r="r" b="b"/>
            <a:pathLst>
              <a:path w="429652" h="429652">
                <a:moveTo>
                  <a:pt x="0" y="0"/>
                </a:moveTo>
                <a:lnTo>
                  <a:pt x="429652" y="0"/>
                </a:lnTo>
                <a:lnTo>
                  <a:pt x="429652" y="429652"/>
                </a:lnTo>
                <a:lnTo>
                  <a:pt x="0" y="429652"/>
                </a:lnTo>
                <a:lnTo>
                  <a:pt x="0" y="0"/>
                </a:lnTo>
                <a:close/>
              </a:path>
            </a:pathLst>
          </a:custGeom>
          <a:blipFill>
            <a:blip>
              <a:extLst>
                <a:ext uri="{96DAC541-7B7A-43D3-8B79-37D633B846F1}">
                  <asvg:svgBlip xmlns:asvg="http://schemas.microsoft.com/office/drawing/2016/SVG/main" r:embed="rId2"/>
                </a:ext>
              </a:extLst>
            </a:blip>
            <a:stretch>
              <a:fillRect l="-139655" r="-139655"/>
            </a:stretch>
          </a:blipFill>
        </p:spPr>
        <p:txBody>
          <a:bodyPr/>
          <a:lstStyle/>
          <a:p>
            <a:endParaRPr lang="en-US"/>
          </a:p>
        </p:txBody>
      </p:sp>
      <p:sp>
        <p:nvSpPr>
          <p:cNvPr id="5" name="Freeform 5"/>
          <p:cNvSpPr/>
          <p:nvPr/>
        </p:nvSpPr>
        <p:spPr>
          <a:xfrm>
            <a:off x="12073752" y="8721234"/>
            <a:ext cx="537066" cy="537066"/>
          </a:xfrm>
          <a:custGeom>
            <a:avLst/>
            <a:gdLst/>
            <a:ahLst/>
            <a:cxnLst/>
            <a:rect l="l" t="t" r="r" b="b"/>
            <a:pathLst>
              <a:path w="537066" h="537066">
                <a:moveTo>
                  <a:pt x="0" y="0"/>
                </a:moveTo>
                <a:lnTo>
                  <a:pt x="537065" y="0"/>
                </a:lnTo>
                <a:lnTo>
                  <a:pt x="537065" y="537066"/>
                </a:lnTo>
                <a:lnTo>
                  <a:pt x="0" y="53706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6" name="Freeform 6"/>
          <p:cNvSpPr/>
          <p:nvPr/>
        </p:nvSpPr>
        <p:spPr>
          <a:xfrm>
            <a:off x="-1531290" y="1560604"/>
            <a:ext cx="6560653" cy="6560653"/>
          </a:xfrm>
          <a:custGeom>
            <a:avLst/>
            <a:gdLst/>
            <a:ahLst/>
            <a:cxnLst/>
            <a:rect l="l" t="t" r="r" b="b"/>
            <a:pathLst>
              <a:path w="6560653" h="6560653">
                <a:moveTo>
                  <a:pt x="0" y="0"/>
                </a:moveTo>
                <a:lnTo>
                  <a:pt x="6560653" y="0"/>
                </a:lnTo>
                <a:lnTo>
                  <a:pt x="6560653" y="6560653"/>
                </a:lnTo>
                <a:lnTo>
                  <a:pt x="0" y="6560653"/>
                </a:lnTo>
                <a:lnTo>
                  <a:pt x="0" y="0"/>
                </a:lnTo>
                <a:close/>
              </a:path>
            </a:pathLst>
          </a:custGeom>
          <a:blipFill>
            <a:blip>
              <a:extLst>
                <a:ext uri="{96DAC541-7B7A-43D3-8B79-37D633B846F1}">
                  <asvg:svgBlip xmlns:asvg="http://schemas.microsoft.com/office/drawing/2016/SVG/main" r:embed="rId5"/>
                </a:ext>
              </a:extLst>
            </a:blip>
            <a:stretch>
              <a:fillRect/>
            </a:stretch>
          </a:blipFill>
          <a:ln cap="sq">
            <a:noFill/>
            <a:prstDash val="solid"/>
            <a:miter/>
          </a:ln>
        </p:spPr>
        <p:txBody>
          <a:bodyPr/>
          <a:lstStyle/>
          <a:p>
            <a:endParaRPr lang="en-US"/>
          </a:p>
        </p:txBody>
      </p:sp>
      <p:sp>
        <p:nvSpPr>
          <p:cNvPr id="7" name="TextBox 7"/>
          <p:cNvSpPr txBox="1"/>
          <p:nvPr/>
        </p:nvSpPr>
        <p:spPr>
          <a:xfrm>
            <a:off x="1917331" y="1530138"/>
            <a:ext cx="14983381" cy="1106676"/>
          </a:xfrm>
          <a:prstGeom prst="rect">
            <a:avLst/>
          </a:prstGeom>
        </p:spPr>
        <p:txBody>
          <a:bodyPr lIns="0" tIns="0" rIns="0" bIns="0" rtlCol="0" anchor="t">
            <a:spAutoFit/>
          </a:bodyPr>
          <a:lstStyle/>
          <a:p>
            <a:pPr marL="0" lvl="0" indent="0" algn="ctr">
              <a:lnSpc>
                <a:spcPts val="7777"/>
              </a:lnSpc>
              <a:spcBef>
                <a:spcPct val="0"/>
              </a:spcBef>
            </a:pPr>
            <a:r>
              <a:rPr lang="en-US" sz="5555" b="1" u="none" strike="noStrike">
                <a:solidFill>
                  <a:srgbClr val="2B598F"/>
                </a:solidFill>
                <a:latin typeface="Agrandir Bold"/>
                <a:ea typeface="Agrandir Bold"/>
                <a:cs typeface="Agrandir Bold"/>
                <a:sym typeface="Agrandir Bold"/>
              </a:rPr>
              <a:t>Cảm ơn thầy và các bạn đã lắng nghe!</a:t>
            </a:r>
          </a:p>
        </p:txBody>
      </p:sp>
      <p:sp>
        <p:nvSpPr>
          <p:cNvPr id="8" name="TextBox 8"/>
          <p:cNvSpPr txBox="1"/>
          <p:nvPr/>
        </p:nvSpPr>
        <p:spPr>
          <a:xfrm>
            <a:off x="12713046" y="7980637"/>
            <a:ext cx="5071885" cy="1223956"/>
          </a:xfrm>
          <a:prstGeom prst="rect">
            <a:avLst/>
          </a:prstGeom>
        </p:spPr>
        <p:txBody>
          <a:bodyPr lIns="0" tIns="0" rIns="0" bIns="0" rtlCol="0" anchor="t">
            <a:spAutoFit/>
          </a:bodyPr>
          <a:lstStyle/>
          <a:p>
            <a:pPr marL="0" lvl="0" indent="0" algn="l">
              <a:lnSpc>
                <a:spcPts val="5156"/>
              </a:lnSpc>
            </a:pPr>
            <a:r>
              <a:rPr lang="en-US" sz="2578" spc="-51">
                <a:solidFill>
                  <a:srgbClr val="181D2B"/>
                </a:solidFill>
                <a:latin typeface="Open Sauce"/>
                <a:ea typeface="Open Sauce"/>
                <a:cs typeface="Open Sauce"/>
                <a:sym typeface="Open Sauce"/>
              </a:rPr>
              <a:t>Nhóm 8</a:t>
            </a:r>
          </a:p>
          <a:p>
            <a:pPr marL="0" lvl="0" indent="0" algn="l">
              <a:lnSpc>
                <a:spcPts val="5156"/>
              </a:lnSpc>
            </a:pPr>
            <a:r>
              <a:rPr lang="en-US" sz="2578" spc="-51">
                <a:solidFill>
                  <a:srgbClr val="181D2B"/>
                </a:solidFill>
                <a:latin typeface="Open Sauce"/>
                <a:ea typeface="Open Sauce"/>
                <a:cs typeface="Open Sauce"/>
                <a:sym typeface="Open Sauce"/>
              </a:rPr>
              <a:t>TP. Hồ Chí Minh, Tháng 6/2026</a:t>
            </a:r>
          </a:p>
        </p:txBody>
      </p:sp>
      <p:grpSp>
        <p:nvGrpSpPr>
          <p:cNvPr id="9" name="Group 9"/>
          <p:cNvGrpSpPr/>
          <p:nvPr/>
        </p:nvGrpSpPr>
        <p:grpSpPr>
          <a:xfrm>
            <a:off x="2239593" y="3403701"/>
            <a:ext cx="14170292" cy="3187599"/>
            <a:chOff x="0" y="0"/>
            <a:chExt cx="3739179" cy="987202"/>
          </a:xfrm>
        </p:grpSpPr>
        <p:sp>
          <p:nvSpPr>
            <p:cNvPr id="10" name="Freeform 10"/>
            <p:cNvSpPr/>
            <p:nvPr/>
          </p:nvSpPr>
          <p:spPr>
            <a:xfrm>
              <a:off x="0" y="0"/>
              <a:ext cx="3739179" cy="987202"/>
            </a:xfrm>
            <a:custGeom>
              <a:avLst/>
              <a:gdLst/>
              <a:ahLst/>
              <a:cxnLst/>
              <a:rect l="l" t="t" r="r" b="b"/>
              <a:pathLst>
                <a:path w="3739179" h="987202">
                  <a:moveTo>
                    <a:pt x="15844" y="0"/>
                  </a:moveTo>
                  <a:lnTo>
                    <a:pt x="3723335" y="0"/>
                  </a:lnTo>
                  <a:cubicBezTo>
                    <a:pt x="3732085" y="0"/>
                    <a:pt x="3739179" y="7094"/>
                    <a:pt x="3739179" y="15844"/>
                  </a:cubicBezTo>
                  <a:lnTo>
                    <a:pt x="3739179" y="971358"/>
                  </a:lnTo>
                  <a:cubicBezTo>
                    <a:pt x="3739179" y="980108"/>
                    <a:pt x="3732085" y="987202"/>
                    <a:pt x="3723335" y="987202"/>
                  </a:cubicBezTo>
                  <a:lnTo>
                    <a:pt x="15844" y="987202"/>
                  </a:lnTo>
                  <a:cubicBezTo>
                    <a:pt x="7094" y="987202"/>
                    <a:pt x="0" y="980108"/>
                    <a:pt x="0" y="971358"/>
                  </a:cubicBezTo>
                  <a:lnTo>
                    <a:pt x="0" y="15844"/>
                  </a:lnTo>
                  <a:cubicBezTo>
                    <a:pt x="0" y="7094"/>
                    <a:pt x="7094" y="0"/>
                    <a:pt x="15844" y="0"/>
                  </a:cubicBezTo>
                  <a:close/>
                </a:path>
              </a:pathLst>
            </a:custGeom>
            <a:solidFill>
              <a:srgbClr val="FFFFFE"/>
            </a:solidFill>
            <a:ln w="19050" cap="rnd">
              <a:solidFill>
                <a:srgbClr val="181D2B"/>
              </a:solidFill>
              <a:prstDash val="solid"/>
              <a:round/>
            </a:ln>
          </p:spPr>
          <p:txBody>
            <a:bodyPr/>
            <a:lstStyle/>
            <a:p>
              <a:endParaRPr lang="en-US"/>
            </a:p>
          </p:txBody>
        </p:sp>
        <p:sp>
          <p:nvSpPr>
            <p:cNvPr id="11" name="TextBox 11"/>
            <p:cNvSpPr txBox="1"/>
            <p:nvPr/>
          </p:nvSpPr>
          <p:spPr>
            <a:xfrm>
              <a:off x="0" y="-38100"/>
              <a:ext cx="3739179" cy="1025302"/>
            </a:xfrm>
            <a:prstGeom prst="rect">
              <a:avLst/>
            </a:prstGeom>
          </p:spPr>
          <p:txBody>
            <a:bodyPr lIns="50704" tIns="50704" rIns="50704" bIns="50704" rtlCol="0" anchor="ctr"/>
            <a:lstStyle/>
            <a:p>
              <a:pPr marL="0" lvl="0" indent="0" algn="ctr">
                <a:lnSpc>
                  <a:spcPts val="3135"/>
                </a:lnSpc>
              </a:pPr>
              <a:endParaRPr/>
            </a:p>
          </p:txBody>
        </p:sp>
      </p:grpSp>
      <p:sp>
        <p:nvSpPr>
          <p:cNvPr id="12" name="TextBox 12"/>
          <p:cNvSpPr txBox="1"/>
          <p:nvPr/>
        </p:nvSpPr>
        <p:spPr>
          <a:xfrm>
            <a:off x="2083008" y="3530586"/>
            <a:ext cx="14152457" cy="2680606"/>
          </a:xfrm>
          <a:prstGeom prst="rect">
            <a:avLst/>
          </a:prstGeom>
        </p:spPr>
        <p:txBody>
          <a:bodyPr lIns="0" tIns="0" rIns="0" bIns="0" rtlCol="0" anchor="t">
            <a:spAutoFit/>
          </a:bodyPr>
          <a:lstStyle/>
          <a:p>
            <a:pPr marL="0" lvl="0" indent="0" algn="ctr">
              <a:lnSpc>
                <a:spcPts val="5320"/>
              </a:lnSpc>
              <a:spcBef>
                <a:spcPct val="0"/>
              </a:spcBef>
            </a:pPr>
            <a:r>
              <a:rPr lang="en-US" sz="3800" u="none" strike="noStrike" spc="19" dirty="0" err="1">
                <a:solidFill>
                  <a:srgbClr val="181D2B"/>
                </a:solidFill>
                <a:latin typeface="Times New Roman MT"/>
                <a:ea typeface="Times New Roman MT"/>
                <a:cs typeface="Times New Roman MT"/>
                <a:sym typeface="Times New Roman MT"/>
              </a:rPr>
              <a:t>Nhóm</a:t>
            </a:r>
            <a:r>
              <a:rPr lang="en-US" sz="3800" u="none" strike="noStrike" spc="19" dirty="0">
                <a:solidFill>
                  <a:srgbClr val="181D2B"/>
                </a:solidFill>
                <a:latin typeface="Times New Roman MT"/>
                <a:ea typeface="Times New Roman MT"/>
                <a:cs typeface="Times New Roman MT"/>
                <a:sym typeface="Times New Roman MT"/>
              </a:rPr>
              <a:t> 8 </a:t>
            </a:r>
            <a:r>
              <a:rPr lang="en-US" sz="3800" u="none" strike="noStrike" spc="19" dirty="0" err="1">
                <a:solidFill>
                  <a:srgbClr val="181D2B"/>
                </a:solidFill>
                <a:latin typeface="Times New Roman MT"/>
                <a:ea typeface="Times New Roman MT"/>
                <a:cs typeface="Times New Roman MT"/>
                <a:sym typeface="Times New Roman MT"/>
              </a:rPr>
              <a:t>nghiên</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cứu</a:t>
            </a:r>
            <a:r>
              <a:rPr lang="en-US" sz="3800" u="none" strike="noStrike" spc="19" dirty="0">
                <a:solidFill>
                  <a:srgbClr val="181D2B"/>
                </a:solidFill>
                <a:latin typeface="Times New Roman MT"/>
                <a:ea typeface="Times New Roman MT"/>
                <a:cs typeface="Times New Roman MT"/>
                <a:sym typeface="Times New Roman MT"/>
              </a:rPr>
              <a:t> - Môn </a:t>
            </a:r>
            <a:r>
              <a:rPr lang="en-US" sz="3800" u="none" strike="noStrike" spc="19" dirty="0" err="1">
                <a:solidFill>
                  <a:srgbClr val="181D2B"/>
                </a:solidFill>
                <a:latin typeface="Times New Roman MT"/>
                <a:ea typeface="Times New Roman MT"/>
                <a:cs typeface="Times New Roman MT"/>
                <a:sym typeface="Times New Roman MT"/>
              </a:rPr>
              <a:t>Lập</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trình</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mạng</a:t>
            </a:r>
            <a:endParaRPr lang="en-US" sz="3800" u="none" strike="noStrike" spc="19" dirty="0">
              <a:solidFill>
                <a:srgbClr val="181D2B"/>
              </a:solidFill>
              <a:latin typeface="Times New Roman MT"/>
              <a:ea typeface="Times New Roman MT"/>
              <a:cs typeface="Times New Roman MT"/>
              <a:sym typeface="Times New Roman MT"/>
            </a:endParaRPr>
          </a:p>
          <a:p>
            <a:pPr marL="0" lvl="0" indent="0" algn="ctr">
              <a:lnSpc>
                <a:spcPts val="5320"/>
              </a:lnSpc>
              <a:spcBef>
                <a:spcPct val="0"/>
              </a:spcBef>
            </a:pPr>
            <a:r>
              <a:rPr lang="en-US" sz="3800" u="none" strike="noStrike" spc="19" dirty="0">
                <a:solidFill>
                  <a:srgbClr val="181D2B"/>
                </a:solidFill>
                <a:latin typeface="Times New Roman MT"/>
                <a:ea typeface="Times New Roman MT"/>
                <a:cs typeface="Times New Roman MT"/>
                <a:sym typeface="Times New Roman MT"/>
              </a:rPr>
              <a:t>Trường </a:t>
            </a:r>
            <a:r>
              <a:rPr lang="en-US" sz="3800" u="none" strike="noStrike" spc="19" dirty="0" err="1">
                <a:solidFill>
                  <a:srgbClr val="181D2B"/>
                </a:solidFill>
                <a:latin typeface="Times New Roman MT"/>
                <a:ea typeface="Times New Roman MT"/>
                <a:cs typeface="Times New Roman MT"/>
                <a:sym typeface="Times New Roman MT"/>
              </a:rPr>
              <a:t>Đại</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học</a:t>
            </a:r>
            <a:r>
              <a:rPr lang="en-US" sz="3800" u="none" strike="noStrike" spc="19" dirty="0">
                <a:solidFill>
                  <a:srgbClr val="181D2B"/>
                </a:solidFill>
                <a:latin typeface="Times New Roman MT"/>
                <a:ea typeface="Times New Roman MT"/>
                <a:cs typeface="Times New Roman MT"/>
                <a:sym typeface="Times New Roman MT"/>
              </a:rPr>
              <a:t> Giao </a:t>
            </a:r>
            <a:r>
              <a:rPr lang="en-US" sz="3800" u="none" strike="noStrike" spc="19" dirty="0" err="1">
                <a:solidFill>
                  <a:srgbClr val="181D2B"/>
                </a:solidFill>
                <a:latin typeface="Times New Roman MT"/>
                <a:ea typeface="Times New Roman MT"/>
                <a:cs typeface="Times New Roman MT"/>
                <a:sym typeface="Times New Roman MT"/>
              </a:rPr>
              <a:t>thông</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Vận</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tải</a:t>
            </a:r>
            <a:r>
              <a:rPr lang="en-US" sz="3800" u="none" strike="noStrike" spc="19" dirty="0">
                <a:solidFill>
                  <a:srgbClr val="181D2B"/>
                </a:solidFill>
                <a:latin typeface="Times New Roman MT"/>
                <a:ea typeface="Times New Roman MT"/>
                <a:cs typeface="Times New Roman MT"/>
                <a:sym typeface="Times New Roman MT"/>
              </a:rPr>
              <a:t> TP.HCM</a:t>
            </a:r>
          </a:p>
          <a:p>
            <a:pPr marL="0" lvl="0" indent="0" algn="ctr">
              <a:lnSpc>
                <a:spcPts val="5320"/>
              </a:lnSpc>
              <a:spcBef>
                <a:spcPct val="0"/>
              </a:spcBef>
            </a:pPr>
            <a:r>
              <a:rPr lang="en-US" sz="3800" u="none" strike="noStrike" spc="19" dirty="0" err="1">
                <a:solidFill>
                  <a:srgbClr val="181D2B"/>
                </a:solidFill>
                <a:latin typeface="Times New Roman MT"/>
                <a:ea typeface="Times New Roman MT"/>
                <a:cs typeface="Times New Roman MT"/>
                <a:sym typeface="Times New Roman MT"/>
              </a:rPr>
              <a:t>Chúng</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em</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xin</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trân</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trọng</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lắng</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nghe</a:t>
            </a:r>
            <a:r>
              <a:rPr lang="en-US" sz="3800" u="none" strike="noStrike" spc="19" dirty="0">
                <a:solidFill>
                  <a:srgbClr val="181D2B"/>
                </a:solidFill>
                <a:latin typeface="Times New Roman MT"/>
                <a:ea typeface="Times New Roman MT"/>
                <a:cs typeface="Times New Roman MT"/>
                <a:sym typeface="Times New Roman MT"/>
              </a:rPr>
              <a:t> ý </a:t>
            </a:r>
            <a:r>
              <a:rPr lang="en-US" sz="3800" u="none" strike="noStrike" spc="19" dirty="0" err="1">
                <a:solidFill>
                  <a:srgbClr val="181D2B"/>
                </a:solidFill>
                <a:latin typeface="Times New Roman MT"/>
                <a:ea typeface="Times New Roman MT"/>
                <a:cs typeface="Times New Roman MT"/>
                <a:sym typeface="Times New Roman MT"/>
              </a:rPr>
              <a:t>kiến</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đóng</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góp</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và</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câu</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hỏi</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từ</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quý</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thầy</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và</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các</a:t>
            </a:r>
            <a:r>
              <a:rPr lang="en-US" sz="3800" u="none" strike="noStrike" spc="19" dirty="0">
                <a:solidFill>
                  <a:srgbClr val="181D2B"/>
                </a:solidFill>
                <a:latin typeface="Times New Roman MT"/>
                <a:ea typeface="Times New Roman MT"/>
                <a:cs typeface="Times New Roman MT"/>
                <a:sym typeface="Times New Roman MT"/>
              </a:rPr>
              <a:t> </a:t>
            </a:r>
            <a:r>
              <a:rPr lang="en-US" sz="3800" u="none" strike="noStrike" spc="19" dirty="0" err="1">
                <a:solidFill>
                  <a:srgbClr val="181D2B"/>
                </a:solidFill>
                <a:latin typeface="Times New Roman MT"/>
                <a:ea typeface="Times New Roman MT"/>
                <a:cs typeface="Times New Roman MT"/>
                <a:sym typeface="Times New Roman MT"/>
              </a:rPr>
              <a:t>bạn</a:t>
            </a:r>
            <a:r>
              <a:rPr lang="en-US" sz="3800" u="none" strike="noStrike" spc="19" dirty="0">
                <a:solidFill>
                  <a:srgbClr val="181D2B"/>
                </a:solidFill>
                <a:latin typeface="Times New Roman MT"/>
                <a:ea typeface="Times New Roman MT"/>
                <a:cs typeface="Times New Roman MT"/>
                <a:sym typeface="Times New Roman MT"/>
              </a:rPr>
              <a:t>.</a:t>
            </a: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1850</Words>
  <Application>Microsoft Office PowerPoint</Application>
  <PresentationFormat>Custom</PresentationFormat>
  <Paragraphs>124</Paragraphs>
  <Slides>18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18</vt:i4>
      </vt:variant>
    </vt:vector>
  </HeadingPairs>
  <TitlesOfParts>
    <vt:vector size="26" baseType="lpstr">
      <vt:lpstr>Calibri</vt:lpstr>
      <vt:lpstr>Open Sauce</vt:lpstr>
      <vt:lpstr>Times New Roman</vt:lpstr>
      <vt:lpstr>Open Sauce Bold</vt:lpstr>
      <vt:lpstr>Times New Roman MT</vt:lpstr>
      <vt:lpstr>Agrandir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Upload Single File with Control: CS TCP Upload Proposal</dc:title>
  <cp:lastModifiedBy>Quốc Việt</cp:lastModifiedBy>
  <cp:revision>3</cp:revision>
  <dcterms:created xsi:type="dcterms:W3CDTF">2006-08-16T00:00:00Z</dcterms:created>
  <dcterms:modified xsi:type="dcterms:W3CDTF">2026-07-01T12:47:07Z</dcterms:modified>
  <dc:identifier>DAHOHSkC0UI</dc:identifier>
</cp:coreProperties>
</file>